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9CC1BC7-A9E4-DB56-A64A-C9D8E8860714}">
          <p14:sldIdLst>
            <p14:sldId id="256"/>
          </p14:sldIdLst>
        </p14:section>
        <p14:section name="Motivation" id="{7F9A754B-9030-B522-CEE8-9D36E803CFB9}">
          <p14:sldIdLst>
            <p14:sldId id="257"/>
            <p14:sldId id="258"/>
            <p14:sldId id="259"/>
            <p14:sldId id="260"/>
          </p14:sldIdLst>
        </p14:section>
        <p14:section name="Data" id="{0B50F59E-51EC-D1D6-A598-D08C034CD580}">
          <p14:sldIdLst>
            <p14:sldId id="261"/>
            <p14:sldId id="262"/>
            <p14:sldId id="263"/>
            <p14:sldId id="264"/>
          </p14:sldIdLst>
        </p14:section>
        <p14:section name="Forecast Design" id="{BC03250B-660B-03AD-CBB9-549DD9A09294}">
          <p14:sldIdLst>
            <p14:sldId id="265"/>
            <p14:sldId id="266"/>
            <p14:sldId id="267"/>
            <p14:sldId id="268"/>
            <p14:sldId id="269"/>
            <p14:sldId id="270"/>
          </p14:sldIdLst>
        </p14:section>
        <p14:section name="Evidence" id="{B2B7B7FA-8190-97A7-F065-17FAD4B810FB}">
          <p14:sldIdLst>
            <p14:sldId id="271"/>
            <p14:sldId id="272"/>
            <p14:sldId id="273"/>
            <p14:sldId id="274"/>
            <p14:sldId id="275"/>
          </p14:sldIdLst>
        </p14:section>
        <p14:section name="References" id="{02CEA313-49E2-1303-FE74-A30AA98338EF}">
          <p14:sldIdLst>
            <p14:sldId id="276"/>
            <p14:sldId id="277"/>
          </p14:sldIdLst>
        </p14:section>
        <p14:section name="Appendix" id="{0B2C39C9-7059-3307-C40E-C4AEB2F3A972}">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2"/>
    <p:restoredTop sz="94610"/>
  </p:normalViewPr>
  <p:slideViewPr>
    <p:cSldViewPr snapToGrid="0" snapToObjects="1">
      <p:cViewPr>
        <p:scale>
          <a:sx n="140" d="100"/>
          <a:sy n="140" d="100"/>
        </p:scale>
        <p:origin x="32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Out-of-sample R2 (%)</c:v>
                </c:pt>
              </c:strCache>
            </c:strRef>
          </c:tx>
          <c:spPr>
            <a:solidFill>
              <a:srgbClr val="2E75B6"/>
            </a:solidFill>
            <a:effectLst/>
          </c:spPr>
          <c:invertIfNegative val="0"/>
          <c:dLbls>
            <c:numFmt formatCode="0.00" sourceLinked="0"/>
            <c:spPr>
              <a:noFill/>
              <a:ln>
                <a:noFill/>
              </a:ln>
              <a:effectLst/>
            </c:spPr>
            <c:txPr>
              <a:bodyPr/>
              <a:lstStyle/>
              <a:p>
                <a:pPr>
                  <a:defRPr sz="1200" b="0" i="0" u="none" strike="noStrike">
                    <a:solidFill>
                      <a:srgbClr val="18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ENet</c:v>
                </c:pt>
                <c:pt idx="1">
                  <c:v>Combine</c:v>
                </c:pt>
                <c:pt idx="2">
                  <c:v>C-ENet</c:v>
                </c:pt>
                <c:pt idx="3">
                  <c:v>Average</c:v>
                </c:pt>
                <c:pt idx="4">
                  <c:v>PCA</c:v>
                </c:pt>
                <c:pt idx="5">
                  <c:v>PLS</c:v>
                </c:pt>
              </c:strCache>
            </c:strRef>
          </c:cat>
          <c:val>
            <c:numRef>
              <c:f>Sheet1!$B$2:$B$7</c:f>
              <c:numCache>
                <c:formatCode>General</c:formatCode>
                <c:ptCount val="6"/>
                <c:pt idx="0">
                  <c:v>2.0299999999999998</c:v>
                </c:pt>
                <c:pt idx="1">
                  <c:v>0.89</c:v>
                </c:pt>
                <c:pt idx="2">
                  <c:v>2.81</c:v>
                </c:pt>
                <c:pt idx="3">
                  <c:v>1.89</c:v>
                </c:pt>
                <c:pt idx="4">
                  <c:v>1.25</c:v>
                </c:pt>
                <c:pt idx="5">
                  <c:v>2.06</c:v>
                </c:pt>
              </c:numCache>
            </c:numRef>
          </c:val>
          <c:extLst>
            <c:ext xmlns:c16="http://schemas.microsoft.com/office/drawing/2014/chart" uri="{C3380CC4-5D6E-409C-BE32-E72D297353CC}">
              <c16:uniqueId val="{00000000-08AA-D545-9C9A-7F32A34088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8253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8890" cap="flat">
              <a:solidFill>
                <a:srgbClr val="D8E0E8"/>
              </a:solidFill>
              <a:prstDash val="solid"/>
              <a:round/>
            </a:ln>
          </c:spPr>
        </c:majorGridlines>
        <c:title>
          <c:tx>
            <c:rich>
              <a:bodyPr/>
              <a:lstStyle/>
              <a:p>
                <a:pPr>
                  <a:defRPr sz="1500" b="0" i="0" u="none" strike="noStrike">
                    <a:solidFill>
                      <a:srgbClr val="000000"/>
                    </a:solidFill>
                    <a:latin typeface="+mn-lt"/>
                  </a:defRPr>
                </a:pPr>
                <a:r>
                  <a:rPr lang="en-US" sz="1500" b="0" i="0" u="none" strike="noStrike">
                    <a:solidFill>
                      <a:srgbClr val="000000"/>
                    </a:solidFill>
                    <a:latin typeface="+mn-lt"/>
                  </a:rPr>
                  <a:t>Out-of-sample R2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5717C"/>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BA-NEG</c:v>
                </c:pt>
              </c:strCache>
            </c:strRef>
          </c:tx>
          <c:spPr>
            <a:solidFill>
              <a:srgbClr val="2E75B6"/>
            </a:solidFill>
            <a:effectLst/>
          </c:spPr>
          <c:invertIfNegative val="0"/>
          <c:dLbls>
            <c:numFmt formatCode="0.00" sourceLinked="0"/>
            <c:spPr>
              <a:noFill/>
              <a:ln>
                <a:noFill/>
              </a:ln>
              <a:effectLst/>
            </c:spPr>
            <c:txPr>
              <a:bodyPr/>
              <a:lstStyle/>
              <a:p>
                <a:pPr>
                  <a:defRPr sz="1200" b="0" i="0" u="none" strike="noStrike">
                    <a:solidFill>
                      <a:srgbClr val="18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ENet</c:v>
                </c:pt>
                <c:pt idx="1">
                  <c:v>C-ENet</c:v>
                </c:pt>
                <c:pt idx="2">
                  <c:v>PLS</c:v>
                </c:pt>
              </c:strCache>
            </c:strRef>
          </c:cat>
          <c:val>
            <c:numRef>
              <c:f>Sheet1!$B$2:$B$4</c:f>
              <c:numCache>
                <c:formatCode>General</c:formatCode>
                <c:ptCount val="3"/>
                <c:pt idx="0">
                  <c:v>3.57</c:v>
                </c:pt>
                <c:pt idx="1">
                  <c:v>3.65</c:v>
                </c:pt>
                <c:pt idx="2">
                  <c:v>2.94</c:v>
                </c:pt>
              </c:numCache>
            </c:numRef>
          </c:val>
          <c:extLst>
            <c:ext xmlns:c16="http://schemas.microsoft.com/office/drawing/2014/chart" uri="{C3380CC4-5D6E-409C-BE32-E72D297353CC}">
              <c16:uniqueId val="{00000000-E293-6D4F-B4C9-B3261EFDB5E1}"/>
            </c:ext>
          </c:extLst>
        </c:ser>
        <c:ser>
          <c:idx val="1"/>
          <c:order val="1"/>
          <c:tx>
            <c:strRef>
              <c:f>Sheet1!$C$1</c:f>
              <c:strCache>
                <c:ptCount val="1"/>
                <c:pt idx="0">
                  <c:v>BA-POS</c:v>
                </c:pt>
              </c:strCache>
            </c:strRef>
          </c:tx>
          <c:spPr>
            <a:solidFill>
              <a:srgbClr val="B34D4D"/>
            </a:solidFill>
            <a:effectLst/>
          </c:spPr>
          <c:invertIfNegative val="0"/>
          <c:dLbls>
            <c:numFmt formatCode="0.00" sourceLinked="0"/>
            <c:spPr>
              <a:noFill/>
              <a:ln>
                <a:noFill/>
              </a:ln>
              <a:effectLst/>
            </c:spPr>
            <c:txPr>
              <a:bodyPr/>
              <a:lstStyle/>
              <a:p>
                <a:pPr>
                  <a:defRPr sz="1200" b="0" i="0" u="none" strike="noStrike">
                    <a:solidFill>
                      <a:srgbClr val="1825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ENet</c:v>
                </c:pt>
                <c:pt idx="1">
                  <c:v>C-ENet</c:v>
                </c:pt>
                <c:pt idx="2">
                  <c:v>PLS</c:v>
                </c:pt>
              </c:strCache>
            </c:strRef>
          </c:cat>
          <c:val>
            <c:numRef>
              <c:f>Sheet1!$C$2:$C$4</c:f>
              <c:numCache>
                <c:formatCode>General</c:formatCode>
                <c:ptCount val="3"/>
                <c:pt idx="0">
                  <c:v>-0.28000000000000003</c:v>
                </c:pt>
                <c:pt idx="1">
                  <c:v>-1.41</c:v>
                </c:pt>
                <c:pt idx="2">
                  <c:v>0.28999999999999998</c:v>
                </c:pt>
              </c:numCache>
            </c:numRef>
          </c:val>
          <c:extLst>
            <c:ext xmlns:c16="http://schemas.microsoft.com/office/drawing/2014/chart" uri="{C3380CC4-5D6E-409C-BE32-E72D297353CC}">
              <c16:uniqueId val="{00000001-E293-6D4F-B4C9-B3261EFDB5E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8253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8890" cap="flat">
              <a:solidFill>
                <a:srgbClr val="D8E0E8"/>
              </a:solidFill>
              <a:prstDash val="solid"/>
              <a:round/>
            </a:ln>
          </c:spPr>
        </c:majorGridlines>
        <c:title>
          <c:tx>
            <c:rich>
              <a:bodyPr/>
              <a:lstStyle/>
              <a:p>
                <a:pPr>
                  <a:defRPr sz="1400" b="0" i="0" u="none" strike="noStrike">
                    <a:solidFill>
                      <a:srgbClr val="000000"/>
                    </a:solidFill>
                    <a:latin typeface="+mn-lt"/>
                  </a:defRPr>
                </a:pPr>
                <a:r>
                  <a:rPr lang="en-US" sz="1400" b="0" i="0" u="none" strike="noStrike">
                    <a:solidFill>
                      <a:srgbClr val="000000"/>
                    </a:solidFill>
                    <a:latin typeface="+mn-lt"/>
                  </a:rPr>
                  <a:t>Out-of-sample R2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5717C"/>
                </a:solidFill>
                <a:latin typeface="+mn-lt"/>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400">
              <a:latin typeface="+mn-lt"/>
              <a:cs typeface="+mn-lt"/>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8337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framing: the paper asks whether a cornerstone of cross-sectional asset pricing, long-short anomaly returns, also contains information about the time-series equity premium. Preview the answer: yes, when the high-dimensional forecast is regularized, and the paper interprets the signal through persistent correction of overpricing.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two literatures. Cross-sectional asset pricing asks which stocks outperform other stocks. Time-series predictability asks when the aggregate market earns a high or low excess return. Prior work often aggregates firm characteristics directly; this paper instead asks whether anomaly portfolio returns bridge the two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dedicated contribution slide. Emphasize what is new: use long-short portfolio returns rather than averages of raw characteristics; aggregate 100 signals using methods designed for high-dimensional data; evaluate forecasts out of sample; and investigate an economic mechanism. The paper reports that this was the first systematic positive evidence linking these two literatures in this way.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research question and unit of prediction. At each month-end, the information set includes the 100 anomaly returns observed through month t. The outcome is the CRSP value-weighted market return minus the risk-free rate in month t+1. The key tests are out of sample, not just in-sample fit.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economic intuition without deriving every equation. An anomaly portfolio is long stocks expected to outperform and short stocks expected to underperform. If the short leg is overpriced and arbitrage corrects it gradually, returns from prior overpricing shocks can persist. The short-leg return is positively associated with future market returns, while the long-short spread subtracts the short leg, producing a negative predictive relation. The paper finds the short-side channel is stronger.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paper uses CRSP, Compustat, and I/B/E/S to build the anomaly characteristics and returns. The market target is the CRSP value-weighted return minus the CRSP risk-free return. The sample is January 1970 through December 2017. The local replication spreadsheets are already constructed monthly return panels; they are not raw CRSP or Compustat security-level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construction slowly. At each month beginning, use the latest data that were already public, with characteristic-specific lags. The stock universe is NYSE, AMEX, and NASDAQ; stocks below $5 are excluded. Sort by one anomaly characteristic into value-weighted deciles. D10 is the high-expected-return side, D1 the low-expected-return side. Compute monthly leg returns and subtract short-leg from long-leg return. Repeat for 100 characteristics. The exact formulas vary by signal.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predictor matrix has one row per month and one column per anomaly return. Returns in the local code are converted to percentage units. If an anomaly return is missing in a month, the code fills it with that month’s cross-sectional average for methods requiring a complete matrix. The predictor-average forecast is computed from available returns without first filling the original matrix. This step is not forward filling and uses no future month.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target exactly. Market excess return equals the CRSP value-weighted market return minus the risk-free rate. A forecast formed at the end of month t uses data through t to predict the target in t+1. For longer horizons, the replication code uses the average market excess return over the next h months; the one-month horizon is the focus of the main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sample begins in 1970. The initial 120 months, 1970:01-1979:12, initialize estimation. The next 60 months, 1980:01-1984:12, provide the holdout forecasts and realized returns needed for the combination elastic net. Main forecast accuracy is evaluated from 1985:01-2017:12, 396 monthly observations. This is a time-ordered design, not random cross-validation.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walk-forward loop in sequence. At month t, create the historical training pairs using anomaly vector X_s and the next month’s market return y_{s+1}. Re-estimate each model with an expanding window, choose tuning parameters from the past, plug in current X_t, issue a forecast for y_{t+1}, and then advance one month. The code repeats this monthly.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OLS estimates 100 slopes to maximize in-sample fit. With a noisy target and correlated predictors, this can produce extreme unstable forecasts. Elastic net estimates the same predictive relationship but penalizes coefficient size. Its L1 component can set coefficients to zero; its L2 component reduces unstable selection among correlated signals. The paper sets the blend parameter alpha to 0.5 and selects the penalty using corrected AIC. The supplied R code searches 200 candidate lambdas.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anomaly is first used in its own univariate predictive regression, producing 100 forecasts. The simple combination averages all 100 forecasts, which shrinks their extremes. C-ENet then uses the 1980-84 holdout period to learn which univariate forecast series to retain. The paper constrains combination coefficients to be nonnegative and averages the selected forecasts at each origin. If none is selected, the code uses the benchmark.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methods replace 100 anomaly returns with one aggregate predictor. The average gives every anomaly equal weight. Principal components choose a factor explaining the most variance among predictors, without using the market target when forming that factor. PLS uses the target to find a factor more relevant for forecasting. Each resulting factor enters a univariate predictive regression.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three decision criteria. Out-of-sample R-squared is the proportional MSFE reduction versus the historical-mean forecast. Clark-West adjusts the comparison for nested forecasting models and tests whether the reduction is statistically significant. The economic-value calculation asks how much certainty-equivalent return a mean-variance investor gains by using the forecast.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main result. Across the six shrinkage or aggregation approaches, OOS R-squared ranges from 0.89% to 2.81%, all positive and statistically significant under the paper’s Clark-West tests. C-ENet is largest at 2.81%; ENet and PLS are just above 2%. OLS is excluded from the plotted axis because its R-squared is -2,513.86%, reflecting extreme overfitting, and its Clark-West statistic is not significant.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short-leg excess return provides some positive forecasting ability for the future market; the long-leg return has little evidence of predictive ability. Long-short returns equal long minus short, so stronger short-side predictability produces a negative slope for long-short returns. The spread can forecast more sharply than the short leg alone because subtracting legs removes a common, largely unpredictable component.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bid-ask spread as a clear example, then generalize to idiosyncratic volatility and size. The BA-NEG subgroup has stronger limits of arbitrage in the short leg than in the long leg. For ENet, C-ENet, and PLS, its OOS R-squared is 3.57%, 3.65%, and 2.94%; the corresponding BA-POS values are -0.28%, -1.41%, and 0.29%. The paper also finds higher predictive performance in high-friction regimes, including short-fee regimes.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test whether anomaly returns predict broad-market arbitrage activity and financial-news tone. A one-standard-deviation increase in the predictor is associated with a 4.81-5.81% decrease in net market arbitrage positions, mostly because short positions increase. News tone becomes more negative. Treat these as supporting patterns for the mechanism, not a randomized causal test.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mean-variance investor with relative risk aversion of three allocating between the market and Treasury bills, forecast-based strategies generate annualized certainty-equivalent gains of 259-638 basis points relative to the historical-mean forecast. Explain that this is an economic-utility calculation under the paper’s assumptions, not an observed alpha or a realized net-of-costs trading return.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The paper is the primary source for the sample, methods, and results. The remaining references identify the forecasting and factor methods introduced in the talk.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takeaways. Reiterate the distinction between prediction and mechanism: forecast gains are out-of-sample and robust across methods, while evidence for slow arbitrage is consistent with, but does not identify, a causal channel. Leave this slide on screen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backup slide if students ask what sits underneath a characteristic. BM is common equity divided by market equity, using annual accounting information at least four months old. Accruals are income before extraordinary items minus operating cash flow, scaled by average assets; a balance-sheet substitute is used when needed. Short-term beta is estimated from the previous 52 weeks of returns against the CRSP equal-weighted market excess return. Then each signal is ranked and passed through the same decile-return pipeline.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Code-level details: 120 initial observations, 60 holdout months, and expanding recursive re-estimation. The code computes monthly market returns in percentage points, forms the target at the selected horizon, aligns each target with the prior month’s predictors, and drops unavailable target rows. Elastic net uses alpha 0.5 and 200 lambda candidates, with AICc selection. C-ENet imposes nonnegative coefficients when selecting individual forecasts, then averages the selected forecast values. PCA and PLS each use one component, recalculated recursively.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provided code loads monthly market and anomaly return panels, converts returns to percent, and fills missing anomaly returns with that month’s cross-sectional mean. The raw stock-level characteristic construction and decile portfolio formation are upstream and are documented in the Internet Appendix, not implemented in these forecast scripts. Step 2: The target and predictors are aligned so earlier anomaly returns forecast later market returns. Step 3: The expanding-window ENet is fitted using past aligned rows and applied to the latest predictor vector. Step 4: forecasts are saved and evaluated against the prevailing mean using out-of-sample R-squared and the Clark-West test.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438912"/>
            <a:ext cx="11155680" cy="749808"/>
          </a:xfrm>
          <a:prstGeom prst="rect">
            <a:avLst/>
          </a:prstGeom>
          <a:noFill/>
          <a:ln/>
        </p:spPr>
        <p:txBody>
          <a:bodyPr wrap="square" rtlCol="0"/>
          <a:lstStyle>
            <a:lvl1pPr marL="0" indent="0">
              <a:buNone/>
              <a:defRPr lang="en-US" sz="2600" b="1" dirty="0">
                <a:solidFill>
                  <a:schemeClr val="tx1"/>
                </a:solidFill>
                <a:latin typeface="Arial" pitchFamily="34" charset="0"/>
                <a:ea typeface="Arial" pitchFamily="34" charset="-122"/>
                <a:cs typeface="Arial" pitchFamily="34" charset="-120"/>
              </a:defRPr>
            </a:lvl1pPr>
          </a:lstStyle>
          <a:p>
            <a:pPr marL="0" indent="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111/jofi.13099"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1"/>
        </a:solidFill>
        <a:effectLst/>
      </p:bgPr>
    </p:bg>
    <p:spTree>
      <p:nvGrpSpPr>
        <p:cNvPr id="1" name=""/>
        <p:cNvGrpSpPr/>
        <p:nvPr/>
      </p:nvGrpSpPr>
      <p:grpSpPr>
        <a:xfrm>
          <a:off x="0" y="0"/>
          <a:ext cx="0" cy="0"/>
          <a:chOff x="0" y="0"/>
          <a:chExt cx="0" cy="0"/>
        </a:xfrm>
      </p:grpSpPr>
      <p:sp>
        <p:nvSpPr>
          <p:cNvPr id="2" name="Text 0"/>
          <p:cNvSpPr txBox="1"/>
          <p:nvPr/>
        </p:nvSpPr>
        <p:spPr>
          <a:xfrm>
            <a:off x="749808" y="1024128"/>
            <a:ext cx="10515600" cy="1508760"/>
          </a:xfrm>
          <a:prstGeom prst="rect">
            <a:avLst/>
          </a:prstGeom>
          <a:noFill/>
          <a:ln/>
        </p:spPr>
        <p:txBody>
          <a:bodyPr wrap="square" lIns="0" tIns="0" rIns="0" bIns="0" rtlCol="0" anchor="t"/>
          <a:lstStyle/>
          <a:p>
            <a:pPr marL="0" indent="0">
              <a:buNone/>
            </a:pPr>
            <a:r>
              <a:rPr lang="en-US" sz="3800" b="1" dirty="0">
                <a:solidFill>
                  <a:schemeClr val="bg1"/>
                </a:solidFill>
                <a:latin typeface="Arial" pitchFamily="34" charset="0"/>
                <a:ea typeface="Arial" pitchFamily="34" charset="-122"/>
                <a:cs typeface="Arial" pitchFamily="34" charset="-120"/>
              </a:rPr>
              <a:t>Anomalies and the</a:t>
            </a:r>
            <a:endParaRPr lang="en-US" sz="3800" dirty="0"/>
          </a:p>
          <a:p>
            <a:pPr marL="0" indent="0">
              <a:buNone/>
            </a:pPr>
            <a:r>
              <a:rPr lang="en-US" sz="3800" b="1" dirty="0">
                <a:solidFill>
                  <a:schemeClr val="bg1"/>
                </a:solidFill>
                <a:latin typeface="Arial" pitchFamily="34" charset="0"/>
                <a:ea typeface="Arial" pitchFamily="34" charset="-122"/>
                <a:cs typeface="Arial" pitchFamily="34" charset="-120"/>
              </a:rPr>
              <a:t>Expected Market Return</a:t>
            </a:r>
            <a:endParaRPr lang="en-US" sz="3800" dirty="0"/>
          </a:p>
        </p:txBody>
      </p:sp>
      <p:sp>
        <p:nvSpPr>
          <p:cNvPr id="3" name="Text 1"/>
          <p:cNvSpPr txBox="1"/>
          <p:nvPr/>
        </p:nvSpPr>
        <p:spPr>
          <a:xfrm>
            <a:off x="786384" y="2743200"/>
            <a:ext cx="9966960" cy="685800"/>
          </a:xfrm>
          <a:prstGeom prst="rect">
            <a:avLst/>
          </a:prstGeom>
          <a:noFill/>
          <a:ln/>
        </p:spPr>
        <p:txBody>
          <a:bodyPr wrap="square" lIns="0" tIns="0" rIns="0" bIns="0" rtlCol="0" anchor="ctr"/>
          <a:lstStyle/>
          <a:p>
            <a:pPr marL="0" indent="0">
              <a:buNone/>
            </a:pPr>
            <a:r>
              <a:rPr lang="en-US" sz="2300" dirty="0">
                <a:solidFill>
                  <a:schemeClr val="bg1"/>
                </a:solidFill>
                <a:latin typeface="Arial" pitchFamily="34" charset="0"/>
                <a:ea typeface="Arial" pitchFamily="34" charset="-122"/>
                <a:cs typeface="Arial" pitchFamily="34" charset="-120"/>
              </a:rPr>
              <a:t>Can cross-sectional return signals forecast the aggregate equity premium?</a:t>
            </a:r>
            <a:endParaRPr lang="en-US" sz="2300" dirty="0"/>
          </a:p>
        </p:txBody>
      </p:sp>
      <p:sp>
        <p:nvSpPr>
          <p:cNvPr id="4" name="Shape 2"/>
          <p:cNvSpPr/>
          <p:nvPr/>
        </p:nvSpPr>
        <p:spPr>
          <a:xfrm>
            <a:off x="786384" y="3776472"/>
            <a:ext cx="1042416" cy="0"/>
          </a:xfrm>
          <a:prstGeom prst="line">
            <a:avLst/>
          </a:prstGeom>
          <a:noFill/>
          <a:ln w="38100">
            <a:solidFill>
              <a:schemeClr val="accent2"/>
            </a:solidFill>
            <a:prstDash val="solid"/>
          </a:ln>
        </p:spPr>
      </p:sp>
      <p:sp>
        <p:nvSpPr>
          <p:cNvPr id="5" name="Text 3"/>
          <p:cNvSpPr txBox="1"/>
          <p:nvPr/>
        </p:nvSpPr>
        <p:spPr>
          <a:xfrm>
            <a:off x="786384" y="4005072"/>
            <a:ext cx="9875520" cy="384048"/>
          </a:xfrm>
          <a:prstGeom prst="rect">
            <a:avLst/>
          </a:prstGeom>
          <a:noFill/>
          <a:ln/>
        </p:spPr>
        <p:txBody>
          <a:bodyPr wrap="square" lIns="0" tIns="0" rIns="0" bIns="0" rtlCol="0" anchor="ctr"/>
          <a:lstStyle/>
          <a:p>
            <a:pPr marL="0" indent="0">
              <a:buNone/>
            </a:pPr>
            <a:r>
              <a:rPr lang="en-US" sz="1700" dirty="0">
                <a:solidFill>
                  <a:schemeClr val="bg1"/>
                </a:solidFill>
                <a:latin typeface="Arial" pitchFamily="34" charset="0"/>
                <a:ea typeface="Arial" pitchFamily="34" charset="-122"/>
                <a:cs typeface="Arial" pitchFamily="34" charset="-120"/>
              </a:rPr>
              <a:t>Xi Dong, Yan Li, David E. Rapach, and Guofu Zhou</a:t>
            </a:r>
            <a:endParaRPr lang="en-US" sz="1700" dirty="0"/>
          </a:p>
        </p:txBody>
      </p:sp>
      <p:sp>
        <p:nvSpPr>
          <p:cNvPr id="6" name="Text 4"/>
          <p:cNvSpPr txBox="1"/>
          <p:nvPr/>
        </p:nvSpPr>
        <p:spPr>
          <a:xfrm>
            <a:off x="786384" y="4498848"/>
            <a:ext cx="10515600" cy="347472"/>
          </a:xfrm>
          <a:prstGeom prst="rect">
            <a:avLst/>
          </a:prstGeom>
          <a:noFill/>
          <a:ln/>
        </p:spPr>
        <p:txBody>
          <a:bodyPr wrap="square" lIns="0" tIns="0" rIns="0" bIns="0" rtlCol="0" anchor="ctr"/>
          <a:lstStyle/>
          <a:p>
            <a:pPr marL="0" indent="0">
              <a:buNone/>
            </a:pPr>
            <a:r>
              <a:rPr lang="en-US" sz="1600" dirty="0">
                <a:solidFill>
                  <a:schemeClr val="bg1"/>
                </a:solidFill>
                <a:latin typeface="Arial" pitchFamily="34" charset="0"/>
                <a:ea typeface="Arial" pitchFamily="34" charset="-122"/>
                <a:cs typeface="Arial" pitchFamily="34" charset="-120"/>
              </a:rPr>
              <a:t>Presented by Richard Dien Giau Bui  |  National Chengchi University</a:t>
            </a:r>
            <a:endParaRPr lang="en-US" sz="1600" dirty="0"/>
          </a:p>
        </p:txBody>
      </p:sp>
      <p:sp>
        <p:nvSpPr>
          <p:cNvPr id="7" name="Text 5"/>
          <p:cNvSpPr txBox="1"/>
          <p:nvPr/>
        </p:nvSpPr>
        <p:spPr>
          <a:xfrm>
            <a:off x="786384" y="6172200"/>
            <a:ext cx="10515600" cy="256032"/>
          </a:xfrm>
          <a:prstGeom prst="rect">
            <a:avLst/>
          </a:prstGeom>
          <a:noFill/>
          <a:ln/>
        </p:spPr>
        <p:txBody>
          <a:bodyPr wrap="square" lIns="0" tIns="0" rIns="0" bIns="0" rtlCol="0" anchor="ctr"/>
          <a:lstStyle/>
          <a:p>
            <a:pPr marL="0" indent="0">
              <a:buNone/>
            </a:pPr>
            <a:r>
              <a:rPr lang="en-US" sz="1200" dirty="0">
                <a:solidFill>
                  <a:schemeClr val="bg1"/>
                </a:solidFill>
                <a:latin typeface="Arial" pitchFamily="34" charset="0"/>
                <a:ea typeface="Arial" pitchFamily="34" charset="-122"/>
                <a:cs typeface="Arial" pitchFamily="34" charset="-120"/>
              </a:rPr>
              <a:t>The Journal of Finance, 77(1), 639-681 (2022)  |  DOI: 10.1111/jofi.13099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Cross-sectional anomalies and market-premium forecasts have mostly been studied separately</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Engelberg et al. (2021)</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a:t>
            </a:r>
            <a:endParaRPr lang="en-US" sz="1100" dirty="0"/>
          </a:p>
        </p:txBody>
      </p:sp>
      <p:sp>
        <p:nvSpPr>
          <p:cNvPr id="10" name="Shape 7"/>
          <p:cNvSpPr/>
          <p:nvPr/>
        </p:nvSpPr>
        <p:spPr>
          <a:xfrm>
            <a:off x="777240" y="1645920"/>
            <a:ext cx="4023360" cy="2148840"/>
          </a:xfrm>
          <a:prstGeom prst="rect">
            <a:avLst/>
          </a:prstGeom>
          <a:solidFill>
            <a:schemeClr val="bg2"/>
          </a:solidFill>
          <a:ln w="15240">
            <a:solidFill>
              <a:schemeClr val="accent2"/>
            </a:solidFill>
            <a:prstDash val="solid"/>
          </a:ln>
        </p:spPr>
      </p:sp>
      <p:sp>
        <p:nvSpPr>
          <p:cNvPr id="11" name="Text 8"/>
          <p:cNvSpPr txBox="1"/>
          <p:nvPr/>
        </p:nvSpPr>
        <p:spPr>
          <a:xfrm>
            <a:off x="886968" y="1719072"/>
            <a:ext cx="3803904" cy="2002536"/>
          </a:xfrm>
          <a:prstGeom prst="rect">
            <a:avLst/>
          </a:prstGeom>
          <a:noFill/>
          <a:ln/>
        </p:spPr>
        <p:txBody>
          <a:bodyPr wrap="square" lIns="0" tIns="0" rIns="0" bIns="0" rtlCol="0" anchor="ctr"/>
          <a:lstStyle/>
          <a:p>
            <a:pPr marL="0" indent="0" algn="ctr">
              <a:buNone/>
            </a:pPr>
            <a:r>
              <a:rPr lang="en-US" sz="2100" dirty="0">
                <a:solidFill>
                  <a:schemeClr val="tx1"/>
                </a:solidFill>
                <a:latin typeface="Arial" pitchFamily="34" charset="0"/>
                <a:ea typeface="Arial" pitchFamily="34" charset="-122"/>
                <a:cs typeface="Arial" pitchFamily="34" charset="-120"/>
              </a:rPr>
              <a:t>CROSS SECTION</a:t>
            </a:r>
            <a:endParaRPr lang="en-US" sz="2100" dirty="0"/>
          </a:p>
          <a:p>
            <a:pPr marL="0" indent="0" algn="ctr">
              <a:buNone/>
            </a:pPr>
            <a:r>
              <a:rPr lang="en-US" sz="2100" dirty="0">
                <a:solidFill>
                  <a:schemeClr val="tx1"/>
                </a:solidFill>
                <a:latin typeface="Arial" pitchFamily="34" charset="0"/>
                <a:ea typeface="Arial" pitchFamily="34" charset="-122"/>
                <a:cs typeface="Arial" pitchFamily="34" charset="-120"/>
              </a:rPr>
              <a:t>Firm characteristics</a:t>
            </a:r>
            <a:endParaRPr lang="en-US" sz="2100" dirty="0"/>
          </a:p>
          <a:p>
            <a:pPr marL="0" indent="0" algn="ctr">
              <a:buNone/>
            </a:pPr>
            <a:r>
              <a:rPr lang="en-US" sz="2100" dirty="0">
                <a:solidFill>
                  <a:schemeClr val="tx1"/>
                </a:solidFill>
                <a:latin typeface="Arial" pitchFamily="34" charset="0"/>
                <a:ea typeface="Arial" pitchFamily="34" charset="-122"/>
                <a:cs typeface="Arial" pitchFamily="34" charset="-120"/>
              </a:rPr>
              <a:t>-&gt; relative stock returns</a:t>
            </a:r>
            <a:endParaRPr lang="en-US" sz="2100" dirty="0"/>
          </a:p>
        </p:txBody>
      </p:sp>
      <p:sp>
        <p:nvSpPr>
          <p:cNvPr id="12" name="Shape 9"/>
          <p:cNvSpPr/>
          <p:nvPr/>
        </p:nvSpPr>
        <p:spPr>
          <a:xfrm>
            <a:off x="7388352" y="1645920"/>
            <a:ext cx="4023360" cy="2148840"/>
          </a:xfrm>
          <a:prstGeom prst="rect">
            <a:avLst/>
          </a:prstGeom>
          <a:solidFill>
            <a:schemeClr val="bg2"/>
          </a:solidFill>
          <a:ln w="15240">
            <a:solidFill>
              <a:schemeClr val="accent2"/>
            </a:solidFill>
            <a:prstDash val="solid"/>
          </a:ln>
        </p:spPr>
      </p:sp>
      <p:sp>
        <p:nvSpPr>
          <p:cNvPr id="13" name="Text 10"/>
          <p:cNvSpPr txBox="1"/>
          <p:nvPr/>
        </p:nvSpPr>
        <p:spPr>
          <a:xfrm>
            <a:off x="7498080" y="1719072"/>
            <a:ext cx="3803904" cy="2002536"/>
          </a:xfrm>
          <a:prstGeom prst="rect">
            <a:avLst/>
          </a:prstGeom>
          <a:noFill/>
          <a:ln/>
        </p:spPr>
        <p:txBody>
          <a:bodyPr wrap="square" lIns="0" tIns="0" rIns="0" bIns="0" rtlCol="0" anchor="ctr"/>
          <a:lstStyle/>
          <a:p>
            <a:pPr marL="0" indent="0" algn="ctr">
              <a:buNone/>
            </a:pPr>
            <a:r>
              <a:rPr lang="en-US" sz="2100" dirty="0">
                <a:solidFill>
                  <a:schemeClr val="tx1"/>
                </a:solidFill>
                <a:latin typeface="Arial" pitchFamily="34" charset="0"/>
                <a:ea typeface="Arial" pitchFamily="34" charset="-122"/>
                <a:cs typeface="Arial" pitchFamily="34" charset="-120"/>
              </a:rPr>
              <a:t>TIME SERIES</a:t>
            </a:r>
            <a:endParaRPr lang="en-US" sz="2100" dirty="0"/>
          </a:p>
          <a:p>
            <a:pPr marL="0" indent="0" algn="ctr">
              <a:buNone/>
            </a:pPr>
            <a:r>
              <a:rPr lang="en-US" sz="2100" dirty="0">
                <a:solidFill>
                  <a:schemeClr val="tx1"/>
                </a:solidFill>
                <a:latin typeface="Arial" pitchFamily="34" charset="0"/>
                <a:ea typeface="Arial" pitchFamily="34" charset="-122"/>
                <a:cs typeface="Arial" pitchFamily="34" charset="-120"/>
              </a:rPr>
              <a:t>Economic and financial variables</a:t>
            </a:r>
            <a:endParaRPr lang="en-US" sz="2100" dirty="0"/>
          </a:p>
          <a:p>
            <a:pPr marL="0" indent="0" algn="ctr">
              <a:buNone/>
            </a:pPr>
            <a:r>
              <a:rPr lang="en-US" sz="2100" dirty="0">
                <a:solidFill>
                  <a:schemeClr val="tx1"/>
                </a:solidFill>
                <a:latin typeface="Arial" pitchFamily="34" charset="0"/>
                <a:ea typeface="Arial" pitchFamily="34" charset="-122"/>
                <a:cs typeface="Arial" pitchFamily="34" charset="-120"/>
              </a:rPr>
              <a:t>-&gt; market excess return</a:t>
            </a:r>
            <a:endParaRPr lang="en-US" sz="2100" dirty="0"/>
          </a:p>
        </p:txBody>
      </p:sp>
      <p:sp>
        <p:nvSpPr>
          <p:cNvPr id="14" name="Shape 11"/>
          <p:cNvSpPr/>
          <p:nvPr/>
        </p:nvSpPr>
        <p:spPr>
          <a:xfrm>
            <a:off x="5074920" y="2670048"/>
            <a:ext cx="2011680" cy="0"/>
          </a:xfrm>
          <a:prstGeom prst="line">
            <a:avLst/>
          </a:prstGeom>
          <a:noFill/>
          <a:ln w="30480">
            <a:solidFill>
              <a:schemeClr val="accent3"/>
            </a:solidFill>
            <a:prstDash val="solid"/>
            <a:tailEnd type="triangle"/>
          </a:ln>
        </p:spPr>
      </p:sp>
      <p:sp>
        <p:nvSpPr>
          <p:cNvPr id="15" name="Text 12"/>
          <p:cNvSpPr txBox="1"/>
          <p:nvPr/>
        </p:nvSpPr>
        <p:spPr>
          <a:xfrm>
            <a:off x="5230368" y="2148840"/>
            <a:ext cx="1691640" cy="365760"/>
          </a:xfrm>
          <a:prstGeom prst="rect">
            <a:avLst/>
          </a:prstGeom>
          <a:noFill/>
          <a:ln/>
        </p:spPr>
        <p:txBody>
          <a:bodyPr wrap="square" lIns="0" tIns="0" rIns="0" bIns="0" rtlCol="0" anchor="ctr"/>
          <a:lstStyle/>
          <a:p>
            <a:pPr marL="0" indent="0" algn="ctr">
              <a:buNone/>
            </a:pPr>
            <a:r>
              <a:rPr lang="en-US" sz="1800" b="1" dirty="0">
                <a:solidFill>
                  <a:schemeClr val="accent3"/>
                </a:solidFill>
                <a:latin typeface="Arial" pitchFamily="34" charset="0"/>
                <a:ea typeface="Arial" pitchFamily="34" charset="-122"/>
                <a:cs typeface="Arial" pitchFamily="34" charset="-120"/>
              </a:rPr>
              <a:t>Open link</a:t>
            </a:r>
            <a:endParaRPr lang="en-US" sz="1800" dirty="0"/>
          </a:p>
        </p:txBody>
      </p:sp>
      <p:sp>
        <p:nvSpPr>
          <p:cNvPr id="16" name="Text 13"/>
          <p:cNvSpPr txBox="1"/>
          <p:nvPr/>
        </p:nvSpPr>
        <p:spPr>
          <a:xfrm>
            <a:off x="1280160" y="4343400"/>
            <a:ext cx="9601200" cy="731520"/>
          </a:xfrm>
          <a:prstGeom prst="rect">
            <a:avLst/>
          </a:prstGeom>
          <a:noFill/>
          <a:ln/>
        </p:spPr>
        <p:txBody>
          <a:bodyPr wrap="square" lIns="0" tIns="0" rIns="0" bIns="0" rtlCol="0" anchor="ctr"/>
          <a:lstStyle/>
          <a:p>
            <a:pPr marL="0" indent="0" algn="ctr">
              <a:buNone/>
            </a:pPr>
            <a:r>
              <a:rPr lang="en-US" sz="2300" b="1" dirty="0">
                <a:solidFill>
                  <a:schemeClr val="tx1"/>
                </a:solidFill>
                <a:latin typeface="Arial" pitchFamily="34" charset="0"/>
                <a:ea typeface="Arial" pitchFamily="34" charset="-122"/>
                <a:cs typeface="Arial" pitchFamily="34" charset="-120"/>
              </a:rPr>
              <a:t>Can the return spread between anomaly “winners” and “losers” forecast the market?</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The paper connects the two literatures with long-short anomaly portfolio returns</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Introduction</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2</a:t>
            </a:r>
            <a:endParaRPr lang="en-US" sz="1100" dirty="0"/>
          </a:p>
        </p:txBody>
      </p:sp>
      <p:sp>
        <p:nvSpPr>
          <p:cNvPr id="10" name="Text 7"/>
          <p:cNvSpPr txBox="1"/>
          <p:nvPr/>
        </p:nvSpPr>
        <p:spPr>
          <a:xfrm>
            <a:off x="731520" y="1755648"/>
            <a:ext cx="731520" cy="502920"/>
          </a:xfrm>
          <a:prstGeom prst="rect">
            <a:avLst/>
          </a:prstGeom>
          <a:noFill/>
          <a:ln/>
        </p:spPr>
        <p:txBody>
          <a:bodyPr wrap="square" lIns="0" tIns="0" rIns="0" bIns="0" rtlCol="0" anchor="ctr"/>
          <a:lstStyle/>
          <a:p>
            <a:pPr marL="0" indent="0">
              <a:buNone/>
            </a:pPr>
            <a:r>
              <a:rPr lang="en-US" sz="3200" b="1" dirty="0">
                <a:solidFill>
                  <a:schemeClr val="accent2"/>
                </a:solidFill>
                <a:latin typeface="Arial" pitchFamily="34" charset="0"/>
                <a:ea typeface="Arial" pitchFamily="34" charset="-122"/>
                <a:cs typeface="Arial" pitchFamily="34" charset="-120"/>
              </a:rPr>
              <a:t>01</a:t>
            </a:r>
            <a:endParaRPr lang="en-US" sz="3200" dirty="0"/>
          </a:p>
        </p:txBody>
      </p:sp>
      <p:sp>
        <p:nvSpPr>
          <p:cNvPr id="11" name="Text 8"/>
          <p:cNvSpPr txBox="1"/>
          <p:nvPr/>
        </p:nvSpPr>
        <p:spPr>
          <a:xfrm>
            <a:off x="731520" y="2487168"/>
            <a:ext cx="3063240" cy="411480"/>
          </a:xfrm>
          <a:prstGeom prst="rect">
            <a:avLst/>
          </a:prstGeom>
          <a:noFill/>
          <a:ln/>
        </p:spPr>
        <p:txBody>
          <a:bodyPr wrap="square" lIns="0" tIns="0" rIns="0" bIns="0" rtlCol="0" anchor="t"/>
          <a:lstStyle/>
          <a:p>
            <a:pPr marL="0" indent="0">
              <a:buNone/>
            </a:pPr>
            <a:r>
              <a:rPr lang="en-US" sz="1700" b="1" dirty="0">
                <a:solidFill>
                  <a:schemeClr val="accent1"/>
                </a:solidFill>
                <a:latin typeface="Arial" pitchFamily="34" charset="0"/>
                <a:ea typeface="Arial" pitchFamily="34" charset="-122"/>
                <a:cs typeface="Arial" pitchFamily="34" charset="-120"/>
              </a:rPr>
              <a:t>NEW PREDICTOR</a:t>
            </a:r>
            <a:endParaRPr lang="en-US" sz="1700" dirty="0"/>
          </a:p>
        </p:txBody>
      </p:sp>
      <p:sp>
        <p:nvSpPr>
          <p:cNvPr id="12" name="Text 9"/>
          <p:cNvSpPr txBox="1"/>
          <p:nvPr/>
        </p:nvSpPr>
        <p:spPr>
          <a:xfrm>
            <a:off x="731520" y="3063240"/>
            <a:ext cx="3108960" cy="1325880"/>
          </a:xfrm>
          <a:prstGeom prst="rect">
            <a:avLst/>
          </a:prstGeom>
          <a:noFill/>
          <a:ln/>
        </p:spPr>
        <p:txBody>
          <a:bodyPr wrap="square" lIns="0" tIns="0" rIns="0" bIns="0" rtlCol="0" anchor="t"/>
          <a:lstStyle/>
          <a:p>
            <a:pPr marL="0" indent="0">
              <a:buNone/>
            </a:pPr>
            <a:r>
              <a:rPr lang="en-US" sz="2000" dirty="0">
                <a:solidFill>
                  <a:schemeClr val="tx1"/>
                </a:solidFill>
                <a:latin typeface="Arial" pitchFamily="34" charset="0"/>
                <a:ea typeface="Arial" pitchFamily="34" charset="-122"/>
                <a:cs typeface="Arial" pitchFamily="34" charset="-120"/>
              </a:rPr>
              <a:t>Long-short anomaly returns, not only firm-characteristic averages</a:t>
            </a:r>
            <a:endParaRPr lang="en-US" sz="2000" dirty="0"/>
          </a:p>
        </p:txBody>
      </p:sp>
      <p:sp>
        <p:nvSpPr>
          <p:cNvPr id="13" name="Text 10"/>
          <p:cNvSpPr txBox="1"/>
          <p:nvPr/>
        </p:nvSpPr>
        <p:spPr>
          <a:xfrm>
            <a:off x="4526280" y="1755648"/>
            <a:ext cx="731520" cy="502920"/>
          </a:xfrm>
          <a:prstGeom prst="rect">
            <a:avLst/>
          </a:prstGeom>
          <a:noFill/>
          <a:ln/>
        </p:spPr>
        <p:txBody>
          <a:bodyPr wrap="square" lIns="0" tIns="0" rIns="0" bIns="0" rtlCol="0" anchor="ctr"/>
          <a:lstStyle/>
          <a:p>
            <a:pPr marL="0" indent="0">
              <a:buNone/>
            </a:pPr>
            <a:r>
              <a:rPr lang="en-US" sz="3200" b="1" dirty="0">
                <a:solidFill>
                  <a:schemeClr val="accent2"/>
                </a:solidFill>
                <a:latin typeface="Arial" pitchFamily="34" charset="0"/>
                <a:ea typeface="Arial" pitchFamily="34" charset="-122"/>
                <a:cs typeface="Arial" pitchFamily="34" charset="-120"/>
              </a:rPr>
              <a:t>02</a:t>
            </a:r>
            <a:endParaRPr lang="en-US" sz="3200" dirty="0"/>
          </a:p>
        </p:txBody>
      </p:sp>
      <p:sp>
        <p:nvSpPr>
          <p:cNvPr id="14" name="Text 11"/>
          <p:cNvSpPr txBox="1"/>
          <p:nvPr/>
        </p:nvSpPr>
        <p:spPr>
          <a:xfrm>
            <a:off x="4526280" y="2487168"/>
            <a:ext cx="3063240" cy="411480"/>
          </a:xfrm>
          <a:prstGeom prst="rect">
            <a:avLst/>
          </a:prstGeom>
          <a:noFill/>
          <a:ln/>
        </p:spPr>
        <p:txBody>
          <a:bodyPr wrap="square" lIns="0" tIns="0" rIns="0" bIns="0" rtlCol="0" anchor="t"/>
          <a:lstStyle/>
          <a:p>
            <a:pPr marL="0" indent="0">
              <a:buNone/>
            </a:pPr>
            <a:r>
              <a:rPr lang="en-US" sz="1700" b="1" dirty="0">
                <a:solidFill>
                  <a:schemeClr val="accent1"/>
                </a:solidFill>
                <a:latin typeface="Arial" pitchFamily="34" charset="0"/>
                <a:ea typeface="Arial" pitchFamily="34" charset="-122"/>
                <a:cs typeface="Arial" pitchFamily="34" charset="-120"/>
              </a:rPr>
              <a:t>HIGH-DIMENSIONAL DESIGN</a:t>
            </a:r>
            <a:endParaRPr lang="en-US" sz="1700" dirty="0"/>
          </a:p>
        </p:txBody>
      </p:sp>
      <p:sp>
        <p:nvSpPr>
          <p:cNvPr id="15" name="Text 12"/>
          <p:cNvSpPr txBox="1"/>
          <p:nvPr/>
        </p:nvSpPr>
        <p:spPr>
          <a:xfrm>
            <a:off x="4526280" y="3063240"/>
            <a:ext cx="3108960" cy="1325880"/>
          </a:xfrm>
          <a:prstGeom prst="rect">
            <a:avLst/>
          </a:prstGeom>
          <a:noFill/>
          <a:ln/>
        </p:spPr>
        <p:txBody>
          <a:bodyPr wrap="square" lIns="0" tIns="0" rIns="0" bIns="0" rtlCol="0" anchor="t"/>
          <a:lstStyle/>
          <a:p>
            <a:pPr marL="0" indent="0">
              <a:buNone/>
            </a:pPr>
            <a:r>
              <a:rPr lang="en-US" sz="2000" dirty="0">
                <a:solidFill>
                  <a:schemeClr val="tx1"/>
                </a:solidFill>
                <a:latin typeface="Arial" pitchFamily="34" charset="0"/>
                <a:ea typeface="Arial" pitchFamily="34" charset="-122"/>
                <a:cs typeface="Arial" pitchFamily="34" charset="-120"/>
              </a:rPr>
              <a:t>100 signals combined with shrinkage, forecast combination, and factors</a:t>
            </a:r>
            <a:endParaRPr lang="en-US" sz="2000" dirty="0"/>
          </a:p>
        </p:txBody>
      </p:sp>
      <p:sp>
        <p:nvSpPr>
          <p:cNvPr id="16" name="Text 13"/>
          <p:cNvSpPr txBox="1"/>
          <p:nvPr/>
        </p:nvSpPr>
        <p:spPr>
          <a:xfrm>
            <a:off x="8321040" y="1755648"/>
            <a:ext cx="731520" cy="502920"/>
          </a:xfrm>
          <a:prstGeom prst="rect">
            <a:avLst/>
          </a:prstGeom>
          <a:noFill/>
          <a:ln/>
        </p:spPr>
        <p:txBody>
          <a:bodyPr wrap="square" lIns="0" tIns="0" rIns="0" bIns="0" rtlCol="0" anchor="ctr"/>
          <a:lstStyle/>
          <a:p>
            <a:pPr marL="0" indent="0">
              <a:buNone/>
            </a:pPr>
            <a:r>
              <a:rPr lang="en-US" sz="3200" b="1" dirty="0">
                <a:solidFill>
                  <a:schemeClr val="accent3"/>
                </a:solidFill>
                <a:latin typeface="Arial" pitchFamily="34" charset="0"/>
                <a:ea typeface="Arial" pitchFamily="34" charset="-122"/>
                <a:cs typeface="Arial" pitchFamily="34" charset="-120"/>
              </a:rPr>
              <a:t>03</a:t>
            </a:r>
            <a:endParaRPr lang="en-US" sz="3200" dirty="0"/>
          </a:p>
        </p:txBody>
      </p:sp>
      <p:sp>
        <p:nvSpPr>
          <p:cNvPr id="17" name="Text 14"/>
          <p:cNvSpPr txBox="1"/>
          <p:nvPr/>
        </p:nvSpPr>
        <p:spPr>
          <a:xfrm>
            <a:off x="8321040" y="2487168"/>
            <a:ext cx="3063240" cy="411480"/>
          </a:xfrm>
          <a:prstGeom prst="rect">
            <a:avLst/>
          </a:prstGeom>
          <a:noFill/>
          <a:ln/>
        </p:spPr>
        <p:txBody>
          <a:bodyPr wrap="square" lIns="0" tIns="0" rIns="0" bIns="0" rtlCol="0" anchor="t"/>
          <a:lstStyle/>
          <a:p>
            <a:pPr marL="0" indent="0">
              <a:buNone/>
            </a:pPr>
            <a:r>
              <a:rPr lang="en-US" sz="1700" b="1" dirty="0">
                <a:solidFill>
                  <a:schemeClr val="accent1"/>
                </a:solidFill>
                <a:latin typeface="Arial" pitchFamily="34" charset="0"/>
                <a:ea typeface="Arial" pitchFamily="34" charset="-122"/>
                <a:cs typeface="Arial" pitchFamily="34" charset="-120"/>
              </a:rPr>
              <a:t>ECONOMIC EXPLANATION</a:t>
            </a:r>
            <a:endParaRPr lang="en-US" sz="1700" dirty="0"/>
          </a:p>
        </p:txBody>
      </p:sp>
      <p:sp>
        <p:nvSpPr>
          <p:cNvPr id="18" name="Text 15"/>
          <p:cNvSpPr txBox="1"/>
          <p:nvPr/>
        </p:nvSpPr>
        <p:spPr>
          <a:xfrm>
            <a:off x="8321040" y="3063240"/>
            <a:ext cx="3108960" cy="1325880"/>
          </a:xfrm>
          <a:prstGeom prst="rect">
            <a:avLst/>
          </a:prstGeom>
          <a:noFill/>
          <a:ln/>
        </p:spPr>
        <p:txBody>
          <a:bodyPr wrap="square" lIns="0" tIns="0" rIns="0" bIns="0" rtlCol="0" anchor="t"/>
          <a:lstStyle/>
          <a:p>
            <a:pPr marL="0" indent="0">
              <a:buNone/>
            </a:pPr>
            <a:r>
              <a:rPr lang="en-US" sz="2000" dirty="0">
                <a:solidFill>
                  <a:schemeClr val="tx1"/>
                </a:solidFill>
                <a:latin typeface="Arial" pitchFamily="34" charset="0"/>
                <a:ea typeface="Arial" pitchFamily="34" charset="-122"/>
                <a:cs typeface="Arial" pitchFamily="34" charset="-120"/>
              </a:rPr>
              <a:t>Asymmetric arbitrage limits and persistent overpricing correction</a:t>
            </a:r>
            <a:endParaRPr lang="en-US" sz="2000" dirty="0"/>
          </a:p>
        </p:txBody>
      </p:sp>
      <p:sp>
        <p:nvSpPr>
          <p:cNvPr id="19" name="Shape 16"/>
          <p:cNvSpPr/>
          <p:nvPr/>
        </p:nvSpPr>
        <p:spPr>
          <a:xfrm>
            <a:off x="4114800" y="1783080"/>
            <a:ext cx="0" cy="2862072"/>
          </a:xfrm>
          <a:prstGeom prst="line">
            <a:avLst/>
          </a:prstGeom>
          <a:noFill/>
          <a:ln w="12700">
            <a:solidFill>
              <a:srgbClr val="D8E0E8"/>
            </a:solidFill>
            <a:prstDash val="solid"/>
          </a:ln>
        </p:spPr>
      </p:sp>
      <p:sp>
        <p:nvSpPr>
          <p:cNvPr id="20" name="Shape 17"/>
          <p:cNvSpPr/>
          <p:nvPr/>
        </p:nvSpPr>
        <p:spPr>
          <a:xfrm>
            <a:off x="7936992" y="1783080"/>
            <a:ext cx="0" cy="2862072"/>
          </a:xfrm>
          <a:prstGeom prst="line">
            <a:avLst/>
          </a:prstGeom>
          <a:noFill/>
          <a:ln w="12700">
            <a:solidFill>
              <a:srgbClr val="D8E0E8"/>
            </a:solidFill>
            <a:prstDash val="solid"/>
          </a:ln>
        </p:spPr>
      </p:sp>
      <p:sp>
        <p:nvSpPr>
          <p:cNvPr id="21" name="Text 18"/>
          <p:cNvSpPr txBox="1"/>
          <p:nvPr/>
        </p:nvSpPr>
        <p:spPr>
          <a:xfrm>
            <a:off x="914400" y="5138928"/>
            <a:ext cx="10378440" cy="502920"/>
          </a:xfrm>
          <a:prstGeom prst="rect">
            <a:avLst/>
          </a:prstGeom>
          <a:noFill/>
          <a:ln/>
        </p:spPr>
        <p:txBody>
          <a:bodyPr wrap="square" lIns="0" tIns="0" rIns="0" bIns="0" rtlCol="0" anchor="ctr"/>
          <a:lstStyle/>
          <a:p>
            <a:pPr marL="0" indent="0" algn="ctr">
              <a:buNone/>
            </a:pPr>
            <a:r>
              <a:rPr lang="en-US" sz="2000" b="1" dirty="0">
                <a:solidFill>
                  <a:schemeClr val="tx1"/>
                </a:solidFill>
                <a:latin typeface="Arial" pitchFamily="34" charset="0"/>
                <a:ea typeface="Arial" pitchFamily="34" charset="-122"/>
                <a:cs typeface="Arial" pitchFamily="34" charset="-120"/>
              </a:rPr>
              <a:t>Contribution: connect cross-sectional mispricing evidence to time-series market-return forecasting.</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The test asks whether 100 anomaly returns forecast next month’s market excess return</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Sections I-IV</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3</a:t>
            </a:r>
            <a:endParaRPr lang="en-US" sz="1100" dirty="0"/>
          </a:p>
        </p:txBody>
      </p:sp>
      <p:sp>
        <p:nvSpPr>
          <p:cNvPr id="10" name="Shape 7"/>
          <p:cNvSpPr/>
          <p:nvPr/>
        </p:nvSpPr>
        <p:spPr>
          <a:xfrm>
            <a:off x="804672" y="1828800"/>
            <a:ext cx="3840480" cy="1554480"/>
          </a:xfrm>
          <a:prstGeom prst="rect">
            <a:avLst/>
          </a:prstGeom>
          <a:solidFill>
            <a:schemeClr val="bg2"/>
          </a:solidFill>
          <a:ln w="15240">
            <a:solidFill>
              <a:schemeClr val="accent2"/>
            </a:solidFill>
            <a:prstDash val="solid"/>
          </a:ln>
        </p:spPr>
      </p:sp>
      <p:sp>
        <p:nvSpPr>
          <p:cNvPr id="11" name="Text 8"/>
          <p:cNvSpPr txBox="1"/>
          <p:nvPr/>
        </p:nvSpPr>
        <p:spPr>
          <a:xfrm>
            <a:off x="914400" y="1901952"/>
            <a:ext cx="3621024" cy="1408176"/>
          </a:xfrm>
          <a:prstGeom prst="rect">
            <a:avLst/>
          </a:prstGeom>
          <a:noFill/>
          <a:ln/>
        </p:spPr>
        <p:txBody>
          <a:bodyPr wrap="square" lIns="0" tIns="0" rIns="0" bIns="0" rtlCol="0" anchor="ctr"/>
          <a:lstStyle/>
          <a:p>
            <a:pPr marL="0" indent="0" algn="ctr">
              <a:buNone/>
            </a:pPr>
            <a:r>
              <a:rPr lang="en-US" sz="2100" dirty="0">
                <a:solidFill>
                  <a:schemeClr val="tx1"/>
                </a:solidFill>
                <a:latin typeface="Arial" pitchFamily="34" charset="0"/>
                <a:ea typeface="Arial" pitchFamily="34" charset="-122"/>
                <a:cs typeface="Arial" pitchFamily="34" charset="-120"/>
              </a:rPr>
              <a:t>100 long-short anomaly returns</a:t>
            </a:r>
            <a:endParaRPr lang="en-US" sz="2100" dirty="0"/>
          </a:p>
          <a:p>
            <a:pPr marL="0" indent="0" algn="ctr">
              <a:buNone/>
            </a:pPr>
            <a:r>
              <a:rPr lang="en-US" sz="2100" dirty="0">
                <a:solidFill>
                  <a:schemeClr val="tx1"/>
                </a:solidFill>
                <a:latin typeface="Arial" pitchFamily="34" charset="0"/>
                <a:ea typeface="Arial" pitchFamily="34" charset="-122"/>
                <a:cs typeface="Arial" pitchFamily="34" charset="-120"/>
              </a:rPr>
              <a:t>observed through month </a:t>
            </a:r>
            <a:r>
              <a:rPr lang="en-US" sz="2100" i="1" dirty="0">
                <a:solidFill>
                  <a:schemeClr val="tx1"/>
                </a:solidFill>
                <a:latin typeface="Arial" pitchFamily="34" charset="0"/>
                <a:ea typeface="Arial" pitchFamily="34" charset="-122"/>
                <a:cs typeface="Arial" pitchFamily="34" charset="-120"/>
              </a:rPr>
              <a:t>t</a:t>
            </a:r>
            <a:endParaRPr lang="en-US" sz="2100" i="1" dirty="0"/>
          </a:p>
        </p:txBody>
      </p:sp>
      <p:sp>
        <p:nvSpPr>
          <p:cNvPr id="12" name="Shape 9"/>
          <p:cNvSpPr/>
          <p:nvPr/>
        </p:nvSpPr>
        <p:spPr>
          <a:xfrm>
            <a:off x="4892040" y="2606040"/>
            <a:ext cx="2103120" cy="0"/>
          </a:xfrm>
          <a:prstGeom prst="line">
            <a:avLst/>
          </a:prstGeom>
          <a:noFill/>
          <a:ln w="31750">
            <a:solidFill>
              <a:schemeClr val="accent2"/>
            </a:solidFill>
            <a:prstDash val="solid"/>
            <a:tailEnd type="triangle"/>
          </a:ln>
        </p:spPr>
      </p:sp>
      <p:sp>
        <p:nvSpPr>
          <p:cNvPr id="13" name="Shape 10"/>
          <p:cNvSpPr/>
          <p:nvPr/>
        </p:nvSpPr>
        <p:spPr>
          <a:xfrm>
            <a:off x="7269480" y="1828800"/>
            <a:ext cx="4069080" cy="1554480"/>
          </a:xfrm>
          <a:prstGeom prst="rect">
            <a:avLst/>
          </a:prstGeom>
          <a:solidFill>
            <a:schemeClr val="bg2"/>
          </a:solidFill>
          <a:ln w="15240">
            <a:solidFill>
              <a:schemeClr val="accent3"/>
            </a:solidFill>
            <a:prstDash val="solid"/>
          </a:ln>
        </p:spPr>
      </p:sp>
      <p:sp>
        <p:nvSpPr>
          <p:cNvPr id="14" name="Text 11"/>
          <p:cNvSpPr txBox="1"/>
          <p:nvPr/>
        </p:nvSpPr>
        <p:spPr>
          <a:xfrm>
            <a:off x="7379208" y="1901952"/>
            <a:ext cx="3849624" cy="1408176"/>
          </a:xfrm>
          <a:prstGeom prst="rect">
            <a:avLst/>
          </a:prstGeom>
          <a:noFill/>
          <a:ln/>
        </p:spPr>
        <p:txBody>
          <a:bodyPr wrap="square" lIns="0" tIns="0" rIns="0" bIns="0" rtlCol="0" anchor="ctr"/>
          <a:lstStyle/>
          <a:p>
            <a:pPr marL="0" indent="0" algn="ctr">
              <a:buNone/>
            </a:pPr>
            <a:r>
              <a:rPr lang="en-US" sz="2100" dirty="0">
                <a:solidFill>
                  <a:schemeClr val="tx1"/>
                </a:solidFill>
                <a:latin typeface="Arial" pitchFamily="34" charset="0"/>
                <a:ea typeface="Arial" pitchFamily="34" charset="-122"/>
                <a:cs typeface="Arial" pitchFamily="34" charset="-120"/>
              </a:rPr>
              <a:t>Market excess return</a:t>
            </a:r>
            <a:endParaRPr lang="en-US" sz="2100" dirty="0"/>
          </a:p>
          <a:p>
            <a:pPr marL="0" indent="0" algn="ctr">
              <a:buNone/>
            </a:pPr>
            <a:r>
              <a:rPr lang="en-US" sz="2100" dirty="0">
                <a:solidFill>
                  <a:schemeClr val="tx1"/>
                </a:solidFill>
                <a:latin typeface="Arial" pitchFamily="34" charset="0"/>
                <a:ea typeface="Arial" pitchFamily="34" charset="-122"/>
                <a:cs typeface="Arial" pitchFamily="34" charset="-120"/>
              </a:rPr>
              <a:t>in month </a:t>
            </a:r>
            <a:r>
              <a:rPr lang="en-US" sz="2100" i="1" dirty="0">
                <a:solidFill>
                  <a:schemeClr val="tx1"/>
                </a:solidFill>
                <a:latin typeface="Arial" pitchFamily="34" charset="0"/>
                <a:ea typeface="Arial" pitchFamily="34" charset="-122"/>
                <a:cs typeface="Arial" pitchFamily="34" charset="-120"/>
              </a:rPr>
              <a:t>t+1</a:t>
            </a:r>
            <a:endParaRPr lang="en-US" sz="2100" i="1" dirty="0"/>
          </a:p>
        </p:txBody>
      </p:sp>
      <p:sp>
        <p:nvSpPr>
          <p:cNvPr id="15" name="Text 12"/>
          <p:cNvSpPr txBox="1"/>
          <p:nvPr/>
        </p:nvSpPr>
        <p:spPr>
          <a:xfrm>
            <a:off x="868680" y="4050792"/>
            <a:ext cx="2743200" cy="365760"/>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Main empirical question</a:t>
            </a:r>
            <a:endParaRPr lang="en-US" sz="1800" dirty="0"/>
          </a:p>
        </p:txBody>
      </p:sp>
      <p:sp>
        <p:nvSpPr>
          <p:cNvPr id="16" name="Text 13"/>
          <p:cNvSpPr txBox="1"/>
          <p:nvPr/>
        </p:nvSpPr>
        <p:spPr>
          <a:xfrm>
            <a:off x="868680" y="4498848"/>
            <a:ext cx="10195560" cy="640080"/>
          </a:xfrm>
          <a:prstGeom prst="rect">
            <a:avLst/>
          </a:prstGeom>
          <a:noFill/>
          <a:ln/>
        </p:spPr>
        <p:txBody>
          <a:bodyPr wrap="square" lIns="0" tIns="0" rIns="0" bIns="0" rtlCol="0" anchor="ctr"/>
          <a:lstStyle/>
          <a:p>
            <a:pPr marL="0" indent="0">
              <a:buNone/>
            </a:pPr>
            <a:r>
              <a:rPr lang="en-US" sz="2400" b="1" dirty="0">
                <a:solidFill>
                  <a:schemeClr val="tx1"/>
                </a:solidFill>
                <a:latin typeface="Arial" pitchFamily="34" charset="0"/>
                <a:ea typeface="Arial" pitchFamily="34" charset="-122"/>
                <a:cs typeface="Arial" pitchFamily="34" charset="-120"/>
              </a:rPr>
              <a:t>Does the signal improve forecasts beyond the expanding historical mean?</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Persistent correction of overpricing can make anomaly returns predict market returns</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4</a:t>
            </a:r>
            <a:endParaRPr lang="en-US" sz="1100" dirty="0"/>
          </a:p>
        </p:txBody>
      </p:sp>
      <p:sp>
        <p:nvSpPr>
          <p:cNvPr id="10" name="Text 7"/>
          <p:cNvSpPr txBox="1"/>
          <p:nvPr/>
        </p:nvSpPr>
        <p:spPr>
          <a:xfrm>
            <a:off x="822960" y="1664208"/>
            <a:ext cx="3931920" cy="384048"/>
          </a:xfrm>
          <a:prstGeom prst="rect">
            <a:avLst/>
          </a:prstGeom>
          <a:noFill/>
          <a:ln/>
        </p:spPr>
        <p:txBody>
          <a:bodyPr wrap="square" lIns="0" tIns="0" rIns="0" bIns="0" rtlCol="0" anchor="ctr"/>
          <a:lstStyle/>
          <a:p>
            <a:pPr marL="0" indent="0" algn="ctr">
              <a:buNone/>
            </a:pPr>
            <a:r>
              <a:rPr lang="en-US" sz="1800" b="1" dirty="0">
                <a:solidFill>
                  <a:schemeClr val="accent3"/>
                </a:solidFill>
                <a:latin typeface="Arial" pitchFamily="34" charset="0"/>
                <a:ea typeface="Arial" pitchFamily="34" charset="-122"/>
                <a:cs typeface="Arial" pitchFamily="34" charset="-120"/>
              </a:rPr>
              <a:t>SHORT LEG: OVERPRICING</a:t>
            </a:r>
            <a:endParaRPr lang="en-US" sz="1800" dirty="0"/>
          </a:p>
        </p:txBody>
      </p:sp>
      <p:sp>
        <p:nvSpPr>
          <p:cNvPr id="11" name="Shape 8"/>
          <p:cNvSpPr/>
          <p:nvPr/>
        </p:nvSpPr>
        <p:spPr>
          <a:xfrm>
            <a:off x="822960" y="2194560"/>
            <a:ext cx="3931920" cy="1051560"/>
          </a:xfrm>
          <a:prstGeom prst="rect">
            <a:avLst/>
          </a:prstGeom>
          <a:solidFill>
            <a:schemeClr val="bg2"/>
          </a:solidFill>
          <a:ln w="15240">
            <a:solidFill>
              <a:schemeClr val="accent3"/>
            </a:solidFill>
            <a:prstDash val="solid"/>
          </a:ln>
        </p:spPr>
      </p:sp>
      <p:sp>
        <p:nvSpPr>
          <p:cNvPr id="12" name="Text 9"/>
          <p:cNvSpPr txBox="1"/>
          <p:nvPr/>
        </p:nvSpPr>
        <p:spPr>
          <a:xfrm>
            <a:off x="932688" y="2267712"/>
            <a:ext cx="3712464" cy="905256"/>
          </a:xfrm>
          <a:prstGeom prst="rect">
            <a:avLst/>
          </a:prstGeom>
          <a:noFill/>
          <a:ln/>
        </p:spPr>
        <p:txBody>
          <a:bodyPr wrap="square" lIns="0" tIns="0" rIns="0" bIns="0" rtlCol="0" anchor="ctr"/>
          <a:lstStyle/>
          <a:p>
            <a:pPr marL="0" indent="0" algn="ctr">
              <a:buNone/>
            </a:pPr>
            <a:r>
              <a:rPr lang="en-US" sz="2000" dirty="0">
                <a:solidFill>
                  <a:schemeClr val="tx1"/>
                </a:solidFill>
                <a:latin typeface="Arial" pitchFamily="34" charset="0"/>
                <a:ea typeface="Arial" pitchFamily="34" charset="-122"/>
                <a:cs typeface="Arial" pitchFamily="34" charset="-120"/>
              </a:rPr>
              <a:t>Overpricing shock</a:t>
            </a:r>
            <a:endParaRPr lang="en-US" sz="2000" dirty="0"/>
          </a:p>
        </p:txBody>
      </p:sp>
      <p:sp>
        <p:nvSpPr>
          <p:cNvPr id="13" name="Shape 10"/>
          <p:cNvSpPr/>
          <p:nvPr/>
        </p:nvSpPr>
        <p:spPr>
          <a:xfrm>
            <a:off x="2788920" y="3383280"/>
            <a:ext cx="0" cy="502920"/>
          </a:xfrm>
          <a:prstGeom prst="line">
            <a:avLst/>
          </a:prstGeom>
          <a:noFill/>
          <a:ln w="27940">
            <a:solidFill>
              <a:schemeClr val="accent3"/>
            </a:solidFill>
            <a:prstDash val="solid"/>
            <a:tailEnd type="triangle"/>
          </a:ln>
        </p:spPr>
      </p:sp>
      <p:sp>
        <p:nvSpPr>
          <p:cNvPr id="14" name="Shape 11"/>
          <p:cNvSpPr/>
          <p:nvPr/>
        </p:nvSpPr>
        <p:spPr>
          <a:xfrm>
            <a:off x="822960" y="3977640"/>
            <a:ext cx="3931920" cy="960120"/>
          </a:xfrm>
          <a:prstGeom prst="rect">
            <a:avLst/>
          </a:prstGeom>
          <a:solidFill>
            <a:schemeClr val="bg2"/>
          </a:solidFill>
          <a:ln w="15240">
            <a:solidFill>
              <a:schemeClr val="accent3"/>
            </a:solidFill>
            <a:prstDash val="solid"/>
          </a:ln>
        </p:spPr>
      </p:sp>
      <p:sp>
        <p:nvSpPr>
          <p:cNvPr id="15" name="Text 12"/>
          <p:cNvSpPr txBox="1"/>
          <p:nvPr/>
        </p:nvSpPr>
        <p:spPr>
          <a:xfrm>
            <a:off x="932688" y="4050792"/>
            <a:ext cx="3712464" cy="813816"/>
          </a:xfrm>
          <a:prstGeom prst="rect">
            <a:avLst/>
          </a:prstGeom>
          <a:noFill/>
          <a:ln/>
        </p:spPr>
        <p:txBody>
          <a:bodyPr wrap="square" lIns="0" tIns="0" rIns="0" bIns="0" rtlCol="0" anchor="ctr"/>
          <a:lstStyle/>
          <a:p>
            <a:pPr marL="0" indent="0" algn="ctr">
              <a:buNone/>
            </a:pPr>
            <a:r>
              <a:rPr lang="en-US" sz="1900" dirty="0">
                <a:solidFill>
                  <a:schemeClr val="tx1"/>
                </a:solidFill>
                <a:latin typeface="Arial" pitchFamily="34" charset="0"/>
                <a:ea typeface="Arial" pitchFamily="34" charset="-122"/>
                <a:cs typeface="Arial" pitchFamily="34" charset="-120"/>
              </a:rPr>
              <a:t>Slow correction</a:t>
            </a:r>
            <a:endParaRPr lang="en-US" sz="1900" dirty="0"/>
          </a:p>
          <a:p>
            <a:pPr marL="0" indent="0" algn="ctr">
              <a:buNone/>
            </a:pPr>
            <a:r>
              <a:rPr lang="en-US" sz="1900" dirty="0">
                <a:solidFill>
                  <a:schemeClr val="tx1"/>
                </a:solidFill>
                <a:latin typeface="Arial" pitchFamily="34" charset="0"/>
                <a:ea typeface="Arial" pitchFamily="34" charset="-122"/>
                <a:cs typeface="Arial" pitchFamily="34" charset="-120"/>
              </a:rPr>
              <a:t>(short-leg return)</a:t>
            </a:r>
            <a:endParaRPr lang="en-US" sz="1900" dirty="0"/>
          </a:p>
        </p:txBody>
      </p:sp>
      <p:sp>
        <p:nvSpPr>
          <p:cNvPr id="16" name="Text 13"/>
          <p:cNvSpPr txBox="1"/>
          <p:nvPr/>
        </p:nvSpPr>
        <p:spPr>
          <a:xfrm>
            <a:off x="5486400" y="1664208"/>
            <a:ext cx="5029200" cy="384048"/>
          </a:xfrm>
          <a:prstGeom prst="rect">
            <a:avLst/>
          </a:prstGeom>
          <a:noFill/>
          <a:ln/>
        </p:spPr>
        <p:txBody>
          <a:bodyPr wrap="square" lIns="0" tIns="0" rIns="0" bIns="0" rtlCol="0" anchor="ctr"/>
          <a:lstStyle/>
          <a:p>
            <a:pPr marL="0" indent="0" algn="ctr">
              <a:buNone/>
            </a:pPr>
            <a:r>
              <a:rPr lang="en-US" sz="1800" b="1" dirty="0">
                <a:solidFill>
                  <a:schemeClr val="accent1"/>
                </a:solidFill>
                <a:latin typeface="Arial" pitchFamily="34" charset="0"/>
                <a:ea typeface="Arial" pitchFamily="34" charset="-122"/>
                <a:cs typeface="Arial" pitchFamily="34" charset="-120"/>
              </a:rPr>
              <a:t>LONG-SHORT SIGNAL</a:t>
            </a:r>
            <a:endParaRPr lang="en-US" sz="1800" dirty="0"/>
          </a:p>
        </p:txBody>
      </p:sp>
      <p:sp>
        <p:nvSpPr>
          <p:cNvPr id="17" name="Text 14"/>
          <p:cNvSpPr txBox="1"/>
          <p:nvPr/>
        </p:nvSpPr>
        <p:spPr>
          <a:xfrm>
            <a:off x="5486400" y="2267712"/>
            <a:ext cx="5029200" cy="658368"/>
          </a:xfrm>
          <a:prstGeom prst="rect">
            <a:avLst/>
          </a:prstGeom>
          <a:noFill/>
          <a:ln/>
        </p:spPr>
        <p:txBody>
          <a:bodyPr wrap="square" lIns="0" tIns="0" rIns="0" bIns="0" rtlCol="0" anchor="ctr"/>
          <a:lstStyle/>
          <a:p>
            <a:pPr marL="0" indent="0" algn="ctr">
              <a:buNone/>
            </a:pPr>
            <a:r>
              <a:rPr lang="en-US" sz="3000" b="1" dirty="0">
                <a:solidFill>
                  <a:schemeClr val="tx1"/>
                </a:solidFill>
                <a:latin typeface="Arial" pitchFamily="34" charset="0"/>
                <a:ea typeface="Arial" pitchFamily="34" charset="-122"/>
                <a:cs typeface="Arial" pitchFamily="34" charset="-120"/>
              </a:rPr>
              <a:t>r</a:t>
            </a:r>
            <a:r>
              <a:rPr lang="en-US" sz="3000" b="1" baseline="-25000" dirty="0">
                <a:solidFill>
                  <a:schemeClr val="tx1"/>
                </a:solidFill>
                <a:latin typeface="Arial" pitchFamily="34" charset="0"/>
                <a:ea typeface="Arial" pitchFamily="34" charset="-122"/>
                <a:cs typeface="Arial" pitchFamily="34" charset="-120"/>
              </a:rPr>
              <a:t>LS,t</a:t>
            </a:r>
            <a:r>
              <a:rPr lang="en-US" sz="3000" b="1" dirty="0">
                <a:solidFill>
                  <a:schemeClr val="tx1"/>
                </a:solidFill>
                <a:latin typeface="Arial" pitchFamily="34" charset="0"/>
                <a:ea typeface="Arial" pitchFamily="34" charset="-122"/>
                <a:cs typeface="Arial" pitchFamily="34" charset="-120"/>
              </a:rPr>
              <a:t> = r</a:t>
            </a:r>
            <a:r>
              <a:rPr lang="en-US" sz="3000" b="1" baseline="-25000" dirty="0">
                <a:solidFill>
                  <a:schemeClr val="tx1"/>
                </a:solidFill>
                <a:latin typeface="Arial" pitchFamily="34" charset="0"/>
                <a:ea typeface="Arial" pitchFamily="34" charset="-122"/>
                <a:cs typeface="Arial" pitchFamily="34" charset="-120"/>
              </a:rPr>
              <a:t>L,t</a:t>
            </a:r>
            <a:r>
              <a:rPr lang="en-US" sz="3000" b="1" dirty="0">
                <a:solidFill>
                  <a:schemeClr val="tx1"/>
                </a:solidFill>
                <a:latin typeface="Arial" pitchFamily="34" charset="0"/>
                <a:ea typeface="Arial" pitchFamily="34" charset="-122"/>
                <a:cs typeface="Arial" pitchFamily="34" charset="-120"/>
              </a:rPr>
              <a:t> - r</a:t>
            </a:r>
            <a:r>
              <a:rPr lang="en-US" sz="3000" b="1" baseline="-25000" dirty="0">
                <a:solidFill>
                  <a:schemeClr val="tx1"/>
                </a:solidFill>
                <a:latin typeface="Arial" pitchFamily="34" charset="0"/>
                <a:ea typeface="Arial" pitchFamily="34" charset="-122"/>
                <a:cs typeface="Arial" pitchFamily="34" charset="-120"/>
              </a:rPr>
              <a:t>S,t</a:t>
            </a:r>
            <a:endParaRPr lang="en-US" sz="3000" baseline="-25000" dirty="0"/>
          </a:p>
        </p:txBody>
      </p:sp>
      <p:sp>
        <p:nvSpPr>
          <p:cNvPr id="18" name="Shape 15"/>
          <p:cNvSpPr/>
          <p:nvPr/>
        </p:nvSpPr>
        <p:spPr>
          <a:xfrm>
            <a:off x="8001000" y="3154680"/>
            <a:ext cx="0" cy="502920"/>
          </a:xfrm>
          <a:prstGeom prst="line">
            <a:avLst/>
          </a:prstGeom>
          <a:noFill/>
          <a:ln w="27940">
            <a:solidFill>
              <a:schemeClr val="accent2"/>
            </a:solidFill>
            <a:prstDash val="solid"/>
            <a:tailEnd type="triangle"/>
          </a:ln>
        </p:spPr>
      </p:sp>
      <p:sp>
        <p:nvSpPr>
          <p:cNvPr id="19" name="Text 16"/>
          <p:cNvSpPr txBox="1"/>
          <p:nvPr/>
        </p:nvSpPr>
        <p:spPr>
          <a:xfrm>
            <a:off x="5486400" y="3794760"/>
            <a:ext cx="5029200" cy="914400"/>
          </a:xfrm>
          <a:prstGeom prst="rect">
            <a:avLst/>
          </a:prstGeom>
          <a:noFill/>
          <a:ln/>
        </p:spPr>
        <p:txBody>
          <a:bodyPr wrap="square" lIns="0" tIns="0" rIns="0" bIns="0" rtlCol="0" anchor="ctr"/>
          <a:lstStyle/>
          <a:p>
            <a:pPr marL="0" indent="0" algn="ctr">
              <a:buNone/>
            </a:pPr>
            <a:r>
              <a:rPr lang="en-US" sz="2100" b="1" dirty="0">
                <a:solidFill>
                  <a:schemeClr val="accent3"/>
                </a:solidFill>
                <a:latin typeface="Arial" pitchFamily="34" charset="0"/>
                <a:ea typeface="Arial" pitchFamily="34" charset="-122"/>
                <a:cs typeface="Arial" pitchFamily="34" charset="-120"/>
              </a:rPr>
              <a:t>Higher anomaly spread today</a:t>
            </a:r>
            <a:endParaRPr lang="en-US" sz="2100" dirty="0"/>
          </a:p>
          <a:p>
            <a:pPr marL="0" indent="0" algn="ctr">
              <a:buNone/>
            </a:pPr>
            <a:r>
              <a:rPr lang="en-US" sz="2100" b="1" dirty="0">
                <a:solidFill>
                  <a:schemeClr val="accent3"/>
                </a:solidFill>
                <a:latin typeface="Arial" pitchFamily="34" charset="0"/>
                <a:ea typeface="Arial" pitchFamily="34" charset="-122"/>
                <a:cs typeface="Arial" pitchFamily="34" charset="-120"/>
              </a:rPr>
              <a:t>-&gt; lower expected market return next month</a:t>
            </a:r>
            <a:endParaRPr lang="en-US" sz="2100" dirty="0"/>
          </a:p>
        </p:txBody>
      </p:sp>
      <p:sp>
        <p:nvSpPr>
          <p:cNvPr id="20" name="Text 17"/>
          <p:cNvSpPr txBox="1"/>
          <p:nvPr/>
        </p:nvSpPr>
        <p:spPr>
          <a:xfrm>
            <a:off x="1143000" y="5349240"/>
            <a:ext cx="9875520" cy="411480"/>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Core asymmetry: correction persistence is stronger for overpricing than underpricing.</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The sample combines 100 anomaly portfolios with the CRSP market premium</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III</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5</a:t>
            </a:r>
            <a:endParaRPr lang="en-US" sz="1100" dirty="0"/>
          </a:p>
        </p:txBody>
      </p:sp>
      <p:sp>
        <p:nvSpPr>
          <p:cNvPr id="10" name="Shape 7"/>
          <p:cNvSpPr/>
          <p:nvPr/>
        </p:nvSpPr>
        <p:spPr>
          <a:xfrm>
            <a:off x="713232" y="1627632"/>
            <a:ext cx="3429000" cy="1417320"/>
          </a:xfrm>
          <a:prstGeom prst="rect">
            <a:avLst/>
          </a:prstGeom>
          <a:solidFill>
            <a:schemeClr val="bg2"/>
          </a:solidFill>
          <a:ln w="15240">
            <a:solidFill>
              <a:schemeClr val="accent2"/>
            </a:solidFill>
            <a:prstDash val="solid"/>
          </a:ln>
        </p:spPr>
      </p:sp>
      <p:sp>
        <p:nvSpPr>
          <p:cNvPr id="11" name="Text 8"/>
          <p:cNvSpPr txBox="1"/>
          <p:nvPr/>
        </p:nvSpPr>
        <p:spPr>
          <a:xfrm>
            <a:off x="822960" y="1700784"/>
            <a:ext cx="3209544" cy="127101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CRSP</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Prices, returns, shares,</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market equity, risk-free rate</a:t>
            </a:r>
            <a:endParaRPr lang="en-US" sz="1800" dirty="0"/>
          </a:p>
        </p:txBody>
      </p:sp>
      <p:sp>
        <p:nvSpPr>
          <p:cNvPr id="12" name="Shape 9"/>
          <p:cNvSpPr/>
          <p:nvPr/>
        </p:nvSpPr>
        <p:spPr>
          <a:xfrm>
            <a:off x="4572000" y="1627632"/>
            <a:ext cx="3429000" cy="1417320"/>
          </a:xfrm>
          <a:prstGeom prst="rect">
            <a:avLst/>
          </a:prstGeom>
          <a:solidFill>
            <a:schemeClr val="bg2"/>
          </a:solidFill>
          <a:ln w="15240">
            <a:solidFill>
              <a:schemeClr val="accent2"/>
            </a:solidFill>
            <a:prstDash val="solid"/>
          </a:ln>
        </p:spPr>
      </p:sp>
      <p:sp>
        <p:nvSpPr>
          <p:cNvPr id="13" name="Text 10"/>
          <p:cNvSpPr txBox="1"/>
          <p:nvPr/>
        </p:nvSpPr>
        <p:spPr>
          <a:xfrm>
            <a:off x="4681728" y="1700784"/>
            <a:ext cx="3209544" cy="127101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Compustat</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Annual and quarterly</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accounting characteristics</a:t>
            </a:r>
            <a:endParaRPr lang="en-US" sz="1800" dirty="0"/>
          </a:p>
        </p:txBody>
      </p:sp>
      <p:sp>
        <p:nvSpPr>
          <p:cNvPr id="14" name="Shape 11"/>
          <p:cNvSpPr/>
          <p:nvPr/>
        </p:nvSpPr>
        <p:spPr>
          <a:xfrm>
            <a:off x="8430768" y="1627632"/>
            <a:ext cx="3429000" cy="1417320"/>
          </a:xfrm>
          <a:prstGeom prst="rect">
            <a:avLst/>
          </a:prstGeom>
          <a:solidFill>
            <a:schemeClr val="bg2"/>
          </a:solidFill>
          <a:ln w="15240">
            <a:solidFill>
              <a:schemeClr val="accent2"/>
            </a:solidFill>
            <a:prstDash val="solid"/>
          </a:ln>
        </p:spPr>
      </p:sp>
      <p:sp>
        <p:nvSpPr>
          <p:cNvPr id="15" name="Text 12"/>
          <p:cNvSpPr txBox="1"/>
          <p:nvPr/>
        </p:nvSpPr>
        <p:spPr>
          <a:xfrm>
            <a:off x="8540496" y="1700784"/>
            <a:ext cx="3209544" cy="127101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I/B/E/S</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Analyst forecasts and</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forecast-based signals</a:t>
            </a:r>
            <a:endParaRPr lang="en-US" sz="1800" dirty="0"/>
          </a:p>
        </p:txBody>
      </p:sp>
      <p:sp>
        <p:nvSpPr>
          <p:cNvPr id="16" name="Text 13"/>
          <p:cNvSpPr txBox="1"/>
          <p:nvPr/>
        </p:nvSpPr>
        <p:spPr>
          <a:xfrm>
            <a:off x="914400" y="3703320"/>
            <a:ext cx="1417320" cy="685800"/>
          </a:xfrm>
          <a:prstGeom prst="rect">
            <a:avLst/>
          </a:prstGeom>
          <a:noFill/>
          <a:ln/>
        </p:spPr>
        <p:txBody>
          <a:bodyPr wrap="square" lIns="0" tIns="0" rIns="0" bIns="0" rtlCol="0" anchor="ctr"/>
          <a:lstStyle/>
          <a:p>
            <a:pPr marL="0" indent="0" algn="ctr">
              <a:buNone/>
            </a:pPr>
            <a:r>
              <a:rPr lang="en-US" sz="4200" b="1" dirty="0">
                <a:solidFill>
                  <a:schemeClr val="accent2"/>
                </a:solidFill>
                <a:latin typeface="Arial" pitchFamily="34" charset="0"/>
                <a:ea typeface="Arial" pitchFamily="34" charset="-122"/>
                <a:cs typeface="Arial" pitchFamily="34" charset="-120"/>
              </a:rPr>
              <a:t>100</a:t>
            </a:r>
            <a:endParaRPr lang="en-US" sz="4200" dirty="0"/>
          </a:p>
        </p:txBody>
      </p:sp>
      <p:sp>
        <p:nvSpPr>
          <p:cNvPr id="17" name="Text 14"/>
          <p:cNvSpPr txBox="1"/>
          <p:nvPr/>
        </p:nvSpPr>
        <p:spPr>
          <a:xfrm>
            <a:off x="2423160" y="3813048"/>
            <a:ext cx="3337560" cy="457200"/>
          </a:xfrm>
          <a:prstGeom prst="rect">
            <a:avLst/>
          </a:prstGeom>
          <a:noFill/>
          <a:ln/>
        </p:spPr>
        <p:txBody>
          <a:bodyPr wrap="square" lIns="0" tIns="0" rIns="0" bIns="0" rtlCol="0" anchor="ctr"/>
          <a:lstStyle/>
          <a:p>
            <a:pPr marL="0" indent="0">
              <a:buNone/>
            </a:pPr>
            <a:r>
              <a:rPr lang="en-US" sz="1900" dirty="0">
                <a:solidFill>
                  <a:schemeClr val="tx1"/>
                </a:solidFill>
                <a:latin typeface="Arial" pitchFamily="34" charset="0"/>
                <a:ea typeface="Arial" pitchFamily="34" charset="-122"/>
                <a:cs typeface="Arial" pitchFamily="34" charset="-120"/>
              </a:rPr>
              <a:t>representative anomaly portfolios</a:t>
            </a:r>
            <a:endParaRPr lang="en-US" sz="1900" dirty="0"/>
          </a:p>
        </p:txBody>
      </p:sp>
      <p:sp>
        <p:nvSpPr>
          <p:cNvPr id="18" name="Text 15"/>
          <p:cNvSpPr txBox="1"/>
          <p:nvPr/>
        </p:nvSpPr>
        <p:spPr>
          <a:xfrm>
            <a:off x="6400799" y="3703320"/>
            <a:ext cx="3747247" cy="685800"/>
          </a:xfrm>
          <a:prstGeom prst="rect">
            <a:avLst/>
          </a:prstGeom>
          <a:noFill/>
          <a:ln/>
        </p:spPr>
        <p:txBody>
          <a:bodyPr wrap="square" lIns="0" tIns="0" rIns="0" bIns="0" rtlCol="0" anchor="ctr"/>
          <a:lstStyle/>
          <a:p>
            <a:pPr marL="0" indent="0" algn="ctr">
              <a:buNone/>
            </a:pPr>
            <a:r>
              <a:rPr lang="en-US" sz="3000" b="1" dirty="0">
                <a:solidFill>
                  <a:schemeClr val="accent1"/>
                </a:solidFill>
                <a:latin typeface="Arial" pitchFamily="34" charset="0"/>
                <a:ea typeface="Arial" pitchFamily="34" charset="-122"/>
                <a:cs typeface="Arial" pitchFamily="34" charset="-120"/>
              </a:rPr>
              <a:t>1970:01 - 2017:12</a:t>
            </a:r>
            <a:endParaRPr lang="en-US" sz="3000" dirty="0"/>
          </a:p>
        </p:txBody>
      </p:sp>
      <p:sp>
        <p:nvSpPr>
          <p:cNvPr id="19" name="Text 16"/>
          <p:cNvSpPr txBox="1"/>
          <p:nvPr/>
        </p:nvSpPr>
        <p:spPr>
          <a:xfrm>
            <a:off x="6400800" y="4462272"/>
            <a:ext cx="3886200" cy="438912"/>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U.S. common stocks; price screen: $5 minimum</a:t>
            </a:r>
            <a:endParaRPr lang="en-US" sz="1800" dirty="0"/>
          </a:p>
        </p:txBody>
      </p:sp>
      <p:sp>
        <p:nvSpPr>
          <p:cNvPr id="20" name="Text 17"/>
          <p:cNvSpPr txBox="1"/>
          <p:nvPr/>
        </p:nvSpPr>
        <p:spPr>
          <a:xfrm>
            <a:off x="896112" y="5285232"/>
            <a:ext cx="10332720" cy="438912"/>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Replication inputs: monthly market excess return + long-short / long / short anomaly-return panels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Each characteristic becomes a monthly value-weighted long-short portfolio</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III and Internet Appendix, Table IA.I</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6</a:t>
            </a:r>
            <a:endParaRPr lang="en-US" sz="1100" dirty="0"/>
          </a:p>
        </p:txBody>
      </p:sp>
      <p:sp>
        <p:nvSpPr>
          <p:cNvPr id="10" name="Shape 7"/>
          <p:cNvSpPr/>
          <p:nvPr/>
        </p:nvSpPr>
        <p:spPr>
          <a:xfrm>
            <a:off x="566928" y="1828800"/>
            <a:ext cx="2057400" cy="1508760"/>
          </a:xfrm>
          <a:prstGeom prst="rect">
            <a:avLst/>
          </a:prstGeom>
          <a:solidFill>
            <a:schemeClr val="bg2"/>
          </a:solidFill>
          <a:ln w="15240">
            <a:solidFill>
              <a:schemeClr val="accent2"/>
            </a:solidFill>
            <a:prstDash val="solid"/>
          </a:ln>
        </p:spPr>
      </p:sp>
      <p:sp>
        <p:nvSpPr>
          <p:cNvPr id="11" name="Text 8"/>
          <p:cNvSpPr txBox="1"/>
          <p:nvPr/>
        </p:nvSpPr>
        <p:spPr>
          <a:xfrm>
            <a:off x="676656" y="1901952"/>
            <a:ext cx="1837944" cy="1362456"/>
          </a:xfrm>
          <a:prstGeom prst="rect">
            <a:avLst/>
          </a:prstGeom>
          <a:noFill/>
          <a:ln/>
        </p:spPr>
        <p:txBody>
          <a:bodyPr wrap="square" lIns="0" tIns="0" rIns="0" bIns="0" rtlCol="0" anchor="ctr"/>
          <a:lstStyle/>
          <a:p>
            <a:pPr marL="0" indent="0" algn="ctr">
              <a:buNone/>
            </a:pPr>
            <a:r>
              <a:rPr lang="en-US" sz="1700" dirty="0">
                <a:solidFill>
                  <a:schemeClr val="tx1"/>
                </a:solidFill>
                <a:latin typeface="Arial" pitchFamily="34" charset="0"/>
                <a:ea typeface="Arial" pitchFamily="34" charset="-122"/>
                <a:cs typeface="Arial" pitchFamily="34" charset="-120"/>
              </a:rPr>
              <a:t>1</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Observe signal</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using public data</a:t>
            </a:r>
            <a:endParaRPr lang="en-US" sz="1700" dirty="0"/>
          </a:p>
        </p:txBody>
      </p:sp>
      <p:sp>
        <p:nvSpPr>
          <p:cNvPr id="12" name="Shape 9"/>
          <p:cNvSpPr/>
          <p:nvPr/>
        </p:nvSpPr>
        <p:spPr>
          <a:xfrm>
            <a:off x="2651760" y="2587752"/>
            <a:ext cx="210312" cy="0"/>
          </a:xfrm>
          <a:prstGeom prst="line">
            <a:avLst/>
          </a:prstGeom>
          <a:noFill/>
          <a:ln w="22860">
            <a:solidFill>
              <a:schemeClr val="accent2"/>
            </a:solidFill>
            <a:prstDash val="solid"/>
            <a:tailEnd type="triangle"/>
          </a:ln>
        </p:spPr>
      </p:sp>
      <p:sp>
        <p:nvSpPr>
          <p:cNvPr id="13" name="Shape 10"/>
          <p:cNvSpPr/>
          <p:nvPr/>
        </p:nvSpPr>
        <p:spPr>
          <a:xfrm>
            <a:off x="2926080" y="1828800"/>
            <a:ext cx="2057400" cy="1508760"/>
          </a:xfrm>
          <a:prstGeom prst="rect">
            <a:avLst/>
          </a:prstGeom>
          <a:solidFill>
            <a:schemeClr val="bg2"/>
          </a:solidFill>
          <a:ln w="15240">
            <a:solidFill>
              <a:schemeClr val="accent2"/>
            </a:solidFill>
            <a:prstDash val="solid"/>
          </a:ln>
        </p:spPr>
      </p:sp>
      <p:sp>
        <p:nvSpPr>
          <p:cNvPr id="14" name="Text 11"/>
          <p:cNvSpPr txBox="1"/>
          <p:nvPr/>
        </p:nvSpPr>
        <p:spPr>
          <a:xfrm>
            <a:off x="3035808" y="1901952"/>
            <a:ext cx="1837944" cy="1362456"/>
          </a:xfrm>
          <a:prstGeom prst="rect">
            <a:avLst/>
          </a:prstGeom>
          <a:noFill/>
          <a:ln/>
        </p:spPr>
        <p:txBody>
          <a:bodyPr wrap="square" lIns="0" tIns="0" rIns="0" bIns="0" rtlCol="0" anchor="ctr"/>
          <a:lstStyle/>
          <a:p>
            <a:pPr marL="0" indent="0" algn="ctr">
              <a:buNone/>
            </a:pPr>
            <a:r>
              <a:rPr lang="en-US" sz="1700" dirty="0">
                <a:solidFill>
                  <a:schemeClr val="tx1"/>
                </a:solidFill>
                <a:latin typeface="Arial" pitchFamily="34" charset="0"/>
                <a:ea typeface="Arial" pitchFamily="34" charset="-122"/>
                <a:cs typeface="Arial" pitchFamily="34" charset="-120"/>
              </a:rPr>
              <a:t>2</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Apply stock universe</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and $5 price screen</a:t>
            </a:r>
            <a:endParaRPr lang="en-US" sz="1700" dirty="0"/>
          </a:p>
        </p:txBody>
      </p:sp>
      <p:sp>
        <p:nvSpPr>
          <p:cNvPr id="15" name="Shape 12"/>
          <p:cNvSpPr/>
          <p:nvPr/>
        </p:nvSpPr>
        <p:spPr>
          <a:xfrm>
            <a:off x="5010912" y="2587752"/>
            <a:ext cx="210312" cy="0"/>
          </a:xfrm>
          <a:prstGeom prst="line">
            <a:avLst/>
          </a:prstGeom>
          <a:noFill/>
          <a:ln w="22860">
            <a:solidFill>
              <a:schemeClr val="accent2"/>
            </a:solidFill>
            <a:prstDash val="solid"/>
            <a:tailEnd type="triangle"/>
          </a:ln>
        </p:spPr>
      </p:sp>
      <p:sp>
        <p:nvSpPr>
          <p:cNvPr id="16" name="Shape 13"/>
          <p:cNvSpPr/>
          <p:nvPr/>
        </p:nvSpPr>
        <p:spPr>
          <a:xfrm>
            <a:off x="5285232" y="1828800"/>
            <a:ext cx="2057400" cy="1508760"/>
          </a:xfrm>
          <a:prstGeom prst="rect">
            <a:avLst/>
          </a:prstGeom>
          <a:solidFill>
            <a:schemeClr val="bg2"/>
          </a:solidFill>
          <a:ln w="15240">
            <a:solidFill>
              <a:schemeClr val="accent2"/>
            </a:solidFill>
            <a:prstDash val="solid"/>
          </a:ln>
        </p:spPr>
      </p:sp>
      <p:sp>
        <p:nvSpPr>
          <p:cNvPr id="17" name="Text 14"/>
          <p:cNvSpPr txBox="1"/>
          <p:nvPr/>
        </p:nvSpPr>
        <p:spPr>
          <a:xfrm>
            <a:off x="5394960" y="1901952"/>
            <a:ext cx="1837944" cy="1362456"/>
          </a:xfrm>
          <a:prstGeom prst="rect">
            <a:avLst/>
          </a:prstGeom>
          <a:noFill/>
          <a:ln/>
        </p:spPr>
        <p:txBody>
          <a:bodyPr wrap="square" lIns="0" tIns="0" rIns="0" bIns="0" rtlCol="0" anchor="ctr"/>
          <a:lstStyle/>
          <a:p>
            <a:pPr marL="0" indent="0" algn="ctr">
              <a:buNone/>
            </a:pPr>
            <a:r>
              <a:rPr lang="en-US" sz="1700" dirty="0">
                <a:solidFill>
                  <a:schemeClr val="tx1"/>
                </a:solidFill>
                <a:latin typeface="Arial" pitchFamily="34" charset="0"/>
                <a:ea typeface="Arial" pitchFamily="34" charset="-122"/>
                <a:cs typeface="Arial" pitchFamily="34" charset="-120"/>
              </a:rPr>
              <a:t>3</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Rank stocks</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into 10 deciles</a:t>
            </a:r>
            <a:endParaRPr lang="en-US" sz="1700" dirty="0"/>
          </a:p>
        </p:txBody>
      </p:sp>
      <p:sp>
        <p:nvSpPr>
          <p:cNvPr id="18" name="Shape 15"/>
          <p:cNvSpPr/>
          <p:nvPr/>
        </p:nvSpPr>
        <p:spPr>
          <a:xfrm>
            <a:off x="7370064" y="2587752"/>
            <a:ext cx="210312" cy="0"/>
          </a:xfrm>
          <a:prstGeom prst="line">
            <a:avLst/>
          </a:prstGeom>
          <a:noFill/>
          <a:ln w="22860">
            <a:solidFill>
              <a:schemeClr val="accent2"/>
            </a:solidFill>
            <a:prstDash val="solid"/>
            <a:tailEnd type="triangle"/>
          </a:ln>
        </p:spPr>
      </p:sp>
      <p:sp>
        <p:nvSpPr>
          <p:cNvPr id="19" name="Shape 16"/>
          <p:cNvSpPr/>
          <p:nvPr/>
        </p:nvSpPr>
        <p:spPr>
          <a:xfrm>
            <a:off x="7644384" y="1828800"/>
            <a:ext cx="2057400" cy="1508760"/>
          </a:xfrm>
          <a:prstGeom prst="rect">
            <a:avLst/>
          </a:prstGeom>
          <a:solidFill>
            <a:schemeClr val="bg2"/>
          </a:solidFill>
          <a:ln w="15240">
            <a:solidFill>
              <a:schemeClr val="accent2"/>
            </a:solidFill>
            <a:prstDash val="solid"/>
          </a:ln>
        </p:spPr>
      </p:sp>
      <p:sp>
        <p:nvSpPr>
          <p:cNvPr id="20" name="Text 17"/>
          <p:cNvSpPr txBox="1"/>
          <p:nvPr/>
        </p:nvSpPr>
        <p:spPr>
          <a:xfrm>
            <a:off x="7754112" y="1901952"/>
            <a:ext cx="1837944" cy="1362456"/>
          </a:xfrm>
          <a:prstGeom prst="rect">
            <a:avLst/>
          </a:prstGeom>
          <a:noFill/>
          <a:ln/>
        </p:spPr>
        <p:txBody>
          <a:bodyPr wrap="square" lIns="0" tIns="0" rIns="0" bIns="0" rtlCol="0" anchor="ctr"/>
          <a:lstStyle/>
          <a:p>
            <a:pPr marL="0" indent="0" algn="ctr">
              <a:buNone/>
            </a:pPr>
            <a:r>
              <a:rPr lang="en-US" sz="1700" dirty="0">
                <a:solidFill>
                  <a:schemeClr val="tx1"/>
                </a:solidFill>
                <a:latin typeface="Arial" pitchFamily="34" charset="0"/>
                <a:ea typeface="Arial" pitchFamily="34" charset="-122"/>
                <a:cs typeface="Arial" pitchFamily="34" charset="-120"/>
              </a:rPr>
              <a:t>4</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Compute value-weighted</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leg returns</a:t>
            </a:r>
            <a:endParaRPr lang="en-US" sz="1700" dirty="0"/>
          </a:p>
        </p:txBody>
      </p:sp>
      <p:sp>
        <p:nvSpPr>
          <p:cNvPr id="21" name="Shape 18"/>
          <p:cNvSpPr/>
          <p:nvPr/>
        </p:nvSpPr>
        <p:spPr>
          <a:xfrm>
            <a:off x="9729216" y="2587752"/>
            <a:ext cx="210312" cy="0"/>
          </a:xfrm>
          <a:prstGeom prst="line">
            <a:avLst/>
          </a:prstGeom>
          <a:noFill/>
          <a:ln w="22860">
            <a:solidFill>
              <a:schemeClr val="accent2"/>
            </a:solidFill>
            <a:prstDash val="solid"/>
            <a:tailEnd type="triangle"/>
          </a:ln>
        </p:spPr>
      </p:sp>
      <p:sp>
        <p:nvSpPr>
          <p:cNvPr id="22" name="Shape 19"/>
          <p:cNvSpPr/>
          <p:nvPr/>
        </p:nvSpPr>
        <p:spPr>
          <a:xfrm>
            <a:off x="10003536" y="1828800"/>
            <a:ext cx="2057400" cy="1508760"/>
          </a:xfrm>
          <a:prstGeom prst="rect">
            <a:avLst/>
          </a:prstGeom>
          <a:solidFill>
            <a:schemeClr val="bg2"/>
          </a:solidFill>
          <a:ln w="15240">
            <a:solidFill>
              <a:schemeClr val="accent2"/>
            </a:solidFill>
            <a:prstDash val="solid"/>
          </a:ln>
        </p:spPr>
      </p:sp>
      <p:sp>
        <p:nvSpPr>
          <p:cNvPr id="23" name="Text 20"/>
          <p:cNvSpPr txBox="1"/>
          <p:nvPr/>
        </p:nvSpPr>
        <p:spPr>
          <a:xfrm>
            <a:off x="10113264" y="1901952"/>
            <a:ext cx="1837944" cy="1362456"/>
          </a:xfrm>
          <a:prstGeom prst="rect">
            <a:avLst/>
          </a:prstGeom>
          <a:noFill/>
          <a:ln/>
        </p:spPr>
        <p:txBody>
          <a:bodyPr wrap="square" lIns="0" tIns="0" rIns="0" bIns="0" rtlCol="0" anchor="ctr"/>
          <a:lstStyle/>
          <a:p>
            <a:pPr marL="0" indent="0" algn="ctr">
              <a:buNone/>
            </a:pPr>
            <a:r>
              <a:rPr lang="en-US" sz="1700" dirty="0">
                <a:solidFill>
                  <a:schemeClr val="tx1"/>
                </a:solidFill>
                <a:latin typeface="Arial" pitchFamily="34" charset="0"/>
                <a:ea typeface="Arial" pitchFamily="34" charset="-122"/>
                <a:cs typeface="Arial" pitchFamily="34" charset="-120"/>
              </a:rPr>
              <a:t>5</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Predictor = D10 - D1</a:t>
            </a:r>
            <a:endParaRPr lang="en-US" sz="1700" dirty="0"/>
          </a:p>
          <a:p>
            <a:pPr marL="0" indent="0" algn="ctr">
              <a:buNone/>
            </a:pPr>
            <a:r>
              <a:rPr lang="en-US" sz="1700" dirty="0">
                <a:solidFill>
                  <a:schemeClr val="tx1"/>
                </a:solidFill>
                <a:latin typeface="Arial" pitchFamily="34" charset="0"/>
                <a:ea typeface="Arial" pitchFamily="34" charset="-122"/>
                <a:cs typeface="Arial" pitchFamily="34" charset="-120"/>
              </a:rPr>
              <a:t>(long minus short)</a:t>
            </a:r>
            <a:endParaRPr lang="en-US" sz="1700" dirty="0"/>
          </a:p>
        </p:txBody>
      </p:sp>
      <p:sp>
        <p:nvSpPr>
          <p:cNvPr id="24" name="Text 21"/>
          <p:cNvSpPr txBox="1"/>
          <p:nvPr/>
        </p:nvSpPr>
        <p:spPr>
          <a:xfrm>
            <a:off x="868680" y="4069080"/>
            <a:ext cx="10469880" cy="713232"/>
          </a:xfrm>
          <a:prstGeom prst="rect">
            <a:avLst/>
          </a:prstGeom>
          <a:noFill/>
          <a:ln/>
        </p:spPr>
        <p:txBody>
          <a:bodyPr wrap="square" lIns="0" tIns="0" rIns="0" bIns="0" rtlCol="0" anchor="ctr"/>
          <a:lstStyle/>
          <a:p>
            <a:pPr marL="0" indent="0" algn="ctr">
              <a:buNone/>
            </a:pPr>
            <a:r>
              <a:rPr lang="en-US" sz="1900" b="1" dirty="0">
                <a:solidFill>
                  <a:schemeClr val="tx1"/>
                </a:solidFill>
                <a:latin typeface="Arial" pitchFamily="34" charset="0"/>
                <a:ea typeface="Arial" pitchFamily="34" charset="-122"/>
                <a:cs typeface="Arial" pitchFamily="34" charset="-120"/>
              </a:rPr>
              <a:t>Worked example: BM = Compustat common equity / CRSP market equity; annual data must be at least 4 months old.</a:t>
            </a:r>
            <a:endParaRPr lang="en-US" sz="1900" dirty="0"/>
          </a:p>
        </p:txBody>
      </p:sp>
      <p:sp>
        <p:nvSpPr>
          <p:cNvPr id="25" name="Text 22"/>
          <p:cNvSpPr txBox="1"/>
          <p:nvPr/>
        </p:nvSpPr>
        <p:spPr>
          <a:xfrm>
            <a:off x="1005840" y="5074920"/>
            <a:ext cx="10149840" cy="438912"/>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Signal families include value, profitability, investment, momentum, issuance, and trading frictions.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The 100 monthly spreads form a lagged predictor vector X_t</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Sections II-III; replication code, programConstructForecastLongShortAll.R</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7</a:t>
            </a:r>
            <a:endParaRPr lang="en-US" sz="1100" dirty="0"/>
          </a:p>
        </p:txBody>
      </p:sp>
      <p:sp>
        <p:nvSpPr>
          <p:cNvPr id="10" name="Text 7"/>
          <p:cNvSpPr txBox="1"/>
          <p:nvPr/>
        </p:nvSpPr>
        <p:spPr>
          <a:xfrm>
            <a:off x="440526" y="2793492"/>
            <a:ext cx="1554480" cy="320040"/>
          </a:xfrm>
          <a:prstGeom prst="rect">
            <a:avLst/>
          </a:prstGeom>
          <a:noFill/>
          <a:ln/>
        </p:spPr>
        <p:txBody>
          <a:bodyPr wrap="square" lIns="0" tIns="0" rIns="0" bIns="0" rtlCol="0" anchor="ctr"/>
          <a:lstStyle/>
          <a:p>
            <a:pPr marL="0" indent="0">
              <a:buNone/>
            </a:pPr>
            <a:r>
              <a:rPr lang="en-US" sz="1700" b="1" dirty="0">
                <a:solidFill>
                  <a:schemeClr val="accent1"/>
                </a:solidFill>
                <a:latin typeface="Arial" pitchFamily="34" charset="0"/>
                <a:ea typeface="Arial" pitchFamily="34" charset="-122"/>
                <a:cs typeface="Arial" pitchFamily="34" charset="-120"/>
              </a:rPr>
              <a:t>Month t</a:t>
            </a:r>
            <a:endParaRPr lang="en-US" sz="1700" dirty="0"/>
          </a:p>
        </p:txBody>
      </p:sp>
      <p:sp>
        <p:nvSpPr>
          <p:cNvPr id="11" name="Shape 8"/>
          <p:cNvSpPr/>
          <p:nvPr/>
        </p:nvSpPr>
        <p:spPr>
          <a:xfrm>
            <a:off x="1828800" y="2103120"/>
            <a:ext cx="923544" cy="548640"/>
          </a:xfrm>
          <a:prstGeom prst="rect">
            <a:avLst/>
          </a:prstGeom>
          <a:solidFill>
            <a:schemeClr val="bg2"/>
          </a:solidFill>
          <a:ln w="10160">
            <a:solidFill>
              <a:srgbClr val="D8E0E8"/>
            </a:solidFill>
            <a:prstDash val="solid"/>
          </a:ln>
        </p:spPr>
      </p:sp>
      <p:sp>
        <p:nvSpPr>
          <p:cNvPr id="12" name="Text 9"/>
          <p:cNvSpPr txBox="1"/>
          <p:nvPr/>
        </p:nvSpPr>
        <p:spPr>
          <a:xfrm>
            <a:off x="1938528" y="2176272"/>
            <a:ext cx="704088" cy="402336"/>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BM</a:t>
            </a:r>
            <a:endParaRPr lang="en-US" sz="1400" dirty="0"/>
          </a:p>
        </p:txBody>
      </p:sp>
      <p:sp>
        <p:nvSpPr>
          <p:cNvPr id="13" name="Shape 10"/>
          <p:cNvSpPr/>
          <p:nvPr/>
        </p:nvSpPr>
        <p:spPr>
          <a:xfrm>
            <a:off x="2788920" y="2103120"/>
            <a:ext cx="923544" cy="548640"/>
          </a:xfrm>
          <a:prstGeom prst="rect">
            <a:avLst/>
          </a:prstGeom>
          <a:solidFill>
            <a:schemeClr val="bg2"/>
          </a:solidFill>
          <a:ln w="10160">
            <a:solidFill>
              <a:srgbClr val="D8E0E8"/>
            </a:solidFill>
            <a:prstDash val="solid"/>
          </a:ln>
        </p:spPr>
      </p:sp>
      <p:sp>
        <p:nvSpPr>
          <p:cNvPr id="14" name="Text 11"/>
          <p:cNvSpPr txBox="1"/>
          <p:nvPr/>
        </p:nvSpPr>
        <p:spPr>
          <a:xfrm>
            <a:off x="2898648" y="2176272"/>
            <a:ext cx="704088" cy="402336"/>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AGR</a:t>
            </a:r>
            <a:endParaRPr lang="en-US" sz="1400" dirty="0"/>
          </a:p>
        </p:txBody>
      </p:sp>
      <p:sp>
        <p:nvSpPr>
          <p:cNvPr id="15" name="Shape 12"/>
          <p:cNvSpPr/>
          <p:nvPr/>
        </p:nvSpPr>
        <p:spPr>
          <a:xfrm>
            <a:off x="3749040" y="2103120"/>
            <a:ext cx="923544" cy="548640"/>
          </a:xfrm>
          <a:prstGeom prst="rect">
            <a:avLst/>
          </a:prstGeom>
          <a:solidFill>
            <a:schemeClr val="bg2"/>
          </a:solidFill>
          <a:ln w="10160">
            <a:solidFill>
              <a:srgbClr val="D8E0E8"/>
            </a:solidFill>
            <a:prstDash val="solid"/>
          </a:ln>
        </p:spPr>
      </p:sp>
      <p:sp>
        <p:nvSpPr>
          <p:cNvPr id="16" name="Text 13"/>
          <p:cNvSpPr txBox="1"/>
          <p:nvPr/>
        </p:nvSpPr>
        <p:spPr>
          <a:xfrm>
            <a:off x="3858768" y="2176272"/>
            <a:ext cx="704088" cy="402336"/>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MOM</a:t>
            </a:r>
            <a:endParaRPr lang="en-US" sz="1400" dirty="0"/>
          </a:p>
        </p:txBody>
      </p:sp>
      <p:sp>
        <p:nvSpPr>
          <p:cNvPr id="17" name="Shape 14"/>
          <p:cNvSpPr/>
          <p:nvPr/>
        </p:nvSpPr>
        <p:spPr>
          <a:xfrm>
            <a:off x="4709160" y="2103120"/>
            <a:ext cx="923544" cy="548640"/>
          </a:xfrm>
          <a:prstGeom prst="rect">
            <a:avLst/>
          </a:prstGeom>
          <a:solidFill>
            <a:schemeClr val="bg2"/>
          </a:solidFill>
          <a:ln w="10160">
            <a:solidFill>
              <a:srgbClr val="D8E0E8"/>
            </a:solidFill>
            <a:prstDash val="solid"/>
          </a:ln>
        </p:spPr>
      </p:sp>
      <p:sp>
        <p:nvSpPr>
          <p:cNvPr id="18" name="Text 15"/>
          <p:cNvSpPr txBox="1"/>
          <p:nvPr/>
        </p:nvSpPr>
        <p:spPr>
          <a:xfrm>
            <a:off x="4818888" y="2176272"/>
            <a:ext cx="704088" cy="402336"/>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ROA</a:t>
            </a:r>
            <a:endParaRPr lang="en-US" sz="1400" dirty="0"/>
          </a:p>
        </p:txBody>
      </p:sp>
      <p:sp>
        <p:nvSpPr>
          <p:cNvPr id="19" name="Shape 16"/>
          <p:cNvSpPr/>
          <p:nvPr/>
        </p:nvSpPr>
        <p:spPr>
          <a:xfrm>
            <a:off x="5669280" y="2103120"/>
            <a:ext cx="923544" cy="548640"/>
          </a:xfrm>
          <a:prstGeom prst="rect">
            <a:avLst/>
          </a:prstGeom>
          <a:solidFill>
            <a:schemeClr val="bg2"/>
          </a:solidFill>
          <a:ln w="10160">
            <a:solidFill>
              <a:srgbClr val="D8E0E8"/>
            </a:solidFill>
            <a:prstDash val="solid"/>
          </a:ln>
        </p:spPr>
      </p:sp>
      <p:sp>
        <p:nvSpPr>
          <p:cNvPr id="20" name="Text 17"/>
          <p:cNvSpPr txBox="1"/>
          <p:nvPr/>
        </p:nvSpPr>
        <p:spPr>
          <a:xfrm>
            <a:off x="5779008" y="2176272"/>
            <a:ext cx="704088" cy="402336"/>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ACC</a:t>
            </a:r>
            <a:endParaRPr lang="en-US" sz="1400" dirty="0"/>
          </a:p>
        </p:txBody>
      </p:sp>
      <p:sp>
        <p:nvSpPr>
          <p:cNvPr id="21" name="Shape 18"/>
          <p:cNvSpPr/>
          <p:nvPr/>
        </p:nvSpPr>
        <p:spPr>
          <a:xfrm>
            <a:off x="6629400" y="2103120"/>
            <a:ext cx="923544" cy="548640"/>
          </a:xfrm>
          <a:prstGeom prst="rect">
            <a:avLst/>
          </a:prstGeom>
          <a:solidFill>
            <a:schemeClr val="bg2"/>
          </a:solidFill>
          <a:ln w="10160">
            <a:solidFill>
              <a:srgbClr val="D8E0E8"/>
            </a:solidFill>
            <a:prstDash val="solid"/>
          </a:ln>
        </p:spPr>
      </p:sp>
      <p:sp>
        <p:nvSpPr>
          <p:cNvPr id="22" name="Text 19"/>
          <p:cNvSpPr txBox="1"/>
          <p:nvPr/>
        </p:nvSpPr>
        <p:spPr>
          <a:xfrm>
            <a:off x="6739128" y="2176272"/>
            <a:ext cx="704088" cy="402336"/>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TURN</a:t>
            </a:r>
            <a:endParaRPr lang="en-US" sz="1400" dirty="0"/>
          </a:p>
        </p:txBody>
      </p:sp>
      <p:sp>
        <p:nvSpPr>
          <p:cNvPr id="23" name="Shape 20"/>
          <p:cNvSpPr/>
          <p:nvPr/>
        </p:nvSpPr>
        <p:spPr>
          <a:xfrm>
            <a:off x="7589520" y="2103120"/>
            <a:ext cx="923544" cy="548640"/>
          </a:xfrm>
          <a:prstGeom prst="rect">
            <a:avLst/>
          </a:prstGeom>
          <a:solidFill>
            <a:schemeClr val="bg2"/>
          </a:solidFill>
          <a:ln w="10160">
            <a:solidFill>
              <a:srgbClr val="D8E0E8"/>
            </a:solidFill>
            <a:prstDash val="solid"/>
          </a:ln>
        </p:spPr>
      </p:sp>
      <p:sp>
        <p:nvSpPr>
          <p:cNvPr id="24" name="Text 21"/>
          <p:cNvSpPr txBox="1"/>
          <p:nvPr/>
        </p:nvSpPr>
        <p:spPr>
          <a:xfrm>
            <a:off x="7699248" y="2176272"/>
            <a:ext cx="704088" cy="402336"/>
          </a:xfrm>
          <a:prstGeom prst="rect">
            <a:avLst/>
          </a:prstGeom>
          <a:noFill/>
          <a:ln/>
        </p:spPr>
        <p:txBody>
          <a:bodyPr wrap="square" lIns="0" tIns="0" rIns="0" bIns="0" rtlCol="0" anchor="ctr"/>
          <a:lstStyle/>
          <a:p>
            <a:pPr marL="0" indent="0" algn="ctr">
              <a:buNone/>
            </a:pPr>
            <a:r>
              <a:rPr lang="en-US" sz="1400" dirty="0">
                <a:solidFill>
                  <a:schemeClr val="tx1"/>
                </a:solidFill>
                <a:latin typeface="Arial" pitchFamily="34" charset="0"/>
                <a:ea typeface="Arial" pitchFamily="34" charset="-122"/>
                <a:cs typeface="Arial" pitchFamily="34" charset="-120"/>
              </a:rPr>
              <a:t>...</a:t>
            </a:r>
            <a:endParaRPr lang="en-US" sz="1400" dirty="0"/>
          </a:p>
        </p:txBody>
      </p:sp>
      <p:sp>
        <p:nvSpPr>
          <p:cNvPr id="25" name="Shape 22"/>
          <p:cNvSpPr/>
          <p:nvPr/>
        </p:nvSpPr>
        <p:spPr>
          <a:xfrm>
            <a:off x="1828800" y="2688336"/>
            <a:ext cx="923544" cy="548640"/>
          </a:xfrm>
          <a:prstGeom prst="rect">
            <a:avLst/>
          </a:prstGeom>
          <a:solidFill>
            <a:schemeClr val="bg1"/>
          </a:solidFill>
          <a:ln w="10160">
            <a:solidFill>
              <a:srgbClr val="D8E0E8"/>
            </a:solidFill>
            <a:prstDash val="solid"/>
          </a:ln>
        </p:spPr>
      </p:sp>
      <p:sp>
        <p:nvSpPr>
          <p:cNvPr id="26" name="Text 23"/>
          <p:cNvSpPr txBox="1"/>
          <p:nvPr/>
        </p:nvSpPr>
        <p:spPr>
          <a:xfrm>
            <a:off x="1938528" y="2761488"/>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0.8</a:t>
            </a:r>
            <a:endParaRPr lang="en-US" sz="1500" dirty="0"/>
          </a:p>
        </p:txBody>
      </p:sp>
      <p:sp>
        <p:nvSpPr>
          <p:cNvPr id="27" name="Shape 24"/>
          <p:cNvSpPr/>
          <p:nvPr/>
        </p:nvSpPr>
        <p:spPr>
          <a:xfrm>
            <a:off x="2788920" y="2688336"/>
            <a:ext cx="923544" cy="548640"/>
          </a:xfrm>
          <a:prstGeom prst="rect">
            <a:avLst/>
          </a:prstGeom>
          <a:solidFill>
            <a:schemeClr val="bg1"/>
          </a:solidFill>
          <a:ln w="10160">
            <a:solidFill>
              <a:srgbClr val="D8E0E8"/>
            </a:solidFill>
            <a:prstDash val="solid"/>
          </a:ln>
        </p:spPr>
      </p:sp>
      <p:sp>
        <p:nvSpPr>
          <p:cNvPr id="28" name="Text 25"/>
          <p:cNvSpPr txBox="1"/>
          <p:nvPr/>
        </p:nvSpPr>
        <p:spPr>
          <a:xfrm>
            <a:off x="2898648" y="2761488"/>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-0.3</a:t>
            </a:r>
            <a:endParaRPr lang="en-US" sz="1500" dirty="0"/>
          </a:p>
        </p:txBody>
      </p:sp>
      <p:sp>
        <p:nvSpPr>
          <p:cNvPr id="29" name="Shape 26"/>
          <p:cNvSpPr/>
          <p:nvPr/>
        </p:nvSpPr>
        <p:spPr>
          <a:xfrm>
            <a:off x="3749040" y="2688336"/>
            <a:ext cx="923544" cy="548640"/>
          </a:xfrm>
          <a:prstGeom prst="rect">
            <a:avLst/>
          </a:prstGeom>
          <a:solidFill>
            <a:schemeClr val="bg1"/>
          </a:solidFill>
          <a:ln w="10160">
            <a:solidFill>
              <a:srgbClr val="D8E0E8"/>
            </a:solidFill>
            <a:prstDash val="solid"/>
          </a:ln>
        </p:spPr>
      </p:sp>
      <p:sp>
        <p:nvSpPr>
          <p:cNvPr id="30" name="Text 27"/>
          <p:cNvSpPr txBox="1"/>
          <p:nvPr/>
        </p:nvSpPr>
        <p:spPr>
          <a:xfrm>
            <a:off x="3858768" y="2761488"/>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1.1</a:t>
            </a:r>
            <a:endParaRPr lang="en-US" sz="1500" dirty="0"/>
          </a:p>
        </p:txBody>
      </p:sp>
      <p:sp>
        <p:nvSpPr>
          <p:cNvPr id="31" name="Shape 28"/>
          <p:cNvSpPr/>
          <p:nvPr/>
        </p:nvSpPr>
        <p:spPr>
          <a:xfrm>
            <a:off x="4709160" y="2688336"/>
            <a:ext cx="923544" cy="548640"/>
          </a:xfrm>
          <a:prstGeom prst="rect">
            <a:avLst/>
          </a:prstGeom>
          <a:solidFill>
            <a:schemeClr val="bg1"/>
          </a:solidFill>
          <a:ln w="10160">
            <a:solidFill>
              <a:srgbClr val="D8E0E8"/>
            </a:solidFill>
            <a:prstDash val="solid"/>
          </a:ln>
        </p:spPr>
      </p:sp>
      <p:sp>
        <p:nvSpPr>
          <p:cNvPr id="32" name="Text 29"/>
          <p:cNvSpPr txBox="1"/>
          <p:nvPr/>
        </p:nvSpPr>
        <p:spPr>
          <a:xfrm>
            <a:off x="4818888" y="2761488"/>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0.4</a:t>
            </a:r>
            <a:endParaRPr lang="en-US" sz="1500" dirty="0"/>
          </a:p>
        </p:txBody>
      </p:sp>
      <p:sp>
        <p:nvSpPr>
          <p:cNvPr id="33" name="Shape 30"/>
          <p:cNvSpPr/>
          <p:nvPr/>
        </p:nvSpPr>
        <p:spPr>
          <a:xfrm>
            <a:off x="5669280" y="2688336"/>
            <a:ext cx="923544" cy="548640"/>
          </a:xfrm>
          <a:prstGeom prst="rect">
            <a:avLst/>
          </a:prstGeom>
          <a:solidFill>
            <a:schemeClr val="bg1"/>
          </a:solidFill>
          <a:ln w="10160">
            <a:solidFill>
              <a:srgbClr val="D8E0E8"/>
            </a:solidFill>
            <a:prstDash val="solid"/>
          </a:ln>
        </p:spPr>
      </p:sp>
      <p:sp>
        <p:nvSpPr>
          <p:cNvPr id="34" name="Text 31"/>
          <p:cNvSpPr txBox="1"/>
          <p:nvPr/>
        </p:nvSpPr>
        <p:spPr>
          <a:xfrm>
            <a:off x="5779008" y="2761488"/>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-0.2</a:t>
            </a:r>
            <a:endParaRPr lang="en-US" sz="1500" dirty="0"/>
          </a:p>
        </p:txBody>
      </p:sp>
      <p:sp>
        <p:nvSpPr>
          <p:cNvPr id="35" name="Shape 32"/>
          <p:cNvSpPr/>
          <p:nvPr/>
        </p:nvSpPr>
        <p:spPr>
          <a:xfrm>
            <a:off x="6629400" y="2688336"/>
            <a:ext cx="923544" cy="548640"/>
          </a:xfrm>
          <a:prstGeom prst="rect">
            <a:avLst/>
          </a:prstGeom>
          <a:solidFill>
            <a:schemeClr val="bg1"/>
          </a:solidFill>
          <a:ln w="10160">
            <a:solidFill>
              <a:srgbClr val="D8E0E8"/>
            </a:solidFill>
            <a:prstDash val="solid"/>
          </a:ln>
        </p:spPr>
      </p:sp>
      <p:sp>
        <p:nvSpPr>
          <p:cNvPr id="36" name="Text 33"/>
          <p:cNvSpPr txBox="1"/>
          <p:nvPr/>
        </p:nvSpPr>
        <p:spPr>
          <a:xfrm>
            <a:off x="6739128" y="2761488"/>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0.6</a:t>
            </a:r>
            <a:endParaRPr lang="en-US" sz="1500" dirty="0"/>
          </a:p>
        </p:txBody>
      </p:sp>
      <p:sp>
        <p:nvSpPr>
          <p:cNvPr id="37" name="Shape 34"/>
          <p:cNvSpPr/>
          <p:nvPr/>
        </p:nvSpPr>
        <p:spPr>
          <a:xfrm>
            <a:off x="7589520" y="2688336"/>
            <a:ext cx="923544" cy="548640"/>
          </a:xfrm>
          <a:prstGeom prst="rect">
            <a:avLst/>
          </a:prstGeom>
          <a:solidFill>
            <a:schemeClr val="bg1"/>
          </a:solidFill>
          <a:ln w="10160">
            <a:solidFill>
              <a:srgbClr val="D8E0E8"/>
            </a:solidFill>
            <a:prstDash val="solid"/>
          </a:ln>
        </p:spPr>
      </p:sp>
      <p:sp>
        <p:nvSpPr>
          <p:cNvPr id="38" name="Text 35"/>
          <p:cNvSpPr txBox="1"/>
          <p:nvPr/>
        </p:nvSpPr>
        <p:spPr>
          <a:xfrm>
            <a:off x="7699248" y="2761488"/>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39" name="Shape 36"/>
          <p:cNvSpPr/>
          <p:nvPr/>
        </p:nvSpPr>
        <p:spPr>
          <a:xfrm>
            <a:off x="1828800" y="3273552"/>
            <a:ext cx="923544" cy="548640"/>
          </a:xfrm>
          <a:prstGeom prst="rect">
            <a:avLst/>
          </a:prstGeom>
          <a:solidFill>
            <a:schemeClr val="bg1"/>
          </a:solidFill>
          <a:ln w="10160">
            <a:solidFill>
              <a:srgbClr val="D8E0E8"/>
            </a:solidFill>
            <a:prstDash val="solid"/>
          </a:ln>
        </p:spPr>
      </p:sp>
      <p:sp>
        <p:nvSpPr>
          <p:cNvPr id="40" name="Text 37"/>
          <p:cNvSpPr txBox="1"/>
          <p:nvPr/>
        </p:nvSpPr>
        <p:spPr>
          <a:xfrm>
            <a:off x="1938528" y="3346704"/>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-0.1</a:t>
            </a:r>
            <a:endParaRPr lang="en-US" sz="1500" dirty="0"/>
          </a:p>
        </p:txBody>
      </p:sp>
      <p:sp>
        <p:nvSpPr>
          <p:cNvPr id="41" name="Shape 38"/>
          <p:cNvSpPr/>
          <p:nvPr/>
        </p:nvSpPr>
        <p:spPr>
          <a:xfrm>
            <a:off x="2788920" y="3273552"/>
            <a:ext cx="923544" cy="548640"/>
          </a:xfrm>
          <a:prstGeom prst="rect">
            <a:avLst/>
          </a:prstGeom>
          <a:solidFill>
            <a:schemeClr val="bg1"/>
          </a:solidFill>
          <a:ln w="10160">
            <a:solidFill>
              <a:srgbClr val="D8E0E8"/>
            </a:solidFill>
            <a:prstDash val="solid"/>
          </a:ln>
        </p:spPr>
      </p:sp>
      <p:sp>
        <p:nvSpPr>
          <p:cNvPr id="42" name="Text 39"/>
          <p:cNvSpPr txBox="1"/>
          <p:nvPr/>
        </p:nvSpPr>
        <p:spPr>
          <a:xfrm>
            <a:off x="2898648" y="3346704"/>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0.2</a:t>
            </a:r>
            <a:endParaRPr lang="en-US" sz="1500" dirty="0"/>
          </a:p>
        </p:txBody>
      </p:sp>
      <p:sp>
        <p:nvSpPr>
          <p:cNvPr id="43" name="Shape 40"/>
          <p:cNvSpPr/>
          <p:nvPr/>
        </p:nvSpPr>
        <p:spPr>
          <a:xfrm>
            <a:off x="3749040" y="3273552"/>
            <a:ext cx="923544" cy="548640"/>
          </a:xfrm>
          <a:prstGeom prst="rect">
            <a:avLst/>
          </a:prstGeom>
          <a:solidFill>
            <a:schemeClr val="bg1"/>
          </a:solidFill>
          <a:ln w="10160">
            <a:solidFill>
              <a:srgbClr val="D8E0E8"/>
            </a:solidFill>
            <a:prstDash val="solid"/>
          </a:ln>
        </p:spPr>
      </p:sp>
      <p:sp>
        <p:nvSpPr>
          <p:cNvPr id="44" name="Text 41"/>
          <p:cNvSpPr txBox="1"/>
          <p:nvPr/>
        </p:nvSpPr>
        <p:spPr>
          <a:xfrm>
            <a:off x="3858768" y="3346704"/>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0.5</a:t>
            </a:r>
            <a:endParaRPr lang="en-US" sz="1500" dirty="0"/>
          </a:p>
        </p:txBody>
      </p:sp>
      <p:sp>
        <p:nvSpPr>
          <p:cNvPr id="45" name="Shape 42"/>
          <p:cNvSpPr/>
          <p:nvPr/>
        </p:nvSpPr>
        <p:spPr>
          <a:xfrm>
            <a:off x="4709160" y="3273552"/>
            <a:ext cx="923544" cy="548640"/>
          </a:xfrm>
          <a:prstGeom prst="rect">
            <a:avLst/>
          </a:prstGeom>
          <a:solidFill>
            <a:schemeClr val="bg1"/>
          </a:solidFill>
          <a:ln w="10160">
            <a:solidFill>
              <a:srgbClr val="D8E0E8"/>
            </a:solidFill>
            <a:prstDash val="solid"/>
          </a:ln>
        </p:spPr>
      </p:sp>
      <p:sp>
        <p:nvSpPr>
          <p:cNvPr id="46" name="Text 43"/>
          <p:cNvSpPr txBox="1"/>
          <p:nvPr/>
        </p:nvSpPr>
        <p:spPr>
          <a:xfrm>
            <a:off x="4818888" y="3346704"/>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0.1</a:t>
            </a:r>
            <a:endParaRPr lang="en-US" sz="1500" dirty="0"/>
          </a:p>
        </p:txBody>
      </p:sp>
      <p:sp>
        <p:nvSpPr>
          <p:cNvPr id="47" name="Shape 44"/>
          <p:cNvSpPr/>
          <p:nvPr/>
        </p:nvSpPr>
        <p:spPr>
          <a:xfrm>
            <a:off x="5669280" y="3273552"/>
            <a:ext cx="923544" cy="548640"/>
          </a:xfrm>
          <a:prstGeom prst="rect">
            <a:avLst/>
          </a:prstGeom>
          <a:solidFill>
            <a:schemeClr val="bg1"/>
          </a:solidFill>
          <a:ln w="10160">
            <a:solidFill>
              <a:srgbClr val="D8E0E8"/>
            </a:solidFill>
            <a:prstDash val="solid"/>
          </a:ln>
        </p:spPr>
      </p:sp>
      <p:sp>
        <p:nvSpPr>
          <p:cNvPr id="48" name="Text 45"/>
          <p:cNvSpPr txBox="1"/>
          <p:nvPr/>
        </p:nvSpPr>
        <p:spPr>
          <a:xfrm>
            <a:off x="5779008" y="3346704"/>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0.3</a:t>
            </a:r>
            <a:endParaRPr lang="en-US" sz="1500" dirty="0"/>
          </a:p>
        </p:txBody>
      </p:sp>
      <p:sp>
        <p:nvSpPr>
          <p:cNvPr id="49" name="Shape 46"/>
          <p:cNvSpPr/>
          <p:nvPr/>
        </p:nvSpPr>
        <p:spPr>
          <a:xfrm>
            <a:off x="6629400" y="3273552"/>
            <a:ext cx="923544" cy="548640"/>
          </a:xfrm>
          <a:prstGeom prst="rect">
            <a:avLst/>
          </a:prstGeom>
          <a:solidFill>
            <a:schemeClr val="bg1"/>
          </a:solidFill>
          <a:ln w="10160">
            <a:solidFill>
              <a:srgbClr val="D8E0E8"/>
            </a:solidFill>
            <a:prstDash val="solid"/>
          </a:ln>
        </p:spPr>
      </p:sp>
      <p:sp>
        <p:nvSpPr>
          <p:cNvPr id="50" name="Text 47"/>
          <p:cNvSpPr txBox="1"/>
          <p:nvPr/>
        </p:nvSpPr>
        <p:spPr>
          <a:xfrm>
            <a:off x="6739128" y="3346704"/>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-0.4</a:t>
            </a:r>
            <a:endParaRPr lang="en-US" sz="1500" dirty="0"/>
          </a:p>
        </p:txBody>
      </p:sp>
      <p:sp>
        <p:nvSpPr>
          <p:cNvPr id="51" name="Shape 48"/>
          <p:cNvSpPr/>
          <p:nvPr/>
        </p:nvSpPr>
        <p:spPr>
          <a:xfrm>
            <a:off x="7589520" y="3273552"/>
            <a:ext cx="923544" cy="548640"/>
          </a:xfrm>
          <a:prstGeom prst="rect">
            <a:avLst/>
          </a:prstGeom>
          <a:solidFill>
            <a:schemeClr val="bg1"/>
          </a:solidFill>
          <a:ln w="10160">
            <a:solidFill>
              <a:srgbClr val="D8E0E8"/>
            </a:solidFill>
            <a:prstDash val="solid"/>
          </a:ln>
        </p:spPr>
      </p:sp>
      <p:sp>
        <p:nvSpPr>
          <p:cNvPr id="52" name="Text 49"/>
          <p:cNvSpPr txBox="1"/>
          <p:nvPr/>
        </p:nvSpPr>
        <p:spPr>
          <a:xfrm>
            <a:off x="7699248" y="3346704"/>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53" name="Shape 50"/>
          <p:cNvSpPr/>
          <p:nvPr/>
        </p:nvSpPr>
        <p:spPr>
          <a:xfrm>
            <a:off x="1828800" y="3858768"/>
            <a:ext cx="923544" cy="548640"/>
          </a:xfrm>
          <a:prstGeom prst="rect">
            <a:avLst/>
          </a:prstGeom>
          <a:solidFill>
            <a:schemeClr val="bg1"/>
          </a:solidFill>
          <a:ln w="10160">
            <a:solidFill>
              <a:srgbClr val="D8E0E8"/>
            </a:solidFill>
            <a:prstDash val="solid"/>
          </a:ln>
        </p:spPr>
      </p:sp>
      <p:sp>
        <p:nvSpPr>
          <p:cNvPr id="54" name="Text 51"/>
          <p:cNvSpPr txBox="1"/>
          <p:nvPr/>
        </p:nvSpPr>
        <p:spPr>
          <a:xfrm>
            <a:off x="1938528" y="3931920"/>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55" name="Shape 52"/>
          <p:cNvSpPr/>
          <p:nvPr/>
        </p:nvSpPr>
        <p:spPr>
          <a:xfrm>
            <a:off x="2788920" y="3858768"/>
            <a:ext cx="923544" cy="548640"/>
          </a:xfrm>
          <a:prstGeom prst="rect">
            <a:avLst/>
          </a:prstGeom>
          <a:solidFill>
            <a:schemeClr val="bg1"/>
          </a:solidFill>
          <a:ln w="10160">
            <a:solidFill>
              <a:srgbClr val="D8E0E8"/>
            </a:solidFill>
            <a:prstDash val="solid"/>
          </a:ln>
        </p:spPr>
      </p:sp>
      <p:sp>
        <p:nvSpPr>
          <p:cNvPr id="56" name="Text 53"/>
          <p:cNvSpPr txBox="1"/>
          <p:nvPr/>
        </p:nvSpPr>
        <p:spPr>
          <a:xfrm>
            <a:off x="2898648" y="3931920"/>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57" name="Shape 54"/>
          <p:cNvSpPr/>
          <p:nvPr/>
        </p:nvSpPr>
        <p:spPr>
          <a:xfrm>
            <a:off x="3749040" y="3858768"/>
            <a:ext cx="923544" cy="548640"/>
          </a:xfrm>
          <a:prstGeom prst="rect">
            <a:avLst/>
          </a:prstGeom>
          <a:solidFill>
            <a:schemeClr val="bg1"/>
          </a:solidFill>
          <a:ln w="10160">
            <a:solidFill>
              <a:srgbClr val="D8E0E8"/>
            </a:solidFill>
            <a:prstDash val="solid"/>
          </a:ln>
        </p:spPr>
      </p:sp>
      <p:sp>
        <p:nvSpPr>
          <p:cNvPr id="58" name="Text 55"/>
          <p:cNvSpPr txBox="1"/>
          <p:nvPr/>
        </p:nvSpPr>
        <p:spPr>
          <a:xfrm>
            <a:off x="3858768" y="3931920"/>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59" name="Shape 56"/>
          <p:cNvSpPr/>
          <p:nvPr/>
        </p:nvSpPr>
        <p:spPr>
          <a:xfrm>
            <a:off x="4709160" y="3858768"/>
            <a:ext cx="923544" cy="548640"/>
          </a:xfrm>
          <a:prstGeom prst="rect">
            <a:avLst/>
          </a:prstGeom>
          <a:solidFill>
            <a:schemeClr val="bg1"/>
          </a:solidFill>
          <a:ln w="10160">
            <a:solidFill>
              <a:srgbClr val="D8E0E8"/>
            </a:solidFill>
            <a:prstDash val="solid"/>
          </a:ln>
        </p:spPr>
      </p:sp>
      <p:sp>
        <p:nvSpPr>
          <p:cNvPr id="60" name="Text 57"/>
          <p:cNvSpPr txBox="1"/>
          <p:nvPr/>
        </p:nvSpPr>
        <p:spPr>
          <a:xfrm>
            <a:off x="4818888" y="3931920"/>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61" name="Shape 58"/>
          <p:cNvSpPr/>
          <p:nvPr/>
        </p:nvSpPr>
        <p:spPr>
          <a:xfrm>
            <a:off x="5669280" y="3858768"/>
            <a:ext cx="923544" cy="548640"/>
          </a:xfrm>
          <a:prstGeom prst="rect">
            <a:avLst/>
          </a:prstGeom>
          <a:solidFill>
            <a:schemeClr val="bg1"/>
          </a:solidFill>
          <a:ln w="10160">
            <a:solidFill>
              <a:srgbClr val="D8E0E8"/>
            </a:solidFill>
            <a:prstDash val="solid"/>
          </a:ln>
        </p:spPr>
      </p:sp>
      <p:sp>
        <p:nvSpPr>
          <p:cNvPr id="62" name="Text 59"/>
          <p:cNvSpPr txBox="1"/>
          <p:nvPr/>
        </p:nvSpPr>
        <p:spPr>
          <a:xfrm>
            <a:off x="5779008" y="3931920"/>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63" name="Shape 60"/>
          <p:cNvSpPr/>
          <p:nvPr/>
        </p:nvSpPr>
        <p:spPr>
          <a:xfrm>
            <a:off x="6629400" y="3858768"/>
            <a:ext cx="923544" cy="548640"/>
          </a:xfrm>
          <a:prstGeom prst="rect">
            <a:avLst/>
          </a:prstGeom>
          <a:solidFill>
            <a:schemeClr val="bg1"/>
          </a:solidFill>
          <a:ln w="10160">
            <a:solidFill>
              <a:srgbClr val="D8E0E8"/>
            </a:solidFill>
            <a:prstDash val="solid"/>
          </a:ln>
        </p:spPr>
      </p:sp>
      <p:sp>
        <p:nvSpPr>
          <p:cNvPr id="64" name="Text 61"/>
          <p:cNvSpPr txBox="1"/>
          <p:nvPr/>
        </p:nvSpPr>
        <p:spPr>
          <a:xfrm>
            <a:off x="6739128" y="3931920"/>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65" name="Shape 62"/>
          <p:cNvSpPr/>
          <p:nvPr/>
        </p:nvSpPr>
        <p:spPr>
          <a:xfrm>
            <a:off x="7589520" y="3858768"/>
            <a:ext cx="923544" cy="548640"/>
          </a:xfrm>
          <a:prstGeom prst="rect">
            <a:avLst/>
          </a:prstGeom>
          <a:solidFill>
            <a:schemeClr val="bg1"/>
          </a:solidFill>
          <a:ln w="10160">
            <a:solidFill>
              <a:srgbClr val="D8E0E8"/>
            </a:solidFill>
            <a:prstDash val="solid"/>
          </a:ln>
        </p:spPr>
      </p:sp>
      <p:sp>
        <p:nvSpPr>
          <p:cNvPr id="66" name="Text 63"/>
          <p:cNvSpPr txBox="1"/>
          <p:nvPr/>
        </p:nvSpPr>
        <p:spPr>
          <a:xfrm>
            <a:off x="7699248" y="3931920"/>
            <a:ext cx="704088" cy="402336"/>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a:t>
            </a:r>
            <a:endParaRPr lang="en-US" sz="1500" dirty="0"/>
          </a:p>
        </p:txBody>
      </p:sp>
      <p:sp>
        <p:nvSpPr>
          <p:cNvPr id="67" name="Text 64"/>
          <p:cNvSpPr txBox="1"/>
          <p:nvPr/>
        </p:nvSpPr>
        <p:spPr>
          <a:xfrm>
            <a:off x="1828800" y="4590288"/>
            <a:ext cx="6309360" cy="347472"/>
          </a:xfrm>
          <a:prstGeom prst="rect">
            <a:avLst/>
          </a:prstGeom>
          <a:noFill/>
          <a:ln/>
        </p:spPr>
        <p:txBody>
          <a:bodyPr wrap="square" lIns="0" tIns="0" rIns="0" bIns="0" rtlCol="0" anchor="ctr"/>
          <a:lstStyle/>
          <a:p>
            <a:pPr marL="0" indent="0" algn="ctr">
              <a:buNone/>
            </a:pPr>
            <a:r>
              <a:rPr lang="en-US" sz="1800" dirty="0">
                <a:solidFill>
                  <a:schemeClr val="accent1"/>
                </a:solidFill>
                <a:latin typeface="Arial" pitchFamily="34" charset="0"/>
                <a:ea typeface="Arial" pitchFamily="34" charset="-122"/>
                <a:cs typeface="Arial" pitchFamily="34" charset="-120"/>
              </a:rPr>
              <a:t>T x 100 monthly return matrix</a:t>
            </a:r>
            <a:endParaRPr lang="en-US" sz="1800" dirty="0"/>
          </a:p>
        </p:txBody>
      </p:sp>
      <p:sp>
        <p:nvSpPr>
          <p:cNvPr id="68" name="Text 65"/>
          <p:cNvSpPr txBox="1"/>
          <p:nvPr/>
        </p:nvSpPr>
        <p:spPr>
          <a:xfrm>
            <a:off x="7543800" y="2240280"/>
            <a:ext cx="3840480" cy="713232"/>
          </a:xfrm>
          <a:prstGeom prst="rect">
            <a:avLst/>
          </a:prstGeom>
          <a:noFill/>
          <a:ln/>
        </p:spPr>
        <p:txBody>
          <a:bodyPr wrap="square" lIns="0" tIns="0" rIns="0" bIns="0" rtlCol="0" anchor="ctr"/>
          <a:lstStyle/>
          <a:p>
            <a:pPr marL="0" indent="0" algn="ctr">
              <a:buNone/>
            </a:pPr>
            <a:r>
              <a:rPr lang="en-US" sz="1900" b="1" dirty="0">
                <a:solidFill>
                  <a:schemeClr val="tx1"/>
                </a:solidFill>
                <a:latin typeface="Arial" pitchFamily="34" charset="0"/>
                <a:ea typeface="Arial" pitchFamily="34" charset="-122"/>
                <a:cs typeface="Arial" pitchFamily="34" charset="-120"/>
              </a:rPr>
              <a:t>Missing cell -&gt; same-month cross-sectional mean</a:t>
            </a:r>
            <a:endParaRPr lang="en-US" sz="1900" dirty="0"/>
          </a:p>
        </p:txBody>
      </p:sp>
      <p:sp>
        <p:nvSpPr>
          <p:cNvPr id="69" name="Shape 66"/>
          <p:cNvSpPr/>
          <p:nvPr/>
        </p:nvSpPr>
        <p:spPr>
          <a:xfrm>
            <a:off x="7955280" y="3063240"/>
            <a:ext cx="0" cy="640080"/>
          </a:xfrm>
          <a:prstGeom prst="line">
            <a:avLst/>
          </a:prstGeom>
          <a:noFill/>
          <a:ln w="25400">
            <a:solidFill>
              <a:schemeClr val="accent2"/>
            </a:solidFill>
            <a:prstDash val="solid"/>
            <a:tailEnd type="triangle"/>
          </a:ln>
        </p:spPr>
      </p:sp>
      <p:sp>
        <p:nvSpPr>
          <p:cNvPr id="70" name="Text 67"/>
          <p:cNvSpPr txBox="1"/>
          <p:nvPr/>
        </p:nvSpPr>
        <p:spPr>
          <a:xfrm>
            <a:off x="7315200" y="3840480"/>
            <a:ext cx="4343400" cy="822960"/>
          </a:xfrm>
          <a:prstGeom prst="rect">
            <a:avLst/>
          </a:prstGeom>
          <a:noFill/>
          <a:ln/>
        </p:spPr>
        <p:txBody>
          <a:bodyPr wrap="square" lIns="0" tIns="0" rIns="0" bIns="0" rtlCol="0" anchor="ctr"/>
          <a:lstStyle/>
          <a:p>
            <a:pPr marL="0" indent="0" algn="ctr">
              <a:buNone/>
            </a:pPr>
            <a:r>
              <a:rPr lang="en-US" sz="2100" b="1" dirty="0">
                <a:solidFill>
                  <a:schemeClr val="tx1"/>
                </a:solidFill>
                <a:latin typeface="Arial" pitchFamily="34" charset="0"/>
                <a:ea typeface="Arial" pitchFamily="34" charset="-122"/>
                <a:cs typeface="Arial" pitchFamily="34" charset="-120"/>
              </a:rPr>
              <a:t>X_t is known at t</a:t>
            </a:r>
            <a:endParaRPr lang="en-US" sz="2100" dirty="0"/>
          </a:p>
          <a:p>
            <a:pPr marL="0" indent="0" algn="ctr">
              <a:buNone/>
            </a:pPr>
            <a:r>
              <a:rPr lang="en-US" sz="2100" b="1" dirty="0">
                <a:solidFill>
                  <a:schemeClr val="tx1"/>
                </a:solidFill>
                <a:latin typeface="Arial" pitchFamily="34" charset="0"/>
                <a:ea typeface="Arial" pitchFamily="34" charset="-122"/>
                <a:cs typeface="Arial" pitchFamily="34" charset="-120"/>
              </a:rPr>
              <a:t>Use it to forecast t+1</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The target is next month’s CRSP value-weighted market excess return</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III; replication code, dataMarketRx.xlsx</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8</a:t>
            </a:r>
            <a:endParaRPr lang="en-US" sz="1100" dirty="0"/>
          </a:p>
        </p:txBody>
      </p:sp>
      <p:sp>
        <p:nvSpPr>
          <p:cNvPr id="10" name="Shape 7"/>
          <p:cNvSpPr/>
          <p:nvPr/>
        </p:nvSpPr>
        <p:spPr>
          <a:xfrm>
            <a:off x="777240" y="1920240"/>
            <a:ext cx="4023360" cy="1417320"/>
          </a:xfrm>
          <a:prstGeom prst="rect">
            <a:avLst/>
          </a:prstGeom>
          <a:solidFill>
            <a:schemeClr val="bg2"/>
          </a:solidFill>
          <a:ln w="15240">
            <a:solidFill>
              <a:schemeClr val="accent2"/>
            </a:solidFill>
            <a:prstDash val="solid"/>
          </a:ln>
        </p:spPr>
      </p:sp>
      <p:sp>
        <p:nvSpPr>
          <p:cNvPr id="11" name="Text 8"/>
          <p:cNvSpPr txBox="1"/>
          <p:nvPr/>
        </p:nvSpPr>
        <p:spPr>
          <a:xfrm>
            <a:off x="886968" y="1993392"/>
            <a:ext cx="3803904" cy="1271016"/>
          </a:xfrm>
          <a:prstGeom prst="rect">
            <a:avLst/>
          </a:prstGeom>
          <a:noFill/>
          <a:ln/>
        </p:spPr>
        <p:txBody>
          <a:bodyPr wrap="square" lIns="0" tIns="0" rIns="0" bIns="0" rtlCol="0" anchor="ctr"/>
          <a:lstStyle/>
          <a:p>
            <a:pPr marL="0" indent="0" algn="ctr">
              <a:buNone/>
            </a:pPr>
            <a:r>
              <a:rPr lang="en-US" sz="2100" dirty="0">
                <a:solidFill>
                  <a:schemeClr val="tx1"/>
                </a:solidFill>
                <a:latin typeface="Arial" pitchFamily="34" charset="0"/>
                <a:ea typeface="Arial" pitchFamily="34" charset="-122"/>
                <a:cs typeface="Arial" pitchFamily="34" charset="-120"/>
              </a:rPr>
              <a:t>Predictors</a:t>
            </a:r>
            <a:endParaRPr lang="en-US" sz="2100" dirty="0"/>
          </a:p>
          <a:p>
            <a:pPr marL="0" indent="0" algn="ctr">
              <a:buNone/>
            </a:pPr>
            <a:r>
              <a:rPr lang="en-US" sz="2100" dirty="0">
                <a:solidFill>
                  <a:schemeClr val="tx1"/>
                </a:solidFill>
                <a:latin typeface="Arial" pitchFamily="34" charset="0"/>
                <a:ea typeface="Arial" pitchFamily="34" charset="-122"/>
                <a:cs typeface="Arial" pitchFamily="34" charset="-120"/>
              </a:rPr>
              <a:t>X_t = 100 anomaly returns</a:t>
            </a:r>
            <a:endParaRPr lang="en-US" sz="2100" dirty="0"/>
          </a:p>
        </p:txBody>
      </p:sp>
      <p:sp>
        <p:nvSpPr>
          <p:cNvPr id="12" name="Shape 9"/>
          <p:cNvSpPr/>
          <p:nvPr/>
        </p:nvSpPr>
        <p:spPr>
          <a:xfrm>
            <a:off x="5074920" y="2633472"/>
            <a:ext cx="1691640" cy="0"/>
          </a:xfrm>
          <a:prstGeom prst="line">
            <a:avLst/>
          </a:prstGeom>
          <a:noFill/>
          <a:ln w="31750">
            <a:solidFill>
              <a:schemeClr val="accent2"/>
            </a:solidFill>
            <a:prstDash val="solid"/>
            <a:tailEnd type="triangle"/>
          </a:ln>
        </p:spPr>
      </p:sp>
      <p:sp>
        <p:nvSpPr>
          <p:cNvPr id="13" name="Shape 10"/>
          <p:cNvSpPr/>
          <p:nvPr/>
        </p:nvSpPr>
        <p:spPr>
          <a:xfrm>
            <a:off x="7059168" y="1920240"/>
            <a:ext cx="4206240" cy="1417320"/>
          </a:xfrm>
          <a:prstGeom prst="rect">
            <a:avLst/>
          </a:prstGeom>
          <a:solidFill>
            <a:schemeClr val="bg2"/>
          </a:solidFill>
          <a:ln w="15240">
            <a:solidFill>
              <a:schemeClr val="accent3"/>
            </a:solidFill>
            <a:prstDash val="solid"/>
          </a:ln>
        </p:spPr>
      </p:sp>
      <p:sp>
        <p:nvSpPr>
          <p:cNvPr id="14" name="Text 11"/>
          <p:cNvSpPr txBox="1"/>
          <p:nvPr/>
        </p:nvSpPr>
        <p:spPr>
          <a:xfrm>
            <a:off x="7168896" y="1993392"/>
            <a:ext cx="3986784" cy="1271016"/>
          </a:xfrm>
          <a:prstGeom prst="rect">
            <a:avLst/>
          </a:prstGeom>
          <a:noFill/>
          <a:ln/>
        </p:spPr>
        <p:txBody>
          <a:bodyPr wrap="square" lIns="0" tIns="0" rIns="0" bIns="0" rtlCol="0" anchor="ctr"/>
          <a:lstStyle/>
          <a:p>
            <a:pPr marL="0" indent="0" algn="ctr">
              <a:buNone/>
            </a:pPr>
            <a:r>
              <a:rPr lang="en-US" sz="2100" dirty="0">
                <a:solidFill>
                  <a:schemeClr val="tx1"/>
                </a:solidFill>
                <a:latin typeface="Arial" pitchFamily="34" charset="0"/>
                <a:ea typeface="Arial" pitchFamily="34" charset="-122"/>
                <a:cs typeface="Arial" pitchFamily="34" charset="-120"/>
              </a:rPr>
              <a:t>Target</a:t>
            </a:r>
            <a:endParaRPr lang="en-US" sz="2100" dirty="0"/>
          </a:p>
          <a:p>
            <a:pPr marL="0" indent="0" algn="ctr">
              <a:buNone/>
            </a:pPr>
            <a:r>
              <a:rPr lang="en-US" sz="2100" dirty="0">
                <a:solidFill>
                  <a:schemeClr val="tx1"/>
                </a:solidFill>
                <a:latin typeface="Arial" pitchFamily="34" charset="0"/>
                <a:ea typeface="Arial" pitchFamily="34" charset="-122"/>
                <a:cs typeface="Arial" pitchFamily="34" charset="-120"/>
              </a:rPr>
              <a:t>r</a:t>
            </a:r>
            <a:r>
              <a:rPr lang="en-US" sz="2100" baseline="-25000" dirty="0">
                <a:solidFill>
                  <a:schemeClr val="tx1"/>
                </a:solidFill>
                <a:latin typeface="Arial" pitchFamily="34" charset="0"/>
                <a:ea typeface="Arial" pitchFamily="34" charset="-122"/>
                <a:cs typeface="Arial" pitchFamily="34" charset="-120"/>
              </a:rPr>
              <a:t>M,t+1</a:t>
            </a:r>
            <a:r>
              <a:rPr lang="en-US" sz="2100" dirty="0">
                <a:solidFill>
                  <a:schemeClr val="tx1"/>
                </a:solidFill>
                <a:latin typeface="Arial" pitchFamily="34" charset="0"/>
                <a:ea typeface="Arial" pitchFamily="34" charset="-122"/>
                <a:cs typeface="Arial" pitchFamily="34" charset="-120"/>
              </a:rPr>
              <a:t> = CRSP VW - risk-free</a:t>
            </a:r>
            <a:endParaRPr lang="en-US" sz="2100" dirty="0"/>
          </a:p>
        </p:txBody>
      </p:sp>
      <p:sp>
        <p:nvSpPr>
          <p:cNvPr id="15" name="Text 12"/>
          <p:cNvSpPr txBox="1"/>
          <p:nvPr/>
        </p:nvSpPr>
        <p:spPr>
          <a:xfrm>
            <a:off x="804672" y="4041648"/>
            <a:ext cx="3886200" cy="384048"/>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Information set at forecast origin</a:t>
            </a:r>
            <a:endParaRPr lang="en-US" sz="1800" dirty="0"/>
          </a:p>
        </p:txBody>
      </p:sp>
      <p:sp>
        <p:nvSpPr>
          <p:cNvPr id="16" name="Text 13"/>
          <p:cNvSpPr txBox="1"/>
          <p:nvPr/>
        </p:nvSpPr>
        <p:spPr>
          <a:xfrm>
            <a:off x="804672" y="4526280"/>
            <a:ext cx="10424160" cy="658368"/>
          </a:xfrm>
          <a:prstGeom prst="rect">
            <a:avLst/>
          </a:prstGeom>
          <a:noFill/>
          <a:ln/>
        </p:spPr>
        <p:txBody>
          <a:bodyPr wrap="square" lIns="0" tIns="0" rIns="0" bIns="0" rtlCol="0" anchor="ctr"/>
          <a:lstStyle/>
          <a:p>
            <a:pPr marL="0" indent="0">
              <a:buNone/>
            </a:pPr>
            <a:r>
              <a:rPr lang="en-US" sz="2200" b="1" dirty="0">
                <a:solidFill>
                  <a:schemeClr val="tx1"/>
                </a:solidFill>
                <a:latin typeface="Arial" pitchFamily="34" charset="0"/>
                <a:ea typeface="Arial" pitchFamily="34" charset="-122"/>
                <a:cs typeface="Arial" pitchFamily="34" charset="-120"/>
              </a:rPr>
              <a:t>No same-month target leakage: X_t is paired with a future market return.</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A chronological split keeps evaluation data out of model training</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IV; replication code, programMain.R</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9</a:t>
            </a:r>
            <a:endParaRPr lang="en-US" sz="1100" dirty="0"/>
          </a:p>
        </p:txBody>
      </p:sp>
      <p:sp>
        <p:nvSpPr>
          <p:cNvPr id="10" name="Shape 7"/>
          <p:cNvSpPr/>
          <p:nvPr/>
        </p:nvSpPr>
        <p:spPr>
          <a:xfrm>
            <a:off x="777240" y="2423160"/>
            <a:ext cx="3200400" cy="914400"/>
          </a:xfrm>
          <a:prstGeom prst="rect">
            <a:avLst/>
          </a:prstGeom>
          <a:solidFill>
            <a:schemeClr val="accent1"/>
          </a:solidFill>
          <a:ln w="15240">
            <a:solidFill>
              <a:schemeClr val="accent1"/>
            </a:solidFill>
            <a:prstDash val="solid"/>
          </a:ln>
        </p:spPr>
      </p:sp>
      <p:sp>
        <p:nvSpPr>
          <p:cNvPr id="11" name="Text 8"/>
          <p:cNvSpPr txBox="1"/>
          <p:nvPr/>
        </p:nvSpPr>
        <p:spPr>
          <a:xfrm>
            <a:off x="886968" y="2496312"/>
            <a:ext cx="2980944" cy="768096"/>
          </a:xfrm>
          <a:prstGeom prst="rect">
            <a:avLst/>
          </a:prstGeom>
          <a:noFill/>
          <a:ln/>
        </p:spPr>
        <p:txBody>
          <a:bodyPr wrap="square" lIns="0" tIns="0" rIns="0" bIns="0" rtlCol="0" anchor="ctr"/>
          <a:lstStyle/>
          <a:p>
            <a:pPr marL="0" indent="0" algn="ctr">
              <a:buNone/>
            </a:pPr>
            <a:r>
              <a:rPr lang="en-US" sz="1900" dirty="0">
                <a:solidFill>
                  <a:schemeClr val="bg1"/>
                </a:solidFill>
                <a:latin typeface="Arial" pitchFamily="34" charset="0"/>
                <a:ea typeface="Arial" pitchFamily="34" charset="-122"/>
                <a:cs typeface="Arial" pitchFamily="34" charset="-120"/>
              </a:rPr>
              <a:t>1970-1979</a:t>
            </a:r>
            <a:endParaRPr lang="en-US" sz="1900" dirty="0"/>
          </a:p>
          <a:p>
            <a:pPr marL="0" indent="0" algn="ctr">
              <a:buNone/>
            </a:pPr>
            <a:r>
              <a:rPr lang="en-US" sz="1900" dirty="0">
                <a:solidFill>
                  <a:schemeClr val="bg1"/>
                </a:solidFill>
                <a:latin typeface="Arial" pitchFamily="34" charset="0"/>
                <a:ea typeface="Arial" pitchFamily="34" charset="-122"/>
                <a:cs typeface="Arial" pitchFamily="34" charset="-120"/>
              </a:rPr>
              <a:t>Initial history: 120 months</a:t>
            </a:r>
            <a:endParaRPr lang="en-US" sz="1900" dirty="0"/>
          </a:p>
        </p:txBody>
      </p:sp>
      <p:sp>
        <p:nvSpPr>
          <p:cNvPr id="12" name="Shape 9"/>
          <p:cNvSpPr/>
          <p:nvPr/>
        </p:nvSpPr>
        <p:spPr>
          <a:xfrm>
            <a:off x="4160520" y="2423160"/>
            <a:ext cx="3017520" cy="914400"/>
          </a:xfrm>
          <a:prstGeom prst="rect">
            <a:avLst/>
          </a:prstGeom>
          <a:solidFill>
            <a:schemeClr val="accent2"/>
          </a:solidFill>
          <a:ln w="15240">
            <a:solidFill>
              <a:schemeClr val="accent2"/>
            </a:solidFill>
            <a:prstDash val="solid"/>
          </a:ln>
        </p:spPr>
      </p:sp>
      <p:sp>
        <p:nvSpPr>
          <p:cNvPr id="13" name="Text 10"/>
          <p:cNvSpPr txBox="1"/>
          <p:nvPr/>
        </p:nvSpPr>
        <p:spPr>
          <a:xfrm>
            <a:off x="4270248" y="2496312"/>
            <a:ext cx="2798064" cy="768096"/>
          </a:xfrm>
          <a:prstGeom prst="rect">
            <a:avLst/>
          </a:prstGeom>
          <a:noFill/>
          <a:ln/>
        </p:spPr>
        <p:txBody>
          <a:bodyPr wrap="square" lIns="0" tIns="0" rIns="0" bIns="0" rtlCol="0" anchor="ctr"/>
          <a:lstStyle/>
          <a:p>
            <a:pPr marL="0" indent="0" algn="ctr">
              <a:buNone/>
            </a:pPr>
            <a:r>
              <a:rPr lang="en-US" sz="1900" dirty="0">
                <a:solidFill>
                  <a:schemeClr val="bg1"/>
                </a:solidFill>
                <a:latin typeface="Arial" pitchFamily="34" charset="0"/>
                <a:ea typeface="Arial" pitchFamily="34" charset="-122"/>
                <a:cs typeface="Arial" pitchFamily="34" charset="-120"/>
              </a:rPr>
              <a:t>1980-1984</a:t>
            </a:r>
            <a:endParaRPr lang="en-US" sz="1900" dirty="0"/>
          </a:p>
          <a:p>
            <a:pPr marL="0" indent="0" algn="ctr">
              <a:buNone/>
            </a:pPr>
            <a:r>
              <a:rPr lang="en-US" sz="1900" dirty="0">
                <a:solidFill>
                  <a:schemeClr val="bg1"/>
                </a:solidFill>
                <a:latin typeface="Arial" pitchFamily="34" charset="0"/>
                <a:ea typeface="Arial" pitchFamily="34" charset="-122"/>
                <a:cs typeface="Arial" pitchFamily="34" charset="-120"/>
              </a:rPr>
              <a:t>Holdout: 60 months</a:t>
            </a:r>
            <a:endParaRPr lang="en-US" sz="1900" dirty="0"/>
          </a:p>
        </p:txBody>
      </p:sp>
      <p:sp>
        <p:nvSpPr>
          <p:cNvPr id="14" name="Shape 11"/>
          <p:cNvSpPr/>
          <p:nvPr/>
        </p:nvSpPr>
        <p:spPr>
          <a:xfrm>
            <a:off x="7360920" y="2423160"/>
            <a:ext cx="3931920" cy="914400"/>
          </a:xfrm>
          <a:prstGeom prst="rect">
            <a:avLst/>
          </a:prstGeom>
          <a:solidFill>
            <a:schemeClr val="bg2"/>
          </a:solidFill>
          <a:ln w="15240">
            <a:solidFill>
              <a:schemeClr val="accent3"/>
            </a:solidFill>
            <a:prstDash val="solid"/>
          </a:ln>
        </p:spPr>
      </p:sp>
      <p:sp>
        <p:nvSpPr>
          <p:cNvPr id="15" name="Text 12"/>
          <p:cNvSpPr txBox="1"/>
          <p:nvPr/>
        </p:nvSpPr>
        <p:spPr>
          <a:xfrm>
            <a:off x="7470648" y="2496312"/>
            <a:ext cx="3712464" cy="768096"/>
          </a:xfrm>
          <a:prstGeom prst="rect">
            <a:avLst/>
          </a:prstGeom>
          <a:noFill/>
          <a:ln/>
        </p:spPr>
        <p:txBody>
          <a:bodyPr wrap="square" lIns="0" tIns="0" rIns="0" bIns="0" rtlCol="0" anchor="ctr"/>
          <a:lstStyle/>
          <a:p>
            <a:pPr marL="0" indent="0" algn="ctr">
              <a:buNone/>
            </a:pPr>
            <a:r>
              <a:rPr lang="en-US" sz="1900" dirty="0">
                <a:solidFill>
                  <a:schemeClr val="tx1"/>
                </a:solidFill>
                <a:latin typeface="Arial" pitchFamily="34" charset="0"/>
                <a:ea typeface="Arial" pitchFamily="34" charset="-122"/>
                <a:cs typeface="Arial" pitchFamily="34" charset="-120"/>
              </a:rPr>
              <a:t>1985-2017</a:t>
            </a:r>
            <a:endParaRPr lang="en-US" sz="1900" dirty="0"/>
          </a:p>
          <a:p>
            <a:pPr marL="0" indent="0" algn="ctr">
              <a:buNone/>
            </a:pPr>
            <a:r>
              <a:rPr lang="en-US" sz="1900" dirty="0">
                <a:solidFill>
                  <a:schemeClr val="tx1"/>
                </a:solidFill>
                <a:latin typeface="Arial" pitchFamily="34" charset="0"/>
                <a:ea typeface="Arial" pitchFamily="34" charset="-122"/>
                <a:cs typeface="Arial" pitchFamily="34" charset="-120"/>
              </a:rPr>
              <a:t>Formal test: 396 months</a:t>
            </a:r>
            <a:endParaRPr lang="en-US" sz="1900" dirty="0"/>
          </a:p>
        </p:txBody>
      </p:sp>
      <p:sp>
        <p:nvSpPr>
          <p:cNvPr id="16" name="Text 13"/>
          <p:cNvSpPr txBox="1"/>
          <p:nvPr/>
        </p:nvSpPr>
        <p:spPr>
          <a:xfrm>
            <a:off x="1417320" y="3657600"/>
            <a:ext cx="1828800" cy="347472"/>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Estimate</a:t>
            </a:r>
            <a:endParaRPr lang="en-US" sz="1800" dirty="0"/>
          </a:p>
        </p:txBody>
      </p:sp>
      <p:sp>
        <p:nvSpPr>
          <p:cNvPr id="17" name="Text 14"/>
          <p:cNvSpPr txBox="1"/>
          <p:nvPr/>
        </p:nvSpPr>
        <p:spPr>
          <a:xfrm>
            <a:off x="4389120" y="3657600"/>
            <a:ext cx="2606040" cy="347472"/>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Train forecast selector</a:t>
            </a:r>
          </a:p>
          <a:p>
            <a:pPr marL="0" indent="0" algn="ctr">
              <a:buNone/>
            </a:pPr>
            <a:r>
              <a:rPr lang="en-US" b="1" dirty="0">
                <a:latin typeface="Arial" pitchFamily="34" charset="0"/>
                <a:cs typeface="Arial" pitchFamily="34" charset="-120"/>
              </a:rPr>
              <a:t>(only for C-ENET)</a:t>
            </a:r>
            <a:endParaRPr lang="en-US" sz="1800" dirty="0"/>
          </a:p>
        </p:txBody>
      </p:sp>
      <p:sp>
        <p:nvSpPr>
          <p:cNvPr id="18" name="Text 15"/>
          <p:cNvSpPr txBox="1"/>
          <p:nvPr/>
        </p:nvSpPr>
        <p:spPr>
          <a:xfrm>
            <a:off x="7516368" y="3657600"/>
            <a:ext cx="3611880" cy="594360"/>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Compare forecasts with historical-mean benchmark</a:t>
            </a:r>
            <a:endParaRPr lang="en-US" sz="1800" dirty="0"/>
          </a:p>
        </p:txBody>
      </p:sp>
      <p:sp>
        <p:nvSpPr>
          <p:cNvPr id="19" name="Text 16"/>
          <p:cNvSpPr txBox="1"/>
          <p:nvPr/>
        </p:nvSpPr>
        <p:spPr>
          <a:xfrm>
            <a:off x="1005840" y="4983480"/>
            <a:ext cx="10149840" cy="411480"/>
          </a:xfrm>
          <a:prstGeom prst="rect">
            <a:avLst/>
          </a:prstGeom>
          <a:noFill/>
          <a:ln/>
        </p:spPr>
        <p:txBody>
          <a:bodyPr wrap="square" lIns="0" tIns="0" rIns="0" bIns="0" rtlCol="0" anchor="ctr"/>
          <a:lstStyle/>
          <a:p>
            <a:pPr marL="0" indent="0" algn="ctr">
              <a:buNone/>
            </a:pPr>
            <a:r>
              <a:rPr lang="en-US" sz="1900" dirty="0">
                <a:solidFill>
                  <a:schemeClr val="accent1"/>
                </a:solidFill>
                <a:latin typeface="Arial" pitchFamily="34" charset="0"/>
                <a:ea typeface="Arial" pitchFamily="34" charset="-122"/>
                <a:cs typeface="Arial" pitchFamily="34" charset="-120"/>
              </a:rPr>
              <a:t>All model updates use only observations available at each forecast date.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Each forecast is rebuilt recursively using only information available at that date</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II; replication code, programConstructForecastLongShortAll.R</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10</a:t>
            </a:r>
            <a:endParaRPr lang="en-US" sz="1100" dirty="0"/>
          </a:p>
        </p:txBody>
      </p:sp>
      <p:sp>
        <p:nvSpPr>
          <p:cNvPr id="10" name="Shape 7"/>
          <p:cNvSpPr/>
          <p:nvPr/>
        </p:nvSpPr>
        <p:spPr>
          <a:xfrm>
            <a:off x="640080" y="2103120"/>
            <a:ext cx="2286000" cy="1234440"/>
          </a:xfrm>
          <a:prstGeom prst="rect">
            <a:avLst/>
          </a:prstGeom>
          <a:solidFill>
            <a:schemeClr val="bg2"/>
          </a:solidFill>
          <a:ln w="15240">
            <a:solidFill>
              <a:schemeClr val="accent2"/>
            </a:solidFill>
            <a:prstDash val="solid"/>
          </a:ln>
        </p:spPr>
      </p:sp>
      <p:sp>
        <p:nvSpPr>
          <p:cNvPr id="11" name="Text 8"/>
          <p:cNvSpPr txBox="1"/>
          <p:nvPr/>
        </p:nvSpPr>
        <p:spPr>
          <a:xfrm>
            <a:off x="749808" y="2176272"/>
            <a:ext cx="2066544" cy="108813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1. Build past pairs</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(X_s, y_s+1)</a:t>
            </a:r>
            <a:endParaRPr lang="en-US" sz="1800" dirty="0"/>
          </a:p>
        </p:txBody>
      </p:sp>
      <p:sp>
        <p:nvSpPr>
          <p:cNvPr id="12" name="Shape 9"/>
          <p:cNvSpPr/>
          <p:nvPr/>
        </p:nvSpPr>
        <p:spPr>
          <a:xfrm>
            <a:off x="2971800" y="2724912"/>
            <a:ext cx="438912" cy="0"/>
          </a:xfrm>
          <a:prstGeom prst="line">
            <a:avLst/>
          </a:prstGeom>
          <a:noFill/>
          <a:ln w="24130">
            <a:solidFill>
              <a:schemeClr val="accent2"/>
            </a:solidFill>
            <a:prstDash val="solid"/>
            <a:tailEnd type="triangle"/>
          </a:ln>
        </p:spPr>
      </p:sp>
      <p:sp>
        <p:nvSpPr>
          <p:cNvPr id="13" name="Shape 10"/>
          <p:cNvSpPr/>
          <p:nvPr/>
        </p:nvSpPr>
        <p:spPr>
          <a:xfrm>
            <a:off x="3520440" y="2103120"/>
            <a:ext cx="2286000" cy="1234440"/>
          </a:xfrm>
          <a:prstGeom prst="rect">
            <a:avLst/>
          </a:prstGeom>
          <a:solidFill>
            <a:schemeClr val="bg2"/>
          </a:solidFill>
          <a:ln w="15240">
            <a:solidFill>
              <a:schemeClr val="accent2"/>
            </a:solidFill>
            <a:prstDash val="solid"/>
          </a:ln>
        </p:spPr>
      </p:sp>
      <p:sp>
        <p:nvSpPr>
          <p:cNvPr id="14" name="Text 11"/>
          <p:cNvSpPr txBox="1"/>
          <p:nvPr/>
        </p:nvSpPr>
        <p:spPr>
          <a:xfrm>
            <a:off x="3630168" y="2176272"/>
            <a:ext cx="2066544" cy="108813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2. Refit model</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with expanding history</a:t>
            </a:r>
            <a:endParaRPr lang="en-US" sz="1800" dirty="0"/>
          </a:p>
        </p:txBody>
      </p:sp>
      <p:sp>
        <p:nvSpPr>
          <p:cNvPr id="15" name="Shape 12"/>
          <p:cNvSpPr/>
          <p:nvPr/>
        </p:nvSpPr>
        <p:spPr>
          <a:xfrm>
            <a:off x="5852160" y="2724912"/>
            <a:ext cx="438912" cy="0"/>
          </a:xfrm>
          <a:prstGeom prst="line">
            <a:avLst/>
          </a:prstGeom>
          <a:noFill/>
          <a:ln w="24130">
            <a:solidFill>
              <a:schemeClr val="accent2"/>
            </a:solidFill>
            <a:prstDash val="solid"/>
            <a:tailEnd type="triangle"/>
          </a:ln>
        </p:spPr>
      </p:sp>
      <p:sp>
        <p:nvSpPr>
          <p:cNvPr id="16" name="Shape 13"/>
          <p:cNvSpPr/>
          <p:nvPr/>
        </p:nvSpPr>
        <p:spPr>
          <a:xfrm>
            <a:off x="6400800" y="2103120"/>
            <a:ext cx="2286000" cy="1234440"/>
          </a:xfrm>
          <a:prstGeom prst="rect">
            <a:avLst/>
          </a:prstGeom>
          <a:solidFill>
            <a:schemeClr val="bg2"/>
          </a:solidFill>
          <a:ln w="15240">
            <a:solidFill>
              <a:schemeClr val="accent2"/>
            </a:solidFill>
            <a:prstDash val="solid"/>
          </a:ln>
        </p:spPr>
      </p:sp>
      <p:sp>
        <p:nvSpPr>
          <p:cNvPr id="17" name="Text 14"/>
          <p:cNvSpPr txBox="1"/>
          <p:nvPr/>
        </p:nvSpPr>
        <p:spPr>
          <a:xfrm>
            <a:off x="6510528" y="2176272"/>
            <a:ext cx="2066544" cy="108813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3. Insert current</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X_t</a:t>
            </a:r>
            <a:endParaRPr lang="en-US" sz="1800" dirty="0"/>
          </a:p>
        </p:txBody>
      </p:sp>
      <p:sp>
        <p:nvSpPr>
          <p:cNvPr id="18" name="Shape 15"/>
          <p:cNvSpPr/>
          <p:nvPr/>
        </p:nvSpPr>
        <p:spPr>
          <a:xfrm>
            <a:off x="8732520" y="2724912"/>
            <a:ext cx="411480" cy="0"/>
          </a:xfrm>
          <a:prstGeom prst="line">
            <a:avLst/>
          </a:prstGeom>
          <a:noFill/>
          <a:ln w="24130">
            <a:solidFill>
              <a:schemeClr val="accent2"/>
            </a:solidFill>
            <a:prstDash val="solid"/>
            <a:tailEnd type="triangle"/>
          </a:ln>
        </p:spPr>
      </p:sp>
      <p:sp>
        <p:nvSpPr>
          <p:cNvPr id="19" name="Shape 16"/>
          <p:cNvSpPr/>
          <p:nvPr/>
        </p:nvSpPr>
        <p:spPr>
          <a:xfrm>
            <a:off x="9253728" y="2103120"/>
            <a:ext cx="2286000" cy="1234440"/>
          </a:xfrm>
          <a:prstGeom prst="rect">
            <a:avLst/>
          </a:prstGeom>
          <a:solidFill>
            <a:schemeClr val="bg2"/>
          </a:solidFill>
          <a:ln w="15240">
            <a:solidFill>
              <a:schemeClr val="accent2"/>
            </a:solidFill>
            <a:prstDash val="solid"/>
          </a:ln>
        </p:spPr>
      </p:sp>
      <p:sp>
        <p:nvSpPr>
          <p:cNvPr id="20" name="Text 17"/>
          <p:cNvSpPr txBox="1"/>
          <p:nvPr/>
        </p:nvSpPr>
        <p:spPr>
          <a:xfrm>
            <a:off x="9363456" y="2176272"/>
            <a:ext cx="2066544" cy="108813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4. Forecast</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y_t+1; advance t</a:t>
            </a:r>
            <a:endParaRPr lang="en-US" sz="1800" dirty="0"/>
          </a:p>
        </p:txBody>
      </p:sp>
      <p:sp>
        <p:nvSpPr>
          <p:cNvPr id="21" name="Shape 18"/>
          <p:cNvSpPr/>
          <p:nvPr/>
        </p:nvSpPr>
        <p:spPr>
          <a:xfrm>
            <a:off x="914400" y="4114800"/>
            <a:ext cx="10195560" cy="0"/>
          </a:xfrm>
          <a:prstGeom prst="line">
            <a:avLst/>
          </a:prstGeom>
          <a:noFill/>
          <a:ln w="15240">
            <a:solidFill>
              <a:srgbClr val="D8E0E8"/>
            </a:solidFill>
            <a:prstDash val="solid"/>
          </a:ln>
        </p:spPr>
      </p:sp>
      <p:sp>
        <p:nvSpPr>
          <p:cNvPr id="22" name="Text 19"/>
          <p:cNvSpPr txBox="1"/>
          <p:nvPr/>
        </p:nvSpPr>
        <p:spPr>
          <a:xfrm>
            <a:off x="914400" y="4279392"/>
            <a:ext cx="914400" cy="320040"/>
          </a:xfrm>
          <a:prstGeom prst="rect">
            <a:avLst/>
          </a:prstGeom>
          <a:noFill/>
          <a:ln/>
        </p:spPr>
        <p:txBody>
          <a:bodyPr wrap="square" lIns="0" tIns="0" rIns="0" bIns="0" rtlCol="0" anchor="ctr"/>
          <a:lstStyle/>
          <a:p>
            <a:pPr marL="0" indent="0">
              <a:buNone/>
            </a:pPr>
            <a:r>
              <a:rPr lang="en-US" sz="1600" dirty="0">
                <a:solidFill>
                  <a:schemeClr val="accent1"/>
                </a:solidFill>
                <a:latin typeface="Arial" pitchFamily="34" charset="0"/>
                <a:ea typeface="Arial" pitchFamily="34" charset="-122"/>
                <a:cs typeface="Arial" pitchFamily="34" charset="-120"/>
              </a:rPr>
              <a:t>1970</a:t>
            </a:r>
            <a:endParaRPr lang="en-US" sz="1600" dirty="0"/>
          </a:p>
        </p:txBody>
      </p:sp>
      <p:sp>
        <p:nvSpPr>
          <p:cNvPr id="23" name="Text 20"/>
          <p:cNvSpPr txBox="1"/>
          <p:nvPr/>
        </p:nvSpPr>
        <p:spPr>
          <a:xfrm>
            <a:off x="1828800" y="4617720"/>
            <a:ext cx="8686800" cy="475488"/>
          </a:xfrm>
          <a:prstGeom prst="rect">
            <a:avLst/>
          </a:prstGeom>
          <a:noFill/>
          <a:ln/>
        </p:spPr>
        <p:txBody>
          <a:bodyPr wrap="square" lIns="0" tIns="0" rIns="0" bIns="0" rtlCol="0" anchor="ctr"/>
          <a:lstStyle/>
          <a:p>
            <a:pPr marL="0" indent="0" algn="ctr">
              <a:buNone/>
            </a:pPr>
            <a:r>
              <a:rPr lang="en-US" sz="2000" b="1" dirty="0">
                <a:solidFill>
                  <a:schemeClr val="tx1"/>
                </a:solidFill>
                <a:latin typeface="Arial" pitchFamily="34" charset="0"/>
                <a:ea typeface="Arial" pitchFamily="34" charset="-122"/>
                <a:cs typeface="Arial" pitchFamily="34" charset="-120"/>
              </a:rPr>
              <a:t>At each origin, training stops before the market return being forecast.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Elastic net shrinks a 100-predictor regression that OLS badly overfits</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II and Internet Appendix II; Zou and Hastie (2005)</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11</a:t>
            </a:r>
            <a:endParaRPr lang="en-US" sz="1100" dirty="0"/>
          </a:p>
        </p:txBody>
      </p:sp>
      <p:sp>
        <p:nvSpPr>
          <p:cNvPr id="10" name="Text 7"/>
          <p:cNvSpPr txBox="1"/>
          <p:nvPr/>
        </p:nvSpPr>
        <p:spPr>
          <a:xfrm>
            <a:off x="914400" y="1645920"/>
            <a:ext cx="2011680" cy="438912"/>
          </a:xfrm>
          <a:prstGeom prst="rect">
            <a:avLst/>
          </a:prstGeom>
          <a:noFill/>
          <a:ln/>
        </p:spPr>
        <p:txBody>
          <a:bodyPr wrap="square" lIns="0" tIns="0" rIns="0" bIns="0" rtlCol="0" anchor="ctr"/>
          <a:lstStyle/>
          <a:p>
            <a:pPr marL="0" indent="0" algn="ctr">
              <a:buNone/>
            </a:pPr>
            <a:r>
              <a:rPr lang="en-US" sz="2300" b="1" dirty="0">
                <a:solidFill>
                  <a:schemeClr val="accent3"/>
                </a:solidFill>
                <a:latin typeface="Arial" pitchFamily="34" charset="0"/>
                <a:ea typeface="Arial" pitchFamily="34" charset="-122"/>
                <a:cs typeface="Arial" pitchFamily="34" charset="-120"/>
              </a:rPr>
              <a:t>OLS</a:t>
            </a:r>
            <a:endParaRPr lang="en-US" sz="2300" dirty="0"/>
          </a:p>
        </p:txBody>
      </p:sp>
      <p:sp>
        <p:nvSpPr>
          <p:cNvPr id="11" name="Text 8"/>
          <p:cNvSpPr txBox="1"/>
          <p:nvPr/>
        </p:nvSpPr>
        <p:spPr>
          <a:xfrm>
            <a:off x="822960" y="2267712"/>
            <a:ext cx="2743200" cy="713232"/>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Choose 100 slopes to fit past returns</a:t>
            </a:r>
            <a:endParaRPr lang="en-US" sz="1800" dirty="0"/>
          </a:p>
        </p:txBody>
      </p:sp>
      <p:sp>
        <p:nvSpPr>
          <p:cNvPr id="12" name="Text 9"/>
          <p:cNvSpPr txBox="1"/>
          <p:nvPr/>
        </p:nvSpPr>
        <p:spPr>
          <a:xfrm>
            <a:off x="3675888" y="2423160"/>
            <a:ext cx="640080" cy="457200"/>
          </a:xfrm>
          <a:prstGeom prst="rect">
            <a:avLst/>
          </a:prstGeom>
          <a:noFill/>
          <a:ln/>
        </p:spPr>
        <p:txBody>
          <a:bodyPr wrap="square" lIns="0" tIns="0" rIns="0" bIns="0" rtlCol="0" anchor="ctr"/>
          <a:lstStyle/>
          <a:p>
            <a:pPr marL="0" indent="0" algn="ctr">
              <a:buNone/>
            </a:pPr>
            <a:r>
              <a:rPr lang="en-US" sz="2500" b="1" dirty="0">
                <a:solidFill>
                  <a:schemeClr val="accent2"/>
                </a:solidFill>
                <a:latin typeface="Arial" pitchFamily="34" charset="0"/>
                <a:ea typeface="Arial" pitchFamily="34" charset="-122"/>
                <a:cs typeface="Arial" pitchFamily="34" charset="-120"/>
              </a:rPr>
              <a:t>-&gt;</a:t>
            </a:r>
            <a:endParaRPr lang="en-US" sz="2500" dirty="0"/>
          </a:p>
        </p:txBody>
      </p:sp>
      <p:sp>
        <p:nvSpPr>
          <p:cNvPr id="13" name="Text 10"/>
          <p:cNvSpPr txBox="1"/>
          <p:nvPr/>
        </p:nvSpPr>
        <p:spPr>
          <a:xfrm>
            <a:off x="4526280" y="1645920"/>
            <a:ext cx="2743200" cy="438912"/>
          </a:xfrm>
          <a:prstGeom prst="rect">
            <a:avLst/>
          </a:prstGeom>
          <a:noFill/>
          <a:ln/>
        </p:spPr>
        <p:txBody>
          <a:bodyPr wrap="square" lIns="0" tIns="0" rIns="0" bIns="0" rtlCol="0" anchor="ctr"/>
          <a:lstStyle/>
          <a:p>
            <a:pPr marL="0" indent="0" algn="ctr">
              <a:buNone/>
            </a:pPr>
            <a:r>
              <a:rPr lang="en-US" sz="2300" b="1" dirty="0">
                <a:solidFill>
                  <a:schemeClr val="accent1"/>
                </a:solidFill>
                <a:latin typeface="Arial" pitchFamily="34" charset="0"/>
                <a:ea typeface="Arial" pitchFamily="34" charset="-122"/>
                <a:cs typeface="Arial" pitchFamily="34" charset="-120"/>
              </a:rPr>
              <a:t>Elastic net</a:t>
            </a:r>
            <a:endParaRPr lang="en-US" sz="2300" dirty="0"/>
          </a:p>
        </p:txBody>
      </p:sp>
      <p:sp>
        <p:nvSpPr>
          <p:cNvPr id="14" name="Text 11"/>
          <p:cNvSpPr txBox="1"/>
          <p:nvPr/>
        </p:nvSpPr>
        <p:spPr>
          <a:xfrm>
            <a:off x="4389120" y="2267712"/>
            <a:ext cx="3017520" cy="713232"/>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Fit + penalty on coefficient size</a:t>
            </a:r>
            <a:endParaRPr lang="en-US" sz="1800" dirty="0"/>
          </a:p>
        </p:txBody>
      </p:sp>
      <p:sp>
        <p:nvSpPr>
          <p:cNvPr id="15" name="Text 12"/>
          <p:cNvSpPr txBox="1"/>
          <p:nvPr/>
        </p:nvSpPr>
        <p:spPr>
          <a:xfrm>
            <a:off x="7525512" y="2423160"/>
            <a:ext cx="640080" cy="457200"/>
          </a:xfrm>
          <a:prstGeom prst="rect">
            <a:avLst/>
          </a:prstGeom>
          <a:noFill/>
          <a:ln/>
        </p:spPr>
        <p:txBody>
          <a:bodyPr wrap="square" lIns="0" tIns="0" rIns="0" bIns="0" rtlCol="0" anchor="ctr"/>
          <a:lstStyle/>
          <a:p>
            <a:pPr marL="0" indent="0" algn="ctr">
              <a:buNone/>
            </a:pPr>
            <a:r>
              <a:rPr lang="en-US" sz="2500" b="1" dirty="0">
                <a:solidFill>
                  <a:schemeClr val="accent2"/>
                </a:solidFill>
                <a:latin typeface="Arial" pitchFamily="34" charset="0"/>
                <a:ea typeface="Arial" pitchFamily="34" charset="-122"/>
                <a:cs typeface="Arial" pitchFamily="34" charset="-120"/>
              </a:rPr>
              <a:t>-&gt;</a:t>
            </a:r>
            <a:endParaRPr lang="en-US" sz="2500" dirty="0"/>
          </a:p>
        </p:txBody>
      </p:sp>
      <p:sp>
        <p:nvSpPr>
          <p:cNvPr id="16" name="Text 13"/>
          <p:cNvSpPr txBox="1"/>
          <p:nvPr/>
        </p:nvSpPr>
        <p:spPr>
          <a:xfrm>
            <a:off x="8321040" y="1645920"/>
            <a:ext cx="2926080" cy="438912"/>
          </a:xfrm>
          <a:prstGeom prst="rect">
            <a:avLst/>
          </a:prstGeom>
          <a:noFill/>
          <a:ln/>
        </p:spPr>
        <p:txBody>
          <a:bodyPr wrap="square" lIns="0" tIns="0" rIns="0" bIns="0" rtlCol="0" anchor="ctr"/>
          <a:lstStyle/>
          <a:p>
            <a:pPr marL="0" indent="0" algn="ctr">
              <a:buNone/>
            </a:pPr>
            <a:r>
              <a:rPr lang="en-US" sz="2300" b="1" dirty="0">
                <a:solidFill>
                  <a:schemeClr val="accent2"/>
                </a:solidFill>
                <a:latin typeface="Arial" pitchFamily="34" charset="0"/>
                <a:ea typeface="Arial" pitchFamily="34" charset="-122"/>
                <a:cs typeface="Arial" pitchFamily="34" charset="-120"/>
              </a:rPr>
              <a:t>More stable forecast</a:t>
            </a:r>
            <a:endParaRPr lang="en-US" sz="2300" dirty="0"/>
          </a:p>
        </p:txBody>
      </p:sp>
      <p:sp>
        <p:nvSpPr>
          <p:cNvPr id="17" name="Text 14"/>
          <p:cNvSpPr txBox="1"/>
          <p:nvPr/>
        </p:nvSpPr>
        <p:spPr>
          <a:xfrm>
            <a:off x="8229600" y="2267712"/>
            <a:ext cx="3108960" cy="713232"/>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Coefficients shrink; some become zero</a:t>
            </a:r>
            <a:endParaRPr lang="en-US" sz="1800" dirty="0"/>
          </a:p>
        </p:txBody>
      </p:sp>
      <p:sp>
        <p:nvSpPr>
          <p:cNvPr id="18" name="Shape 15"/>
          <p:cNvSpPr/>
          <p:nvPr/>
        </p:nvSpPr>
        <p:spPr>
          <a:xfrm>
            <a:off x="960120" y="3840480"/>
            <a:ext cx="10241280" cy="960120"/>
          </a:xfrm>
          <a:prstGeom prst="rect">
            <a:avLst/>
          </a:prstGeom>
          <a:solidFill>
            <a:schemeClr val="bg2"/>
          </a:solidFill>
          <a:ln w="15240">
            <a:solidFill>
              <a:schemeClr val="accent1"/>
            </a:solidFill>
            <a:prstDash val="solid"/>
          </a:ln>
        </p:spPr>
      </p:sp>
      <p:sp>
        <p:nvSpPr>
          <p:cNvPr id="19" name="Text 16"/>
          <p:cNvSpPr txBox="1"/>
          <p:nvPr/>
        </p:nvSpPr>
        <p:spPr>
          <a:xfrm>
            <a:off x="1069848" y="3913632"/>
            <a:ext cx="10021824" cy="813816"/>
          </a:xfrm>
          <a:prstGeom prst="rect">
            <a:avLst/>
          </a:prstGeom>
          <a:noFill/>
          <a:ln/>
        </p:spPr>
        <p:txBody>
          <a:bodyPr wrap="square" lIns="0" tIns="0" rIns="0" bIns="0" rtlCol="0" anchor="ctr"/>
          <a:lstStyle/>
          <a:p>
            <a:pPr marL="0" indent="0" algn="ctr">
              <a:buNone/>
            </a:pPr>
            <a:r>
              <a:rPr lang="en-US" sz="2100" dirty="0">
                <a:solidFill>
                  <a:schemeClr val="tx1"/>
                </a:solidFill>
                <a:latin typeface="Arial" pitchFamily="34" charset="0"/>
                <a:ea typeface="Arial" pitchFamily="34" charset="-122"/>
                <a:cs typeface="Arial" pitchFamily="34" charset="-120"/>
              </a:rPr>
              <a:t>Elastic-net objective: prediction error + lambda x [0.5 x L2 penalty + L1 penalty]</a:t>
            </a:r>
            <a:endParaRPr lang="en-US" sz="2100" dirty="0"/>
          </a:p>
        </p:txBody>
      </p:sp>
      <p:sp>
        <p:nvSpPr>
          <p:cNvPr id="20" name="Text 17"/>
          <p:cNvSpPr txBox="1"/>
          <p:nvPr/>
        </p:nvSpPr>
        <p:spPr>
          <a:xfrm>
            <a:off x="1143000" y="5166360"/>
            <a:ext cx="9966960" cy="365760"/>
          </a:xfrm>
          <a:prstGeom prst="rect">
            <a:avLst/>
          </a:prstGeom>
          <a:noFill/>
          <a:ln/>
        </p:spPr>
        <p:txBody>
          <a:bodyPr wrap="square" lIns="0" tIns="0" rIns="0" bIns="0" rtlCol="0" anchor="ctr"/>
          <a:lstStyle/>
          <a:p>
            <a:pPr marL="0" indent="0" algn="ctr">
              <a:buNone/>
            </a:pPr>
            <a:r>
              <a:rPr lang="en-US" sz="1900" dirty="0">
                <a:solidFill>
                  <a:schemeClr val="tx1"/>
                </a:solidFill>
                <a:latin typeface="Arial" pitchFamily="34" charset="0"/>
                <a:ea typeface="Arial" pitchFamily="34" charset="-122"/>
                <a:cs typeface="Arial" pitchFamily="34" charset="-120"/>
              </a:rPr>
              <a:t>Tuning uses past data only: alpha = 0.5; lambda selected by AICc.</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Forecast combination uses individual signals and a holdout-trained selector</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II and Internet Appendix II; Rapach, Strauss, and Zhou (2010)</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12</a:t>
            </a:r>
            <a:endParaRPr lang="en-US" sz="1100" dirty="0"/>
          </a:p>
        </p:txBody>
      </p:sp>
      <p:sp>
        <p:nvSpPr>
          <p:cNvPr id="10" name="Shape 7"/>
          <p:cNvSpPr/>
          <p:nvPr/>
        </p:nvSpPr>
        <p:spPr>
          <a:xfrm>
            <a:off x="777240" y="1783080"/>
            <a:ext cx="2880360" cy="1143000"/>
          </a:xfrm>
          <a:prstGeom prst="rect">
            <a:avLst/>
          </a:prstGeom>
          <a:solidFill>
            <a:schemeClr val="bg2"/>
          </a:solidFill>
          <a:ln w="15240">
            <a:solidFill>
              <a:schemeClr val="accent2"/>
            </a:solidFill>
            <a:prstDash val="solid"/>
          </a:ln>
        </p:spPr>
      </p:sp>
      <p:sp>
        <p:nvSpPr>
          <p:cNvPr id="11" name="Text 8"/>
          <p:cNvSpPr txBox="1"/>
          <p:nvPr/>
        </p:nvSpPr>
        <p:spPr>
          <a:xfrm>
            <a:off x="886968" y="1856232"/>
            <a:ext cx="2660904" cy="996696"/>
          </a:xfrm>
          <a:prstGeom prst="rect">
            <a:avLst/>
          </a:prstGeom>
          <a:noFill/>
          <a:ln/>
        </p:spPr>
        <p:txBody>
          <a:bodyPr wrap="square" lIns="0" tIns="0" rIns="0" bIns="0" rtlCol="0" anchor="ctr"/>
          <a:lstStyle/>
          <a:p>
            <a:pPr marL="0" indent="0" algn="ctr">
              <a:buNone/>
            </a:pPr>
            <a:r>
              <a:rPr lang="en-US" sz="2000" dirty="0">
                <a:solidFill>
                  <a:schemeClr val="tx1"/>
                </a:solidFill>
                <a:latin typeface="Arial" pitchFamily="34" charset="0"/>
                <a:ea typeface="Arial" pitchFamily="34" charset="-122"/>
                <a:cs typeface="Arial" pitchFamily="34" charset="-120"/>
              </a:rPr>
              <a:t>100 anomaly returns</a:t>
            </a:r>
            <a:endParaRPr lang="en-US" sz="2000" dirty="0"/>
          </a:p>
        </p:txBody>
      </p:sp>
      <p:sp>
        <p:nvSpPr>
          <p:cNvPr id="12" name="Shape 9"/>
          <p:cNvSpPr/>
          <p:nvPr/>
        </p:nvSpPr>
        <p:spPr>
          <a:xfrm>
            <a:off x="3730752" y="2359152"/>
            <a:ext cx="521208" cy="0"/>
          </a:xfrm>
          <a:prstGeom prst="line">
            <a:avLst/>
          </a:prstGeom>
          <a:noFill/>
          <a:ln w="25400">
            <a:solidFill>
              <a:schemeClr val="accent2"/>
            </a:solidFill>
            <a:prstDash val="solid"/>
            <a:tailEnd type="triangle"/>
          </a:ln>
        </p:spPr>
      </p:sp>
      <p:sp>
        <p:nvSpPr>
          <p:cNvPr id="13" name="Shape 10"/>
          <p:cNvSpPr/>
          <p:nvPr/>
        </p:nvSpPr>
        <p:spPr>
          <a:xfrm>
            <a:off x="4343400" y="1783080"/>
            <a:ext cx="2880360" cy="1143000"/>
          </a:xfrm>
          <a:prstGeom prst="rect">
            <a:avLst/>
          </a:prstGeom>
          <a:solidFill>
            <a:schemeClr val="bg2"/>
          </a:solidFill>
          <a:ln w="15240">
            <a:solidFill>
              <a:schemeClr val="accent2"/>
            </a:solidFill>
            <a:prstDash val="solid"/>
          </a:ln>
        </p:spPr>
      </p:sp>
      <p:sp>
        <p:nvSpPr>
          <p:cNvPr id="14" name="Text 11"/>
          <p:cNvSpPr txBox="1"/>
          <p:nvPr/>
        </p:nvSpPr>
        <p:spPr>
          <a:xfrm>
            <a:off x="4453128" y="1856232"/>
            <a:ext cx="2660904" cy="996696"/>
          </a:xfrm>
          <a:prstGeom prst="rect">
            <a:avLst/>
          </a:prstGeom>
          <a:noFill/>
          <a:ln/>
        </p:spPr>
        <p:txBody>
          <a:bodyPr wrap="square" lIns="0" tIns="0" rIns="0" bIns="0" rtlCol="0" anchor="ctr"/>
          <a:lstStyle/>
          <a:p>
            <a:pPr marL="0" indent="0" algn="ctr">
              <a:buNone/>
            </a:pPr>
            <a:r>
              <a:rPr lang="en-US" sz="2000" dirty="0">
                <a:solidFill>
                  <a:schemeClr val="tx1"/>
                </a:solidFill>
                <a:latin typeface="Arial" pitchFamily="34" charset="0"/>
                <a:ea typeface="Arial" pitchFamily="34" charset="-122"/>
                <a:cs typeface="Arial" pitchFamily="34" charset="-120"/>
              </a:rPr>
              <a:t>100 univariate</a:t>
            </a:r>
            <a:endParaRPr lang="en-US" sz="2000" dirty="0"/>
          </a:p>
          <a:p>
            <a:pPr marL="0" indent="0" algn="ctr">
              <a:buNone/>
            </a:pPr>
            <a:r>
              <a:rPr lang="en-US" sz="2000" dirty="0">
                <a:solidFill>
                  <a:schemeClr val="tx1"/>
                </a:solidFill>
                <a:latin typeface="Arial" pitchFamily="34" charset="0"/>
                <a:ea typeface="Arial" pitchFamily="34" charset="-122"/>
                <a:cs typeface="Arial" pitchFamily="34" charset="-120"/>
              </a:rPr>
              <a:t>OLS forecasts</a:t>
            </a:r>
            <a:endParaRPr lang="en-US" sz="2000" dirty="0"/>
          </a:p>
        </p:txBody>
      </p:sp>
      <p:sp>
        <p:nvSpPr>
          <p:cNvPr id="15" name="Shape 12"/>
          <p:cNvSpPr/>
          <p:nvPr/>
        </p:nvSpPr>
        <p:spPr>
          <a:xfrm>
            <a:off x="7296912" y="2359152"/>
            <a:ext cx="521208" cy="0"/>
          </a:xfrm>
          <a:prstGeom prst="line">
            <a:avLst/>
          </a:prstGeom>
          <a:noFill/>
          <a:ln w="25400">
            <a:solidFill>
              <a:schemeClr val="accent2"/>
            </a:solidFill>
            <a:prstDash val="solid"/>
            <a:tailEnd type="triangle"/>
          </a:ln>
        </p:spPr>
      </p:sp>
      <p:sp>
        <p:nvSpPr>
          <p:cNvPr id="16" name="Shape 13"/>
          <p:cNvSpPr/>
          <p:nvPr/>
        </p:nvSpPr>
        <p:spPr>
          <a:xfrm>
            <a:off x="7909560" y="1783080"/>
            <a:ext cx="3429000" cy="1143000"/>
          </a:xfrm>
          <a:prstGeom prst="rect">
            <a:avLst/>
          </a:prstGeom>
          <a:solidFill>
            <a:schemeClr val="bg2"/>
          </a:solidFill>
          <a:ln w="15240">
            <a:solidFill>
              <a:schemeClr val="accent3"/>
            </a:solidFill>
            <a:prstDash val="solid"/>
          </a:ln>
        </p:spPr>
      </p:sp>
      <p:sp>
        <p:nvSpPr>
          <p:cNvPr id="17" name="Text 14"/>
          <p:cNvSpPr txBox="1"/>
          <p:nvPr/>
        </p:nvSpPr>
        <p:spPr>
          <a:xfrm>
            <a:off x="8019288" y="1856232"/>
            <a:ext cx="3209544" cy="99669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Average all -&gt; Combine</a:t>
            </a:r>
            <a:endParaRPr lang="en-US" sz="1800" dirty="0"/>
          </a:p>
          <a:p>
            <a:pPr marL="0" indent="0" algn="ctr">
              <a:buNone/>
            </a:pPr>
            <a:r>
              <a:rPr lang="en-US" sz="1800" dirty="0">
                <a:solidFill>
                  <a:schemeClr val="tx1"/>
                </a:solidFill>
                <a:latin typeface="Arial" pitchFamily="34" charset="0"/>
                <a:ea typeface="Arial" pitchFamily="34" charset="-122"/>
                <a:cs typeface="Arial" pitchFamily="34" charset="-120"/>
              </a:rPr>
              <a:t>Select in holdout -&gt; C-ENet</a:t>
            </a:r>
            <a:endParaRPr lang="en-US" sz="1800" dirty="0"/>
          </a:p>
        </p:txBody>
      </p:sp>
      <p:sp>
        <p:nvSpPr>
          <p:cNvPr id="18" name="Text 15"/>
          <p:cNvSpPr txBox="1"/>
          <p:nvPr/>
        </p:nvSpPr>
        <p:spPr>
          <a:xfrm>
            <a:off x="914400" y="3657600"/>
            <a:ext cx="3017520" cy="347472"/>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Simple combination</a:t>
            </a:r>
            <a:endParaRPr lang="en-US" sz="1800" dirty="0"/>
          </a:p>
        </p:txBody>
      </p:sp>
      <p:sp>
        <p:nvSpPr>
          <p:cNvPr id="19" name="Text 16"/>
          <p:cNvSpPr txBox="1"/>
          <p:nvPr/>
        </p:nvSpPr>
        <p:spPr>
          <a:xfrm>
            <a:off x="914400" y="4087368"/>
            <a:ext cx="4389120" cy="475488"/>
          </a:xfrm>
          <a:prstGeom prst="rect">
            <a:avLst/>
          </a:prstGeom>
          <a:noFill/>
          <a:ln/>
        </p:spPr>
        <p:txBody>
          <a:bodyPr wrap="square" lIns="0" tIns="0" rIns="0" bIns="0" rtlCol="0" anchor="ctr"/>
          <a:lstStyle/>
          <a:p>
            <a:pPr marL="0" indent="0">
              <a:buNone/>
            </a:pPr>
            <a:r>
              <a:rPr lang="en-US" sz="2000" dirty="0">
                <a:solidFill>
                  <a:schemeClr val="tx1"/>
                </a:solidFill>
                <a:latin typeface="Arial" pitchFamily="34" charset="0"/>
                <a:ea typeface="Arial" pitchFamily="34" charset="-122"/>
                <a:cs typeface="Arial" pitchFamily="34" charset="-120"/>
              </a:rPr>
              <a:t>Equal-weight mean of individual forecasts</a:t>
            </a:r>
            <a:endParaRPr lang="en-US" sz="2000" dirty="0"/>
          </a:p>
        </p:txBody>
      </p:sp>
      <p:sp>
        <p:nvSpPr>
          <p:cNvPr id="20" name="Text 17"/>
          <p:cNvSpPr txBox="1"/>
          <p:nvPr/>
        </p:nvSpPr>
        <p:spPr>
          <a:xfrm>
            <a:off x="6217920" y="3657600"/>
            <a:ext cx="3108960" cy="347472"/>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Combination ENet</a:t>
            </a:r>
            <a:endParaRPr lang="en-US" sz="1800" dirty="0"/>
          </a:p>
        </p:txBody>
      </p:sp>
      <p:sp>
        <p:nvSpPr>
          <p:cNvPr id="21" name="Text 18"/>
          <p:cNvSpPr txBox="1"/>
          <p:nvPr/>
        </p:nvSpPr>
        <p:spPr>
          <a:xfrm>
            <a:off x="6217920" y="4087368"/>
            <a:ext cx="4800600" cy="777240"/>
          </a:xfrm>
          <a:prstGeom prst="rect">
            <a:avLst/>
          </a:prstGeom>
          <a:noFill/>
          <a:ln/>
        </p:spPr>
        <p:txBody>
          <a:bodyPr wrap="square" lIns="0" tIns="0" rIns="0" bIns="0" rtlCol="0" anchor="ctr"/>
          <a:lstStyle/>
          <a:p>
            <a:pPr marL="0" indent="0">
              <a:buNone/>
            </a:pPr>
            <a:r>
              <a:rPr lang="en-US" sz="1900" dirty="0">
                <a:solidFill>
                  <a:schemeClr val="tx1"/>
                </a:solidFill>
                <a:latin typeface="Arial" pitchFamily="34" charset="0"/>
                <a:ea typeface="Arial" pitchFamily="34" charset="-122"/>
                <a:cs typeface="Arial" pitchFamily="34" charset="-120"/>
              </a:rPr>
              <a:t>Use 1980-84 realized outcomes to select useful forecasts; average those selected.</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Averages, PCA, and PLS reduce the predictor set in different ways</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II and Internet Appendix II; Kelly and Pruitt (2015)</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13</a:t>
            </a:r>
            <a:endParaRPr lang="en-US" sz="1100" dirty="0"/>
          </a:p>
        </p:txBody>
      </p:sp>
      <p:sp>
        <p:nvSpPr>
          <p:cNvPr id="10" name="Text 7"/>
          <p:cNvSpPr txBox="1"/>
          <p:nvPr/>
        </p:nvSpPr>
        <p:spPr>
          <a:xfrm>
            <a:off x="777240" y="1737360"/>
            <a:ext cx="3291840" cy="411480"/>
          </a:xfrm>
          <a:prstGeom prst="rect">
            <a:avLst/>
          </a:prstGeom>
          <a:noFill/>
          <a:ln/>
        </p:spPr>
        <p:txBody>
          <a:bodyPr wrap="square" lIns="0" tIns="0" rIns="0" bIns="0" rtlCol="0" anchor="ctr"/>
          <a:lstStyle/>
          <a:p>
            <a:pPr marL="0" indent="0" algn="ctr">
              <a:buNone/>
            </a:pPr>
            <a:r>
              <a:rPr lang="en-US" sz="2000" b="1" dirty="0">
                <a:solidFill>
                  <a:schemeClr val="accent1"/>
                </a:solidFill>
                <a:latin typeface="Arial" pitchFamily="34" charset="0"/>
                <a:ea typeface="Arial" pitchFamily="34" charset="-122"/>
                <a:cs typeface="Arial" pitchFamily="34" charset="-120"/>
              </a:rPr>
              <a:t>AVERAGE</a:t>
            </a:r>
            <a:endParaRPr lang="en-US" sz="2000" dirty="0"/>
          </a:p>
        </p:txBody>
      </p:sp>
      <p:sp>
        <p:nvSpPr>
          <p:cNvPr id="11" name="Shape 8"/>
          <p:cNvSpPr/>
          <p:nvPr/>
        </p:nvSpPr>
        <p:spPr>
          <a:xfrm>
            <a:off x="777240" y="2331720"/>
            <a:ext cx="3291840" cy="1097280"/>
          </a:xfrm>
          <a:prstGeom prst="rect">
            <a:avLst/>
          </a:prstGeom>
          <a:solidFill>
            <a:schemeClr val="bg2"/>
          </a:solidFill>
          <a:ln w="15240">
            <a:solidFill>
              <a:schemeClr val="accent2"/>
            </a:solidFill>
            <a:prstDash val="solid"/>
          </a:ln>
        </p:spPr>
      </p:sp>
      <p:sp>
        <p:nvSpPr>
          <p:cNvPr id="12" name="Text 9"/>
          <p:cNvSpPr txBox="1"/>
          <p:nvPr/>
        </p:nvSpPr>
        <p:spPr>
          <a:xfrm>
            <a:off x="886968" y="2404872"/>
            <a:ext cx="3072384" cy="950976"/>
          </a:xfrm>
          <a:prstGeom prst="rect">
            <a:avLst/>
          </a:prstGeom>
          <a:noFill/>
          <a:ln/>
        </p:spPr>
        <p:txBody>
          <a:bodyPr wrap="square" lIns="0" tIns="0" rIns="0" bIns="0" rtlCol="0" anchor="ctr"/>
          <a:lstStyle/>
          <a:p>
            <a:pPr marL="0" indent="0" algn="ctr">
              <a:buNone/>
            </a:pPr>
            <a:r>
              <a:rPr lang="en-US" sz="1900" dirty="0">
                <a:solidFill>
                  <a:schemeClr val="tx1"/>
                </a:solidFill>
                <a:latin typeface="Arial" pitchFamily="34" charset="0"/>
                <a:ea typeface="Arial" pitchFamily="34" charset="-122"/>
                <a:cs typeface="Arial" pitchFamily="34" charset="-120"/>
              </a:rPr>
              <a:t>Equal weight</a:t>
            </a:r>
            <a:endParaRPr lang="en-US" sz="1900" dirty="0"/>
          </a:p>
          <a:p>
            <a:pPr marL="0" indent="0" algn="ctr">
              <a:buNone/>
            </a:pPr>
            <a:r>
              <a:rPr lang="en-US" sz="1900" dirty="0">
                <a:solidFill>
                  <a:schemeClr val="tx1"/>
                </a:solidFill>
                <a:latin typeface="Arial" pitchFamily="34" charset="0"/>
                <a:ea typeface="Arial" pitchFamily="34" charset="-122"/>
                <a:cs typeface="Arial" pitchFamily="34" charset="-120"/>
              </a:rPr>
              <a:t>all signals</a:t>
            </a:r>
            <a:endParaRPr lang="en-US" sz="1900" dirty="0"/>
          </a:p>
        </p:txBody>
      </p:sp>
      <p:sp>
        <p:nvSpPr>
          <p:cNvPr id="13" name="Shape 10"/>
          <p:cNvSpPr/>
          <p:nvPr/>
        </p:nvSpPr>
        <p:spPr>
          <a:xfrm>
            <a:off x="2423160" y="3520440"/>
            <a:ext cx="0" cy="457200"/>
          </a:xfrm>
          <a:prstGeom prst="line">
            <a:avLst/>
          </a:prstGeom>
          <a:noFill/>
          <a:ln w="22860">
            <a:solidFill>
              <a:schemeClr val="accent2"/>
            </a:solidFill>
            <a:prstDash val="solid"/>
            <a:tailEnd type="triangle"/>
          </a:ln>
        </p:spPr>
      </p:sp>
      <p:sp>
        <p:nvSpPr>
          <p:cNvPr id="14" name="Shape 11"/>
          <p:cNvSpPr/>
          <p:nvPr/>
        </p:nvSpPr>
        <p:spPr>
          <a:xfrm>
            <a:off x="941832" y="4096512"/>
            <a:ext cx="2962656" cy="731520"/>
          </a:xfrm>
          <a:prstGeom prst="rect">
            <a:avLst/>
          </a:prstGeom>
          <a:solidFill>
            <a:schemeClr val="bg1"/>
          </a:solidFill>
          <a:ln w="15240">
            <a:solidFill>
              <a:schemeClr val="accent2"/>
            </a:solidFill>
            <a:prstDash val="solid"/>
          </a:ln>
        </p:spPr>
      </p:sp>
      <p:sp>
        <p:nvSpPr>
          <p:cNvPr id="15" name="Text 12"/>
          <p:cNvSpPr txBox="1"/>
          <p:nvPr/>
        </p:nvSpPr>
        <p:spPr>
          <a:xfrm>
            <a:off x="1051560" y="4169664"/>
            <a:ext cx="2743200" cy="58521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One factor -&gt; forecast</a:t>
            </a:r>
            <a:endParaRPr lang="en-US" sz="1800" dirty="0"/>
          </a:p>
        </p:txBody>
      </p:sp>
      <p:sp>
        <p:nvSpPr>
          <p:cNvPr id="16" name="Text 13"/>
          <p:cNvSpPr txBox="1"/>
          <p:nvPr/>
        </p:nvSpPr>
        <p:spPr>
          <a:xfrm>
            <a:off x="4599432" y="1737360"/>
            <a:ext cx="3291840" cy="411480"/>
          </a:xfrm>
          <a:prstGeom prst="rect">
            <a:avLst/>
          </a:prstGeom>
          <a:noFill/>
          <a:ln/>
        </p:spPr>
        <p:txBody>
          <a:bodyPr wrap="square" lIns="0" tIns="0" rIns="0" bIns="0" rtlCol="0" anchor="ctr"/>
          <a:lstStyle/>
          <a:p>
            <a:pPr marL="0" indent="0" algn="ctr">
              <a:buNone/>
            </a:pPr>
            <a:r>
              <a:rPr lang="en-US" sz="2000" b="1" dirty="0">
                <a:solidFill>
                  <a:schemeClr val="accent1"/>
                </a:solidFill>
                <a:latin typeface="Arial" pitchFamily="34" charset="0"/>
                <a:ea typeface="Arial" pitchFamily="34" charset="-122"/>
                <a:cs typeface="Arial" pitchFamily="34" charset="-120"/>
              </a:rPr>
              <a:t>PCA</a:t>
            </a:r>
            <a:endParaRPr lang="en-US" sz="2000" dirty="0"/>
          </a:p>
        </p:txBody>
      </p:sp>
      <p:sp>
        <p:nvSpPr>
          <p:cNvPr id="17" name="Shape 14"/>
          <p:cNvSpPr/>
          <p:nvPr/>
        </p:nvSpPr>
        <p:spPr>
          <a:xfrm>
            <a:off x="4599432" y="2331720"/>
            <a:ext cx="3291840" cy="1097280"/>
          </a:xfrm>
          <a:prstGeom prst="rect">
            <a:avLst/>
          </a:prstGeom>
          <a:solidFill>
            <a:schemeClr val="bg2"/>
          </a:solidFill>
          <a:ln w="15240">
            <a:solidFill>
              <a:schemeClr val="accent2"/>
            </a:solidFill>
            <a:prstDash val="solid"/>
          </a:ln>
        </p:spPr>
      </p:sp>
      <p:sp>
        <p:nvSpPr>
          <p:cNvPr id="18" name="Text 15"/>
          <p:cNvSpPr txBox="1"/>
          <p:nvPr/>
        </p:nvSpPr>
        <p:spPr>
          <a:xfrm>
            <a:off x="4709160" y="2404872"/>
            <a:ext cx="3072384" cy="950976"/>
          </a:xfrm>
          <a:prstGeom prst="rect">
            <a:avLst/>
          </a:prstGeom>
          <a:noFill/>
          <a:ln/>
        </p:spPr>
        <p:txBody>
          <a:bodyPr wrap="square" lIns="0" tIns="0" rIns="0" bIns="0" rtlCol="0" anchor="ctr"/>
          <a:lstStyle/>
          <a:p>
            <a:pPr marL="0" indent="0" algn="ctr">
              <a:buNone/>
            </a:pPr>
            <a:r>
              <a:rPr lang="en-US" sz="1900" dirty="0">
                <a:solidFill>
                  <a:schemeClr val="tx1"/>
                </a:solidFill>
                <a:latin typeface="Arial" pitchFamily="34" charset="0"/>
                <a:ea typeface="Arial" pitchFamily="34" charset="-122"/>
                <a:cs typeface="Arial" pitchFamily="34" charset="-120"/>
              </a:rPr>
              <a:t>Maximize variance</a:t>
            </a:r>
            <a:endParaRPr lang="en-US" sz="1900" dirty="0"/>
          </a:p>
          <a:p>
            <a:pPr marL="0" indent="0" algn="ctr">
              <a:buNone/>
            </a:pPr>
            <a:r>
              <a:rPr lang="en-US" sz="1900" dirty="0">
                <a:solidFill>
                  <a:schemeClr val="tx1"/>
                </a:solidFill>
                <a:latin typeface="Arial" pitchFamily="34" charset="0"/>
                <a:ea typeface="Arial" pitchFamily="34" charset="-122"/>
                <a:cs typeface="Arial" pitchFamily="34" charset="-120"/>
              </a:rPr>
              <a:t>in X</a:t>
            </a:r>
            <a:endParaRPr lang="en-US" sz="1900" dirty="0"/>
          </a:p>
        </p:txBody>
      </p:sp>
      <p:sp>
        <p:nvSpPr>
          <p:cNvPr id="19" name="Shape 16"/>
          <p:cNvSpPr/>
          <p:nvPr/>
        </p:nvSpPr>
        <p:spPr>
          <a:xfrm>
            <a:off x="6245352" y="3520440"/>
            <a:ext cx="0" cy="457200"/>
          </a:xfrm>
          <a:prstGeom prst="line">
            <a:avLst/>
          </a:prstGeom>
          <a:noFill/>
          <a:ln w="22860">
            <a:solidFill>
              <a:schemeClr val="accent2"/>
            </a:solidFill>
            <a:prstDash val="solid"/>
            <a:tailEnd type="triangle"/>
          </a:ln>
        </p:spPr>
      </p:sp>
      <p:sp>
        <p:nvSpPr>
          <p:cNvPr id="20" name="Shape 17"/>
          <p:cNvSpPr/>
          <p:nvPr/>
        </p:nvSpPr>
        <p:spPr>
          <a:xfrm>
            <a:off x="4764024" y="4096512"/>
            <a:ext cx="2962656" cy="731520"/>
          </a:xfrm>
          <a:prstGeom prst="rect">
            <a:avLst/>
          </a:prstGeom>
          <a:solidFill>
            <a:schemeClr val="bg1"/>
          </a:solidFill>
          <a:ln w="15240">
            <a:solidFill>
              <a:schemeClr val="accent2"/>
            </a:solidFill>
            <a:prstDash val="solid"/>
          </a:ln>
        </p:spPr>
      </p:sp>
      <p:sp>
        <p:nvSpPr>
          <p:cNvPr id="21" name="Text 18"/>
          <p:cNvSpPr txBox="1"/>
          <p:nvPr/>
        </p:nvSpPr>
        <p:spPr>
          <a:xfrm>
            <a:off x="4873752" y="4169664"/>
            <a:ext cx="2743200" cy="58521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One factor -&gt; forecast</a:t>
            </a:r>
            <a:endParaRPr lang="en-US" sz="1800" dirty="0"/>
          </a:p>
        </p:txBody>
      </p:sp>
      <p:sp>
        <p:nvSpPr>
          <p:cNvPr id="22" name="Text 19"/>
          <p:cNvSpPr txBox="1"/>
          <p:nvPr/>
        </p:nvSpPr>
        <p:spPr>
          <a:xfrm>
            <a:off x="8421624" y="1737360"/>
            <a:ext cx="3291840" cy="411480"/>
          </a:xfrm>
          <a:prstGeom prst="rect">
            <a:avLst/>
          </a:prstGeom>
          <a:noFill/>
          <a:ln/>
        </p:spPr>
        <p:txBody>
          <a:bodyPr wrap="square" lIns="0" tIns="0" rIns="0" bIns="0" rtlCol="0" anchor="ctr"/>
          <a:lstStyle/>
          <a:p>
            <a:pPr marL="0" indent="0" algn="ctr">
              <a:buNone/>
            </a:pPr>
            <a:r>
              <a:rPr lang="en-US" sz="2000" b="1" dirty="0">
                <a:solidFill>
                  <a:schemeClr val="accent3"/>
                </a:solidFill>
                <a:latin typeface="Arial" pitchFamily="34" charset="0"/>
                <a:ea typeface="Arial" pitchFamily="34" charset="-122"/>
                <a:cs typeface="Arial" pitchFamily="34" charset="-120"/>
              </a:rPr>
              <a:t>PLS</a:t>
            </a:r>
            <a:endParaRPr lang="en-US" sz="2000" dirty="0"/>
          </a:p>
        </p:txBody>
      </p:sp>
      <p:sp>
        <p:nvSpPr>
          <p:cNvPr id="23" name="Shape 20"/>
          <p:cNvSpPr/>
          <p:nvPr/>
        </p:nvSpPr>
        <p:spPr>
          <a:xfrm>
            <a:off x="8421624" y="2331720"/>
            <a:ext cx="3291840" cy="1097280"/>
          </a:xfrm>
          <a:prstGeom prst="rect">
            <a:avLst/>
          </a:prstGeom>
          <a:solidFill>
            <a:schemeClr val="bg2"/>
          </a:solidFill>
          <a:ln w="15240">
            <a:solidFill>
              <a:schemeClr val="accent2"/>
            </a:solidFill>
            <a:prstDash val="solid"/>
          </a:ln>
        </p:spPr>
      </p:sp>
      <p:sp>
        <p:nvSpPr>
          <p:cNvPr id="24" name="Text 21"/>
          <p:cNvSpPr txBox="1"/>
          <p:nvPr/>
        </p:nvSpPr>
        <p:spPr>
          <a:xfrm>
            <a:off x="8531352" y="2404872"/>
            <a:ext cx="3072384" cy="950976"/>
          </a:xfrm>
          <a:prstGeom prst="rect">
            <a:avLst/>
          </a:prstGeom>
          <a:noFill/>
          <a:ln/>
        </p:spPr>
        <p:txBody>
          <a:bodyPr wrap="square" lIns="0" tIns="0" rIns="0" bIns="0" rtlCol="0" anchor="ctr"/>
          <a:lstStyle/>
          <a:p>
            <a:pPr marL="0" indent="0" algn="ctr">
              <a:buNone/>
            </a:pPr>
            <a:r>
              <a:rPr lang="en-US" sz="1900" dirty="0">
                <a:solidFill>
                  <a:schemeClr val="tx1"/>
                </a:solidFill>
                <a:latin typeface="Arial" pitchFamily="34" charset="0"/>
                <a:ea typeface="Arial" pitchFamily="34" charset="-122"/>
                <a:cs typeface="Arial" pitchFamily="34" charset="-120"/>
              </a:rPr>
              <a:t>Maximize relevance</a:t>
            </a:r>
            <a:endParaRPr lang="en-US" sz="1900" dirty="0"/>
          </a:p>
          <a:p>
            <a:pPr marL="0" indent="0" algn="ctr">
              <a:buNone/>
            </a:pPr>
            <a:r>
              <a:rPr lang="en-US" sz="1900" dirty="0">
                <a:solidFill>
                  <a:schemeClr val="tx1"/>
                </a:solidFill>
                <a:latin typeface="Arial" pitchFamily="34" charset="0"/>
                <a:ea typeface="Arial" pitchFamily="34" charset="-122"/>
                <a:cs typeface="Arial" pitchFamily="34" charset="-120"/>
              </a:rPr>
              <a:t>for market return</a:t>
            </a:r>
            <a:endParaRPr lang="en-US" sz="1900" dirty="0"/>
          </a:p>
        </p:txBody>
      </p:sp>
      <p:sp>
        <p:nvSpPr>
          <p:cNvPr id="25" name="Shape 22"/>
          <p:cNvSpPr/>
          <p:nvPr/>
        </p:nvSpPr>
        <p:spPr>
          <a:xfrm>
            <a:off x="10067544" y="3520440"/>
            <a:ext cx="0" cy="457200"/>
          </a:xfrm>
          <a:prstGeom prst="line">
            <a:avLst/>
          </a:prstGeom>
          <a:noFill/>
          <a:ln w="22860">
            <a:solidFill>
              <a:schemeClr val="accent2"/>
            </a:solidFill>
            <a:prstDash val="solid"/>
            <a:tailEnd type="triangle"/>
          </a:ln>
        </p:spPr>
      </p:sp>
      <p:sp>
        <p:nvSpPr>
          <p:cNvPr id="26" name="Shape 23"/>
          <p:cNvSpPr/>
          <p:nvPr/>
        </p:nvSpPr>
        <p:spPr>
          <a:xfrm>
            <a:off x="8586216" y="4096512"/>
            <a:ext cx="2962656" cy="731520"/>
          </a:xfrm>
          <a:prstGeom prst="rect">
            <a:avLst/>
          </a:prstGeom>
          <a:solidFill>
            <a:schemeClr val="bg1"/>
          </a:solidFill>
          <a:ln w="15240">
            <a:solidFill>
              <a:schemeClr val="accent2"/>
            </a:solidFill>
            <a:prstDash val="solid"/>
          </a:ln>
        </p:spPr>
      </p:sp>
      <p:sp>
        <p:nvSpPr>
          <p:cNvPr id="27" name="Text 24"/>
          <p:cNvSpPr txBox="1"/>
          <p:nvPr/>
        </p:nvSpPr>
        <p:spPr>
          <a:xfrm>
            <a:off x="8695944" y="4169664"/>
            <a:ext cx="2743200" cy="585216"/>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One factor -&gt; forecast</a:t>
            </a:r>
            <a:endParaRPr lang="en-US" sz="1800" dirty="0"/>
          </a:p>
        </p:txBody>
      </p:sp>
      <p:sp>
        <p:nvSpPr>
          <p:cNvPr id="28" name="Text 25"/>
          <p:cNvSpPr txBox="1"/>
          <p:nvPr/>
        </p:nvSpPr>
        <p:spPr>
          <a:xfrm>
            <a:off x="1051560" y="5285232"/>
            <a:ext cx="10058400" cy="365760"/>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All components are recomputed using data available at each forecast origin.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Forecast skill is measured against the prevailing historical mean</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II; Campbell and Thompson (2008); Clark and West (2007)</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14</a:t>
            </a:r>
            <a:endParaRPr lang="en-US" sz="1100" dirty="0"/>
          </a:p>
        </p:txBody>
      </p:sp>
      <p:sp>
        <p:nvSpPr>
          <p:cNvPr id="10" name="Shape 7"/>
          <p:cNvSpPr/>
          <p:nvPr/>
        </p:nvSpPr>
        <p:spPr>
          <a:xfrm>
            <a:off x="713232" y="1737360"/>
            <a:ext cx="3520440" cy="1874520"/>
          </a:xfrm>
          <a:prstGeom prst="rect">
            <a:avLst/>
          </a:prstGeom>
          <a:solidFill>
            <a:schemeClr val="bg2"/>
          </a:solidFill>
          <a:ln w="15240">
            <a:solidFill>
              <a:schemeClr val="accent2"/>
            </a:solidFill>
            <a:prstDash val="solid"/>
          </a:ln>
        </p:spPr>
      </p:sp>
      <p:sp>
        <p:nvSpPr>
          <p:cNvPr id="11" name="Text 8"/>
          <p:cNvSpPr txBox="1"/>
          <p:nvPr/>
        </p:nvSpPr>
        <p:spPr>
          <a:xfrm>
            <a:off x="822960" y="1810512"/>
            <a:ext cx="3300984" cy="1728216"/>
          </a:xfrm>
          <a:prstGeom prst="rect">
            <a:avLst/>
          </a:prstGeom>
          <a:noFill/>
          <a:ln/>
        </p:spPr>
        <p:txBody>
          <a:bodyPr wrap="square" lIns="0" tIns="0" rIns="0" bIns="0" rtlCol="0" anchor="ctr"/>
          <a:lstStyle/>
          <a:p>
            <a:pPr marL="0" indent="0" algn="ctr">
              <a:buNone/>
            </a:pPr>
            <a:r>
              <a:rPr lang="en-US" sz="2000" dirty="0">
                <a:solidFill>
                  <a:schemeClr val="tx1"/>
                </a:solidFill>
                <a:latin typeface="Arial" pitchFamily="34" charset="0"/>
                <a:ea typeface="Arial" pitchFamily="34" charset="-122"/>
                <a:cs typeface="Arial" pitchFamily="34" charset="-120"/>
              </a:rPr>
              <a:t>ACCURACY</a:t>
            </a:r>
            <a:endParaRPr lang="en-US" sz="2000" dirty="0"/>
          </a:p>
          <a:p>
            <a:pPr marL="0" indent="0" algn="ctr">
              <a:buNone/>
            </a:pPr>
            <a:r>
              <a:rPr lang="en-US" sz="2000" dirty="0">
                <a:solidFill>
                  <a:schemeClr val="tx1"/>
                </a:solidFill>
                <a:latin typeface="Arial" pitchFamily="34" charset="0"/>
                <a:ea typeface="Arial" pitchFamily="34" charset="-122"/>
                <a:cs typeface="Arial" pitchFamily="34" charset="-120"/>
              </a:rPr>
              <a:t>R2_OS = 1 - MSFE_model / MSFE_mean</a:t>
            </a:r>
            <a:endParaRPr lang="en-US" sz="2000" dirty="0"/>
          </a:p>
        </p:txBody>
      </p:sp>
      <p:sp>
        <p:nvSpPr>
          <p:cNvPr id="12" name="Shape 9"/>
          <p:cNvSpPr/>
          <p:nvPr/>
        </p:nvSpPr>
        <p:spPr>
          <a:xfrm>
            <a:off x="4370832" y="1737360"/>
            <a:ext cx="3520440" cy="1874520"/>
          </a:xfrm>
          <a:prstGeom prst="rect">
            <a:avLst/>
          </a:prstGeom>
          <a:solidFill>
            <a:schemeClr val="bg2"/>
          </a:solidFill>
          <a:ln w="15240">
            <a:solidFill>
              <a:schemeClr val="accent2"/>
            </a:solidFill>
            <a:prstDash val="solid"/>
          </a:ln>
        </p:spPr>
      </p:sp>
      <p:sp>
        <p:nvSpPr>
          <p:cNvPr id="13" name="Text 10"/>
          <p:cNvSpPr txBox="1"/>
          <p:nvPr/>
        </p:nvSpPr>
        <p:spPr>
          <a:xfrm>
            <a:off x="4480560" y="1810512"/>
            <a:ext cx="3300984" cy="1728216"/>
          </a:xfrm>
          <a:prstGeom prst="rect">
            <a:avLst/>
          </a:prstGeom>
          <a:noFill/>
          <a:ln/>
        </p:spPr>
        <p:txBody>
          <a:bodyPr wrap="square" lIns="0" tIns="0" rIns="0" bIns="0" rtlCol="0" anchor="ctr"/>
          <a:lstStyle/>
          <a:p>
            <a:pPr marL="0" indent="0" algn="ctr">
              <a:buNone/>
            </a:pPr>
            <a:r>
              <a:rPr lang="en-US" sz="2000" dirty="0">
                <a:solidFill>
                  <a:schemeClr val="tx1"/>
                </a:solidFill>
                <a:latin typeface="Arial" pitchFamily="34" charset="0"/>
                <a:ea typeface="Arial" pitchFamily="34" charset="-122"/>
                <a:cs typeface="Arial" pitchFamily="34" charset="-120"/>
              </a:rPr>
              <a:t>SIGNIFICANCE</a:t>
            </a:r>
            <a:endParaRPr lang="en-US" sz="2000" dirty="0"/>
          </a:p>
          <a:p>
            <a:pPr marL="0" indent="0" algn="ctr">
              <a:buNone/>
            </a:pPr>
            <a:r>
              <a:rPr lang="en-US" sz="2000" dirty="0">
                <a:solidFill>
                  <a:schemeClr val="tx1"/>
                </a:solidFill>
                <a:latin typeface="Arial" pitchFamily="34" charset="0"/>
                <a:ea typeface="Arial" pitchFamily="34" charset="-122"/>
                <a:cs typeface="Arial" pitchFamily="34" charset="-120"/>
              </a:rPr>
              <a:t>Clark-West test</a:t>
            </a:r>
            <a:endParaRPr lang="en-US" sz="2000" dirty="0"/>
          </a:p>
          <a:p>
            <a:pPr marL="0" indent="0" algn="ctr">
              <a:buNone/>
            </a:pPr>
            <a:r>
              <a:rPr lang="en-US" sz="2000" dirty="0">
                <a:solidFill>
                  <a:schemeClr val="tx1"/>
                </a:solidFill>
                <a:latin typeface="Arial" pitchFamily="34" charset="0"/>
                <a:ea typeface="Arial" pitchFamily="34" charset="-122"/>
                <a:cs typeface="Arial" pitchFamily="34" charset="-120"/>
              </a:rPr>
              <a:t>HAC standard errors</a:t>
            </a:r>
            <a:endParaRPr lang="en-US" sz="2000" dirty="0"/>
          </a:p>
        </p:txBody>
      </p:sp>
      <p:sp>
        <p:nvSpPr>
          <p:cNvPr id="14" name="Shape 11"/>
          <p:cNvSpPr/>
          <p:nvPr/>
        </p:nvSpPr>
        <p:spPr>
          <a:xfrm>
            <a:off x="8028432" y="1737360"/>
            <a:ext cx="3474720" cy="1874520"/>
          </a:xfrm>
          <a:prstGeom prst="rect">
            <a:avLst/>
          </a:prstGeom>
          <a:solidFill>
            <a:schemeClr val="bg2"/>
          </a:solidFill>
          <a:ln w="15240">
            <a:solidFill>
              <a:schemeClr val="accent2"/>
            </a:solidFill>
            <a:prstDash val="solid"/>
          </a:ln>
        </p:spPr>
      </p:sp>
      <p:sp>
        <p:nvSpPr>
          <p:cNvPr id="15" name="Text 12"/>
          <p:cNvSpPr txBox="1"/>
          <p:nvPr/>
        </p:nvSpPr>
        <p:spPr>
          <a:xfrm>
            <a:off x="8138160" y="1810512"/>
            <a:ext cx="3255264" cy="1728216"/>
          </a:xfrm>
          <a:prstGeom prst="rect">
            <a:avLst/>
          </a:prstGeom>
          <a:noFill/>
          <a:ln/>
        </p:spPr>
        <p:txBody>
          <a:bodyPr wrap="square" lIns="0" tIns="0" rIns="0" bIns="0" rtlCol="0" anchor="ctr"/>
          <a:lstStyle/>
          <a:p>
            <a:pPr marL="0" indent="0" algn="ctr">
              <a:buNone/>
            </a:pPr>
            <a:r>
              <a:rPr lang="en-US" sz="2000" dirty="0">
                <a:solidFill>
                  <a:schemeClr val="tx1"/>
                </a:solidFill>
                <a:latin typeface="Arial" pitchFamily="34" charset="0"/>
                <a:ea typeface="Arial" pitchFamily="34" charset="-122"/>
                <a:cs typeface="Arial" pitchFamily="34" charset="-120"/>
              </a:rPr>
              <a:t>ECONOMIC VALUE</a:t>
            </a:r>
            <a:endParaRPr lang="en-US" sz="2000" dirty="0"/>
          </a:p>
          <a:p>
            <a:pPr marL="0" indent="0" algn="ctr">
              <a:buNone/>
            </a:pPr>
            <a:r>
              <a:rPr lang="en-US" sz="2000" dirty="0">
                <a:solidFill>
                  <a:schemeClr val="tx1"/>
                </a:solidFill>
                <a:latin typeface="Arial" pitchFamily="34" charset="0"/>
                <a:ea typeface="Arial" pitchFamily="34" charset="-122"/>
                <a:cs typeface="Arial" pitchFamily="34" charset="-120"/>
              </a:rPr>
              <a:t>Mean-variance utility</a:t>
            </a:r>
            <a:endParaRPr lang="en-US" sz="2000" dirty="0"/>
          </a:p>
          <a:p>
            <a:pPr marL="0" indent="0" algn="ctr">
              <a:buNone/>
            </a:pPr>
            <a:r>
              <a:rPr lang="en-US" sz="2000" dirty="0">
                <a:solidFill>
                  <a:schemeClr val="tx1"/>
                </a:solidFill>
                <a:latin typeface="Arial" pitchFamily="34" charset="0"/>
                <a:ea typeface="Arial" pitchFamily="34" charset="-122"/>
                <a:cs typeface="Arial" pitchFamily="34" charset="-120"/>
              </a:rPr>
              <a:t>Risk aversion = 3</a:t>
            </a:r>
            <a:endParaRPr lang="en-US" sz="2000" dirty="0"/>
          </a:p>
        </p:txBody>
      </p:sp>
      <p:sp>
        <p:nvSpPr>
          <p:cNvPr id="16" name="Text 13"/>
          <p:cNvSpPr txBox="1"/>
          <p:nvPr/>
        </p:nvSpPr>
        <p:spPr>
          <a:xfrm>
            <a:off x="1005840" y="4343400"/>
            <a:ext cx="10241280" cy="64008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The monthly market premium is very noisy: a small positive out-of-sample R2 can matter.</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All six overfitting-resistant methods beat the benchmark out of sample</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Table II; replication code, tableOosStatLongShortHorizon01All.csv</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15</a:t>
            </a:r>
            <a:endParaRPr lang="en-US" sz="1100" dirty="0"/>
          </a:p>
        </p:txBody>
      </p:sp>
      <p:graphicFrame>
        <p:nvGraphicFramePr>
          <p:cNvPr id="10" name="Chart 0"/>
          <p:cNvGraphicFramePr/>
          <p:nvPr/>
        </p:nvGraphicFramePr>
        <p:xfrm>
          <a:off x="640080" y="1508760"/>
          <a:ext cx="7406640" cy="406908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7"/>
          <p:cNvSpPr txBox="1"/>
          <p:nvPr/>
        </p:nvSpPr>
        <p:spPr>
          <a:xfrm>
            <a:off x="8458200" y="1828800"/>
            <a:ext cx="2743200" cy="822960"/>
          </a:xfrm>
          <a:prstGeom prst="rect">
            <a:avLst/>
          </a:prstGeom>
          <a:noFill/>
          <a:ln/>
        </p:spPr>
        <p:txBody>
          <a:bodyPr wrap="square" lIns="0" tIns="0" rIns="0" bIns="0" rtlCol="0" anchor="ctr"/>
          <a:lstStyle/>
          <a:p>
            <a:pPr marL="0" indent="0" algn="ctr">
              <a:buNone/>
            </a:pPr>
            <a:r>
              <a:rPr lang="en-US" sz="2400" b="1" dirty="0">
                <a:solidFill>
                  <a:schemeClr val="accent3"/>
                </a:solidFill>
                <a:latin typeface="Arial" pitchFamily="34" charset="0"/>
                <a:ea typeface="Arial" pitchFamily="34" charset="-122"/>
                <a:cs typeface="Arial" pitchFamily="34" charset="-120"/>
              </a:rPr>
              <a:t>Best: C-ENet</a:t>
            </a:r>
            <a:endParaRPr lang="en-US" sz="2400" dirty="0"/>
          </a:p>
          <a:p>
            <a:pPr marL="0" indent="0" algn="ctr">
              <a:buNone/>
            </a:pPr>
            <a:r>
              <a:rPr lang="en-US" sz="2400" b="1" dirty="0">
                <a:solidFill>
                  <a:schemeClr val="accent3"/>
                </a:solidFill>
                <a:latin typeface="Arial" pitchFamily="34" charset="0"/>
                <a:ea typeface="Arial" pitchFamily="34" charset="-122"/>
                <a:cs typeface="Arial" pitchFamily="34" charset="-120"/>
              </a:rPr>
              <a:t>2.81%</a:t>
            </a:r>
            <a:endParaRPr lang="en-US" sz="2400" dirty="0"/>
          </a:p>
        </p:txBody>
      </p:sp>
      <p:sp>
        <p:nvSpPr>
          <p:cNvPr id="12" name="Text 8"/>
          <p:cNvSpPr txBox="1"/>
          <p:nvPr/>
        </p:nvSpPr>
        <p:spPr>
          <a:xfrm>
            <a:off x="8275320" y="3154680"/>
            <a:ext cx="3154680" cy="914400"/>
          </a:xfrm>
          <a:prstGeom prst="rect">
            <a:avLst/>
          </a:prstGeom>
          <a:noFill/>
          <a:ln/>
        </p:spPr>
        <p:txBody>
          <a:bodyPr wrap="square" lIns="0" tIns="0" rIns="0" bIns="0" rtlCol="0" anchor="ctr"/>
          <a:lstStyle/>
          <a:p>
            <a:pPr marL="0" indent="0" algn="ctr">
              <a:buNone/>
            </a:pPr>
            <a:r>
              <a:rPr lang="en-US" sz="2100" b="1" dirty="0">
                <a:solidFill>
                  <a:schemeClr val="accent3"/>
                </a:solidFill>
                <a:latin typeface="Arial" pitchFamily="34" charset="0"/>
                <a:ea typeface="Arial" pitchFamily="34" charset="-122"/>
                <a:cs typeface="Arial" pitchFamily="34" charset="-120"/>
              </a:rPr>
              <a:t>OLS: -2,513.86%</a:t>
            </a:r>
            <a:endParaRPr lang="en-US" sz="2100" dirty="0"/>
          </a:p>
          <a:p>
            <a:pPr marL="0" indent="0" algn="ctr">
              <a:buNone/>
            </a:pPr>
            <a:r>
              <a:rPr lang="en-US" sz="2100" b="1" dirty="0">
                <a:solidFill>
                  <a:schemeClr val="accent3"/>
                </a:solidFill>
                <a:latin typeface="Arial" pitchFamily="34" charset="0"/>
                <a:ea typeface="Arial" pitchFamily="34" charset="-122"/>
                <a:cs typeface="Arial" pitchFamily="34" charset="-120"/>
              </a:rPr>
              <a:t>severe overfit</a:t>
            </a:r>
            <a:endParaRPr lang="en-US" sz="2100" dirty="0"/>
          </a:p>
        </p:txBody>
      </p:sp>
      <p:sp>
        <p:nvSpPr>
          <p:cNvPr id="13" name="Text 9"/>
          <p:cNvSpPr txBox="1"/>
          <p:nvPr/>
        </p:nvSpPr>
        <p:spPr>
          <a:xfrm>
            <a:off x="8183880" y="4617720"/>
            <a:ext cx="3429000" cy="713232"/>
          </a:xfrm>
          <a:prstGeom prst="rect">
            <a:avLst/>
          </a:prstGeom>
          <a:noFill/>
          <a:ln/>
        </p:spPr>
        <p:txBody>
          <a:bodyPr wrap="square" lIns="0" tIns="0" rIns="0" bIns="0" rtlCol="0" anchor="ctr"/>
          <a:lstStyle/>
          <a:p>
            <a:pPr marL="0" indent="0" algn="ctr">
              <a:buNone/>
            </a:pPr>
            <a:r>
              <a:rPr lang="en-US" sz="1700" dirty="0">
                <a:solidFill>
                  <a:schemeClr val="tx1"/>
                </a:solidFill>
                <a:latin typeface="Arial" pitchFamily="34" charset="0"/>
                <a:ea typeface="Arial" pitchFamily="34" charset="-122"/>
                <a:cs typeface="Arial" pitchFamily="34" charset="-120"/>
              </a:rPr>
              <a:t>The six regularized forecasts all exceed the 0.5% economic-significance benchmark.</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Short-leg predictability drives the negative long-short signal</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Sections I and IV, Table II</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16</a:t>
            </a:r>
            <a:endParaRPr lang="en-US" sz="1100" dirty="0"/>
          </a:p>
        </p:txBody>
      </p:sp>
      <p:sp>
        <p:nvSpPr>
          <p:cNvPr id="10" name="Text 7"/>
          <p:cNvSpPr txBox="1"/>
          <p:nvPr/>
        </p:nvSpPr>
        <p:spPr>
          <a:xfrm>
            <a:off x="868680" y="1645920"/>
            <a:ext cx="3063240" cy="411480"/>
          </a:xfrm>
          <a:prstGeom prst="rect">
            <a:avLst/>
          </a:prstGeom>
          <a:noFill/>
          <a:ln/>
        </p:spPr>
        <p:txBody>
          <a:bodyPr wrap="square" lIns="0" tIns="0" rIns="0" bIns="0" rtlCol="0" anchor="ctr"/>
          <a:lstStyle/>
          <a:p>
            <a:pPr marL="0" indent="0" algn="ctr">
              <a:buNone/>
            </a:pPr>
            <a:r>
              <a:rPr lang="en-US" sz="2000" b="1" dirty="0">
                <a:solidFill>
                  <a:schemeClr val="accent3"/>
                </a:solidFill>
                <a:latin typeface="Arial" pitchFamily="34" charset="0"/>
                <a:ea typeface="Arial" pitchFamily="34" charset="-122"/>
                <a:cs typeface="Arial" pitchFamily="34" charset="-120"/>
              </a:rPr>
              <a:t>SHORT LEG</a:t>
            </a:r>
            <a:endParaRPr lang="en-US" sz="2000" dirty="0"/>
          </a:p>
        </p:txBody>
      </p:sp>
      <p:sp>
        <p:nvSpPr>
          <p:cNvPr id="11" name="Text 8"/>
          <p:cNvSpPr txBox="1"/>
          <p:nvPr/>
        </p:nvSpPr>
        <p:spPr>
          <a:xfrm>
            <a:off x="914400" y="2267712"/>
            <a:ext cx="2971800" cy="640080"/>
          </a:xfrm>
          <a:prstGeom prst="rect">
            <a:avLst/>
          </a:prstGeom>
          <a:noFill/>
          <a:ln/>
        </p:spPr>
        <p:txBody>
          <a:bodyPr wrap="square" lIns="0" tIns="0" rIns="0" bIns="0" rtlCol="0" anchor="ctr"/>
          <a:lstStyle/>
          <a:p>
            <a:pPr marL="0" indent="0" algn="ctr">
              <a:buNone/>
            </a:pPr>
            <a:r>
              <a:rPr lang="en-US" sz="3000" b="1" dirty="0">
                <a:solidFill>
                  <a:schemeClr val="tx1"/>
                </a:solidFill>
                <a:latin typeface="Arial" pitchFamily="34" charset="0"/>
                <a:ea typeface="Arial" pitchFamily="34" charset="-122"/>
                <a:cs typeface="Arial" pitchFamily="34" charset="-120"/>
              </a:rPr>
              <a:t>r</a:t>
            </a:r>
            <a:r>
              <a:rPr lang="en-US" sz="3000" b="1" baseline="-25000" dirty="0">
                <a:solidFill>
                  <a:schemeClr val="tx1"/>
                </a:solidFill>
                <a:latin typeface="Arial" pitchFamily="34" charset="0"/>
                <a:ea typeface="Arial" pitchFamily="34" charset="-122"/>
                <a:cs typeface="Arial" pitchFamily="34" charset="-120"/>
              </a:rPr>
              <a:t>S,t</a:t>
            </a:r>
            <a:r>
              <a:rPr lang="en-US" sz="3000" b="1" dirty="0">
                <a:solidFill>
                  <a:schemeClr val="tx1"/>
                </a:solidFill>
                <a:latin typeface="Arial" pitchFamily="34" charset="0"/>
                <a:ea typeface="Arial" pitchFamily="34" charset="-122"/>
                <a:cs typeface="Arial" pitchFamily="34" charset="-120"/>
              </a:rPr>
              <a:t> ↑</a:t>
            </a:r>
            <a:endParaRPr lang="en-US" sz="3000" dirty="0"/>
          </a:p>
        </p:txBody>
      </p:sp>
      <p:sp>
        <p:nvSpPr>
          <p:cNvPr id="12" name="Shape 9"/>
          <p:cNvSpPr/>
          <p:nvPr/>
        </p:nvSpPr>
        <p:spPr>
          <a:xfrm>
            <a:off x="2395728" y="2990088"/>
            <a:ext cx="0" cy="502920"/>
          </a:xfrm>
          <a:prstGeom prst="line">
            <a:avLst/>
          </a:prstGeom>
          <a:noFill/>
          <a:ln w="25400">
            <a:solidFill>
              <a:schemeClr val="accent3"/>
            </a:solidFill>
            <a:prstDash val="solid"/>
            <a:tailEnd type="triangle"/>
          </a:ln>
        </p:spPr>
      </p:sp>
      <p:sp>
        <p:nvSpPr>
          <p:cNvPr id="13" name="Text 10"/>
          <p:cNvSpPr txBox="1"/>
          <p:nvPr/>
        </p:nvSpPr>
        <p:spPr>
          <a:xfrm>
            <a:off x="804672" y="3657600"/>
            <a:ext cx="3200400" cy="548640"/>
          </a:xfrm>
          <a:prstGeom prst="rect">
            <a:avLst/>
          </a:prstGeom>
          <a:noFill/>
          <a:ln/>
        </p:spPr>
        <p:txBody>
          <a:bodyPr wrap="square" lIns="0" tIns="0" rIns="0" bIns="0" rtlCol="0" anchor="ctr"/>
          <a:lstStyle/>
          <a:p>
            <a:pPr marL="0" indent="0" algn="ctr">
              <a:buNone/>
            </a:pPr>
            <a:r>
              <a:rPr lang="en-US" sz="1900" dirty="0">
                <a:solidFill>
                  <a:schemeClr val="tx1"/>
                </a:solidFill>
                <a:latin typeface="Arial" pitchFamily="34" charset="0"/>
                <a:ea typeface="Arial" pitchFamily="34" charset="-122"/>
                <a:cs typeface="Arial" pitchFamily="34" charset="-120"/>
              </a:rPr>
              <a:t>Future market return ↑</a:t>
            </a:r>
            <a:endParaRPr lang="en-US" sz="1900" dirty="0"/>
          </a:p>
        </p:txBody>
      </p:sp>
      <p:sp>
        <p:nvSpPr>
          <p:cNvPr id="14" name="Shape 11"/>
          <p:cNvSpPr/>
          <p:nvPr/>
        </p:nvSpPr>
        <p:spPr>
          <a:xfrm>
            <a:off x="4233672" y="1664208"/>
            <a:ext cx="0" cy="3136392"/>
          </a:xfrm>
          <a:prstGeom prst="line">
            <a:avLst/>
          </a:prstGeom>
          <a:noFill/>
          <a:ln w="12700">
            <a:solidFill>
              <a:srgbClr val="D8E0E8"/>
            </a:solidFill>
            <a:prstDash val="solid"/>
          </a:ln>
        </p:spPr>
      </p:sp>
      <p:sp>
        <p:nvSpPr>
          <p:cNvPr id="15" name="Text 12"/>
          <p:cNvSpPr txBox="1"/>
          <p:nvPr/>
        </p:nvSpPr>
        <p:spPr>
          <a:xfrm>
            <a:off x="4800600" y="1645920"/>
            <a:ext cx="2834640" cy="411480"/>
          </a:xfrm>
          <a:prstGeom prst="rect">
            <a:avLst/>
          </a:prstGeom>
          <a:noFill/>
          <a:ln/>
        </p:spPr>
        <p:txBody>
          <a:bodyPr wrap="square" lIns="0" tIns="0" rIns="0" bIns="0" rtlCol="0" anchor="ctr"/>
          <a:lstStyle/>
          <a:p>
            <a:pPr marL="0" indent="0" algn="ctr">
              <a:buNone/>
            </a:pPr>
            <a:r>
              <a:rPr lang="en-US" sz="2000" b="1" dirty="0">
                <a:solidFill>
                  <a:schemeClr val="accent1"/>
                </a:solidFill>
                <a:latin typeface="Arial" pitchFamily="34" charset="0"/>
                <a:ea typeface="Arial" pitchFamily="34" charset="-122"/>
                <a:cs typeface="Arial" pitchFamily="34" charset="-120"/>
              </a:rPr>
              <a:t>LONG-SHORT</a:t>
            </a:r>
            <a:endParaRPr lang="en-US" sz="2000" dirty="0"/>
          </a:p>
        </p:txBody>
      </p:sp>
      <p:sp>
        <p:nvSpPr>
          <p:cNvPr id="16" name="Text 13"/>
          <p:cNvSpPr txBox="1"/>
          <p:nvPr/>
        </p:nvSpPr>
        <p:spPr>
          <a:xfrm>
            <a:off x="4599432" y="2267712"/>
            <a:ext cx="3246120" cy="640080"/>
          </a:xfrm>
          <a:prstGeom prst="rect">
            <a:avLst/>
          </a:prstGeom>
          <a:noFill/>
          <a:ln/>
        </p:spPr>
        <p:txBody>
          <a:bodyPr wrap="square" lIns="0" tIns="0" rIns="0" bIns="0" rtlCol="0" anchor="ctr"/>
          <a:lstStyle/>
          <a:p>
            <a:pPr marL="0" indent="0" algn="ctr">
              <a:buNone/>
            </a:pPr>
            <a:r>
              <a:rPr lang="en-US" sz="2500" b="1" dirty="0">
                <a:solidFill>
                  <a:schemeClr val="tx1"/>
                </a:solidFill>
                <a:latin typeface="Arial" pitchFamily="34" charset="0"/>
                <a:ea typeface="Arial" pitchFamily="34" charset="-122"/>
                <a:cs typeface="Arial" pitchFamily="34" charset="-120"/>
              </a:rPr>
              <a:t>r</a:t>
            </a:r>
            <a:r>
              <a:rPr lang="en-US" sz="2500" b="1" baseline="-25000" dirty="0">
                <a:solidFill>
                  <a:schemeClr val="tx1"/>
                </a:solidFill>
                <a:latin typeface="Arial" pitchFamily="34" charset="0"/>
                <a:ea typeface="Arial" pitchFamily="34" charset="-122"/>
                <a:cs typeface="Arial" pitchFamily="34" charset="-120"/>
              </a:rPr>
              <a:t>LS,t</a:t>
            </a:r>
            <a:r>
              <a:rPr lang="en-US" sz="2500" b="1" dirty="0">
                <a:solidFill>
                  <a:schemeClr val="tx1"/>
                </a:solidFill>
                <a:latin typeface="Arial" pitchFamily="34" charset="0"/>
                <a:ea typeface="Arial" pitchFamily="34" charset="-122"/>
                <a:cs typeface="Arial" pitchFamily="34" charset="-120"/>
              </a:rPr>
              <a:t> = r</a:t>
            </a:r>
            <a:r>
              <a:rPr lang="en-US" sz="2500" b="1" baseline="-25000" dirty="0">
                <a:solidFill>
                  <a:schemeClr val="tx1"/>
                </a:solidFill>
                <a:latin typeface="Arial" pitchFamily="34" charset="0"/>
                <a:ea typeface="Arial" pitchFamily="34" charset="-122"/>
                <a:cs typeface="Arial" pitchFamily="34" charset="-120"/>
              </a:rPr>
              <a:t>L,t</a:t>
            </a:r>
            <a:r>
              <a:rPr lang="en-US" sz="2500" b="1" dirty="0">
                <a:solidFill>
                  <a:schemeClr val="tx1"/>
                </a:solidFill>
                <a:latin typeface="Arial" pitchFamily="34" charset="0"/>
                <a:ea typeface="Arial" pitchFamily="34" charset="-122"/>
                <a:cs typeface="Arial" pitchFamily="34" charset="-120"/>
              </a:rPr>
              <a:t> - r</a:t>
            </a:r>
            <a:r>
              <a:rPr lang="en-US" sz="2500" b="1" baseline="-25000" dirty="0">
                <a:solidFill>
                  <a:schemeClr val="tx1"/>
                </a:solidFill>
                <a:latin typeface="Arial" pitchFamily="34" charset="0"/>
                <a:ea typeface="Arial" pitchFamily="34" charset="-122"/>
                <a:cs typeface="Arial" pitchFamily="34" charset="-120"/>
              </a:rPr>
              <a:t>S,t</a:t>
            </a:r>
            <a:endParaRPr lang="en-US" sz="2500" baseline="-25000" dirty="0"/>
          </a:p>
        </p:txBody>
      </p:sp>
      <p:sp>
        <p:nvSpPr>
          <p:cNvPr id="17" name="Shape 14"/>
          <p:cNvSpPr/>
          <p:nvPr/>
        </p:nvSpPr>
        <p:spPr>
          <a:xfrm>
            <a:off x="6217920" y="2990088"/>
            <a:ext cx="0" cy="502920"/>
          </a:xfrm>
          <a:prstGeom prst="line">
            <a:avLst/>
          </a:prstGeom>
          <a:noFill/>
          <a:ln w="25400">
            <a:solidFill>
              <a:schemeClr val="accent2"/>
            </a:solidFill>
            <a:prstDash val="solid"/>
            <a:tailEnd type="triangle"/>
          </a:ln>
        </p:spPr>
      </p:sp>
      <p:sp>
        <p:nvSpPr>
          <p:cNvPr id="18" name="Text 15"/>
          <p:cNvSpPr txBox="1"/>
          <p:nvPr/>
        </p:nvSpPr>
        <p:spPr>
          <a:xfrm>
            <a:off x="4553712" y="3657600"/>
            <a:ext cx="3429000" cy="685800"/>
          </a:xfrm>
          <a:prstGeom prst="rect">
            <a:avLst/>
          </a:prstGeom>
          <a:noFill/>
          <a:ln/>
        </p:spPr>
        <p:txBody>
          <a:bodyPr wrap="square" lIns="0" tIns="0" rIns="0" bIns="0" rtlCol="0" anchor="ctr"/>
          <a:lstStyle/>
          <a:p>
            <a:pPr marL="0" indent="0" algn="ctr">
              <a:buNone/>
            </a:pPr>
            <a:r>
              <a:rPr lang="en-US" sz="1900" dirty="0">
                <a:solidFill>
                  <a:schemeClr val="accent3"/>
                </a:solidFill>
                <a:latin typeface="Arial" pitchFamily="34" charset="0"/>
                <a:ea typeface="Arial" pitchFamily="34" charset="-122"/>
                <a:cs typeface="Arial" pitchFamily="34" charset="-120"/>
              </a:rPr>
              <a:t>Higher spread -&gt; lower future market return</a:t>
            </a:r>
            <a:endParaRPr lang="en-US" sz="1900" dirty="0"/>
          </a:p>
        </p:txBody>
      </p:sp>
      <p:sp>
        <p:nvSpPr>
          <p:cNvPr id="19" name="Shape 16"/>
          <p:cNvSpPr/>
          <p:nvPr/>
        </p:nvSpPr>
        <p:spPr>
          <a:xfrm>
            <a:off x="8211312" y="1664208"/>
            <a:ext cx="0" cy="3136392"/>
          </a:xfrm>
          <a:prstGeom prst="line">
            <a:avLst/>
          </a:prstGeom>
          <a:noFill/>
          <a:ln w="12700">
            <a:solidFill>
              <a:srgbClr val="D8E0E8"/>
            </a:solidFill>
            <a:prstDash val="solid"/>
          </a:ln>
        </p:spPr>
      </p:sp>
      <p:sp>
        <p:nvSpPr>
          <p:cNvPr id="20" name="Text 17"/>
          <p:cNvSpPr txBox="1"/>
          <p:nvPr/>
        </p:nvSpPr>
        <p:spPr>
          <a:xfrm>
            <a:off x="8595360" y="1645920"/>
            <a:ext cx="2560320" cy="411480"/>
          </a:xfrm>
          <a:prstGeom prst="rect">
            <a:avLst/>
          </a:prstGeom>
          <a:noFill/>
          <a:ln/>
        </p:spPr>
        <p:txBody>
          <a:bodyPr wrap="square" lIns="0" tIns="0" rIns="0" bIns="0" rtlCol="0" anchor="ctr"/>
          <a:lstStyle/>
          <a:p>
            <a:pPr marL="0" indent="0" algn="ctr">
              <a:buNone/>
            </a:pPr>
            <a:r>
              <a:rPr lang="en-US" sz="1800" b="1" dirty="0">
                <a:solidFill>
                  <a:schemeClr val="accent1"/>
                </a:solidFill>
                <a:latin typeface="Arial" pitchFamily="34" charset="0"/>
                <a:ea typeface="Arial" pitchFamily="34" charset="-122"/>
                <a:cs typeface="Arial" pitchFamily="34" charset="-120"/>
              </a:rPr>
              <a:t>WHY THE SPREAD?</a:t>
            </a:r>
            <a:endParaRPr lang="en-US" sz="1800" dirty="0"/>
          </a:p>
        </p:txBody>
      </p:sp>
      <p:sp>
        <p:nvSpPr>
          <p:cNvPr id="21" name="Text 18"/>
          <p:cNvSpPr txBox="1"/>
          <p:nvPr/>
        </p:nvSpPr>
        <p:spPr>
          <a:xfrm>
            <a:off x="8549640" y="2331720"/>
            <a:ext cx="2743200" cy="1645920"/>
          </a:xfrm>
          <a:prstGeom prst="rect">
            <a:avLst/>
          </a:prstGeom>
          <a:noFill/>
          <a:ln/>
        </p:spPr>
        <p:txBody>
          <a:bodyPr wrap="square" lIns="0" tIns="0" rIns="0" bIns="0" rtlCol="0" anchor="ctr"/>
          <a:lstStyle/>
          <a:p>
            <a:pPr marL="0" indent="0" algn="ctr">
              <a:buNone/>
            </a:pPr>
            <a:r>
              <a:rPr lang="en-US" sz="1900" dirty="0">
                <a:solidFill>
                  <a:schemeClr val="tx1"/>
                </a:solidFill>
                <a:latin typeface="Arial" pitchFamily="34" charset="0"/>
                <a:ea typeface="Arial" pitchFamily="34" charset="-122"/>
                <a:cs typeface="Arial" pitchFamily="34" charset="-120"/>
              </a:rPr>
              <a:t>Subtracts shared noise; aggregates 100 signals to average away idiosyncratic noise.</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Predictability rises when limits to arbitrage are stronger</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V, Tables III-IV</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17</a:t>
            </a:r>
            <a:endParaRPr lang="en-US" sz="1100" dirty="0"/>
          </a:p>
        </p:txBody>
      </p:sp>
      <p:graphicFrame>
        <p:nvGraphicFramePr>
          <p:cNvPr id="10" name="Chart 0"/>
          <p:cNvGraphicFramePr/>
          <p:nvPr/>
        </p:nvGraphicFramePr>
        <p:xfrm>
          <a:off x="658368" y="1417320"/>
          <a:ext cx="72237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7"/>
          <p:cNvSpPr txBox="1"/>
          <p:nvPr/>
        </p:nvSpPr>
        <p:spPr>
          <a:xfrm>
            <a:off x="8138160" y="1874520"/>
            <a:ext cx="3291840" cy="1188720"/>
          </a:xfrm>
          <a:prstGeom prst="rect">
            <a:avLst/>
          </a:prstGeom>
          <a:noFill/>
          <a:ln/>
        </p:spPr>
        <p:txBody>
          <a:bodyPr wrap="square" lIns="0" tIns="0" rIns="0" bIns="0" rtlCol="0" anchor="ctr"/>
          <a:lstStyle/>
          <a:p>
            <a:pPr marL="0" indent="0" algn="ctr">
              <a:buNone/>
            </a:pPr>
            <a:r>
              <a:rPr lang="en-US" sz="2100" b="1" dirty="0">
                <a:solidFill>
                  <a:schemeClr val="tx1"/>
                </a:solidFill>
                <a:latin typeface="Arial" pitchFamily="34" charset="0"/>
                <a:ea typeface="Arial" pitchFamily="34" charset="-122"/>
                <a:cs typeface="Arial" pitchFamily="34" charset="-120"/>
              </a:rPr>
              <a:t>High short-leg arbitrage frictions -&gt; stronger market-return predictability</a:t>
            </a:r>
            <a:endParaRPr lang="en-US" sz="2100" dirty="0"/>
          </a:p>
        </p:txBody>
      </p:sp>
      <p:sp>
        <p:nvSpPr>
          <p:cNvPr id="12" name="Text 8"/>
          <p:cNvSpPr txBox="1"/>
          <p:nvPr/>
        </p:nvSpPr>
        <p:spPr>
          <a:xfrm>
            <a:off x="8138160" y="3886200"/>
            <a:ext cx="3291840" cy="914400"/>
          </a:xfrm>
          <a:prstGeom prst="rect">
            <a:avLst/>
          </a:prstGeom>
          <a:noFill/>
          <a:ln/>
        </p:spPr>
        <p:txBody>
          <a:bodyPr wrap="square" lIns="0" tIns="0" rIns="0" bIns="0" rtlCol="0" anchor="ctr"/>
          <a:lstStyle/>
          <a:p>
            <a:pPr marL="0" indent="0" algn="ctr">
              <a:buNone/>
            </a:pPr>
            <a:r>
              <a:rPr lang="en-US" sz="1800" dirty="0">
                <a:solidFill>
                  <a:schemeClr val="accent3"/>
                </a:solidFill>
                <a:latin typeface="Arial" pitchFamily="34" charset="0"/>
                <a:ea typeface="Arial" pitchFamily="34" charset="-122"/>
                <a:cs typeface="Arial" pitchFamily="34" charset="-120"/>
              </a:rPr>
              <a:t>Short-fee high-vs-low OOS R2 gains: up to 14.7 percentage points (PLS).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Arbitrage positions and news tone align with slow overpricing correction</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Section V, Table V</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18</a:t>
            </a:r>
            <a:endParaRPr lang="en-US" sz="1100" dirty="0"/>
          </a:p>
        </p:txBody>
      </p:sp>
      <p:sp>
        <p:nvSpPr>
          <p:cNvPr id="10" name="Text 7"/>
          <p:cNvSpPr txBox="1"/>
          <p:nvPr/>
        </p:nvSpPr>
        <p:spPr>
          <a:xfrm>
            <a:off x="822960" y="1737360"/>
            <a:ext cx="3200400" cy="384048"/>
          </a:xfrm>
          <a:prstGeom prst="rect">
            <a:avLst/>
          </a:prstGeom>
          <a:noFill/>
          <a:ln/>
        </p:spPr>
        <p:txBody>
          <a:bodyPr wrap="square" lIns="0" tIns="0" rIns="0" bIns="0" rtlCol="0" anchor="ctr"/>
          <a:lstStyle/>
          <a:p>
            <a:pPr marL="0" indent="0">
              <a:buNone/>
            </a:pPr>
            <a:r>
              <a:rPr lang="en-US" sz="1600" b="1" dirty="0">
                <a:solidFill>
                  <a:schemeClr val="accent1"/>
                </a:solidFill>
                <a:latin typeface="Arial" pitchFamily="34" charset="0"/>
                <a:ea typeface="Arial" pitchFamily="34" charset="-122"/>
                <a:cs typeface="Arial" pitchFamily="34" charset="-120"/>
              </a:rPr>
              <a:t>NET ARBITRAGE POSITION</a:t>
            </a:r>
            <a:endParaRPr lang="en-US" sz="1600" dirty="0"/>
          </a:p>
        </p:txBody>
      </p:sp>
      <p:sp>
        <p:nvSpPr>
          <p:cNvPr id="11" name="Text 8"/>
          <p:cNvSpPr txBox="1"/>
          <p:nvPr/>
        </p:nvSpPr>
        <p:spPr>
          <a:xfrm>
            <a:off x="4160520" y="1664208"/>
            <a:ext cx="1325880" cy="530352"/>
          </a:xfrm>
          <a:prstGeom prst="rect">
            <a:avLst/>
          </a:prstGeom>
          <a:noFill/>
          <a:ln/>
        </p:spPr>
        <p:txBody>
          <a:bodyPr wrap="square" lIns="0" tIns="0" rIns="0" bIns="0" rtlCol="0" anchor="ctr"/>
          <a:lstStyle/>
          <a:p>
            <a:pPr marL="0" indent="0" algn="ctr">
              <a:buNone/>
            </a:pPr>
            <a:r>
              <a:rPr lang="en-US" sz="2700" b="1" dirty="0">
                <a:solidFill>
                  <a:schemeClr val="accent1"/>
                </a:solidFill>
                <a:latin typeface="Arial" pitchFamily="34" charset="0"/>
                <a:ea typeface="Arial" pitchFamily="34" charset="-122"/>
                <a:cs typeface="Arial" pitchFamily="34" charset="-120"/>
              </a:rPr>
              <a:t>-5.81</a:t>
            </a:r>
            <a:endParaRPr lang="en-US" sz="2700" dirty="0"/>
          </a:p>
        </p:txBody>
      </p:sp>
      <p:sp>
        <p:nvSpPr>
          <p:cNvPr id="12" name="Text 9"/>
          <p:cNvSpPr txBox="1"/>
          <p:nvPr/>
        </p:nvSpPr>
        <p:spPr>
          <a:xfrm>
            <a:off x="5806440" y="1737360"/>
            <a:ext cx="2331720" cy="384048"/>
          </a:xfrm>
          <a:prstGeom prst="rect">
            <a:avLst/>
          </a:prstGeom>
          <a:noFill/>
          <a:ln/>
        </p:spPr>
        <p:txBody>
          <a:bodyPr wrap="square" lIns="0" tIns="0" rIns="0" bIns="0" rtlCol="0" anchor="ctr"/>
          <a:lstStyle/>
          <a:p>
            <a:pPr marL="0" indent="0">
              <a:buNone/>
            </a:pPr>
            <a:r>
              <a:rPr lang="en-US" sz="1800" dirty="0">
                <a:solidFill>
                  <a:schemeClr val="tx1"/>
                </a:solidFill>
                <a:latin typeface="Arial" pitchFamily="34" charset="0"/>
                <a:ea typeface="Arial" pitchFamily="34" charset="-122"/>
                <a:cs typeface="Arial" pitchFamily="34" charset="-120"/>
              </a:rPr>
              <a:t>falls</a:t>
            </a:r>
            <a:endParaRPr lang="en-US" sz="1800" dirty="0"/>
          </a:p>
        </p:txBody>
      </p:sp>
      <p:sp>
        <p:nvSpPr>
          <p:cNvPr id="13" name="Text 10"/>
          <p:cNvSpPr txBox="1"/>
          <p:nvPr/>
        </p:nvSpPr>
        <p:spPr>
          <a:xfrm>
            <a:off x="8339328" y="1737360"/>
            <a:ext cx="2880360" cy="384048"/>
          </a:xfrm>
          <a:prstGeom prst="rect">
            <a:avLst/>
          </a:prstGeom>
          <a:noFill/>
          <a:ln/>
        </p:spPr>
        <p:txBody>
          <a:bodyPr wrap="square" lIns="0" tIns="0" rIns="0" bIns="0" rtlCol="0" anchor="ctr"/>
          <a:lstStyle/>
          <a:p>
            <a:pPr marL="0" indent="0">
              <a:buNone/>
            </a:pPr>
            <a:r>
              <a:rPr lang="en-US" sz="1700" dirty="0">
                <a:solidFill>
                  <a:schemeClr val="accent4"/>
                </a:solidFill>
                <a:latin typeface="Arial" pitchFamily="34" charset="0"/>
                <a:ea typeface="Arial" pitchFamily="34" charset="-122"/>
                <a:cs typeface="Arial" pitchFamily="34" charset="-120"/>
              </a:rPr>
              <a:t>when anomaly returns rise</a:t>
            </a:r>
            <a:endParaRPr lang="en-US" sz="1700" dirty="0"/>
          </a:p>
        </p:txBody>
      </p:sp>
      <p:sp>
        <p:nvSpPr>
          <p:cNvPr id="14" name="Shape 11"/>
          <p:cNvSpPr/>
          <p:nvPr/>
        </p:nvSpPr>
        <p:spPr>
          <a:xfrm>
            <a:off x="822960" y="2423160"/>
            <a:ext cx="10424160" cy="0"/>
          </a:xfrm>
          <a:prstGeom prst="line">
            <a:avLst/>
          </a:prstGeom>
          <a:noFill/>
          <a:ln w="10160">
            <a:solidFill>
              <a:srgbClr val="D8E0E8"/>
            </a:solidFill>
            <a:prstDash val="solid"/>
          </a:ln>
        </p:spPr>
      </p:sp>
      <p:sp>
        <p:nvSpPr>
          <p:cNvPr id="15" name="Text 12"/>
          <p:cNvSpPr txBox="1"/>
          <p:nvPr/>
        </p:nvSpPr>
        <p:spPr>
          <a:xfrm>
            <a:off x="822960" y="2816352"/>
            <a:ext cx="3200400" cy="384048"/>
          </a:xfrm>
          <a:prstGeom prst="rect">
            <a:avLst/>
          </a:prstGeom>
          <a:noFill/>
          <a:ln/>
        </p:spPr>
        <p:txBody>
          <a:bodyPr wrap="square" lIns="0" tIns="0" rIns="0" bIns="0" rtlCol="0" anchor="ctr"/>
          <a:lstStyle/>
          <a:p>
            <a:pPr marL="0" indent="0">
              <a:buNone/>
            </a:pPr>
            <a:r>
              <a:rPr lang="en-US" sz="1600" b="1" dirty="0">
                <a:solidFill>
                  <a:schemeClr val="accent1"/>
                </a:solidFill>
                <a:latin typeface="Arial" pitchFamily="34" charset="0"/>
                <a:ea typeface="Arial" pitchFamily="34" charset="-122"/>
                <a:cs typeface="Arial" pitchFamily="34" charset="-120"/>
              </a:rPr>
              <a:t>SHORT POSITION</a:t>
            </a:r>
            <a:endParaRPr lang="en-US" sz="1600" dirty="0"/>
          </a:p>
        </p:txBody>
      </p:sp>
      <p:sp>
        <p:nvSpPr>
          <p:cNvPr id="16" name="Text 13"/>
          <p:cNvSpPr txBox="1"/>
          <p:nvPr/>
        </p:nvSpPr>
        <p:spPr>
          <a:xfrm>
            <a:off x="4160520" y="2743200"/>
            <a:ext cx="1325880" cy="530352"/>
          </a:xfrm>
          <a:prstGeom prst="rect">
            <a:avLst/>
          </a:prstGeom>
          <a:noFill/>
          <a:ln/>
        </p:spPr>
        <p:txBody>
          <a:bodyPr wrap="square" lIns="0" tIns="0" rIns="0" bIns="0" rtlCol="0" anchor="ctr"/>
          <a:lstStyle/>
          <a:p>
            <a:pPr marL="0" indent="0" algn="ctr">
              <a:buNone/>
            </a:pPr>
            <a:r>
              <a:rPr lang="en-US" sz="2700" b="1" dirty="0">
                <a:solidFill>
                  <a:schemeClr val="accent3"/>
                </a:solidFill>
                <a:latin typeface="Arial" pitchFamily="34" charset="0"/>
                <a:ea typeface="Arial" pitchFamily="34" charset="-122"/>
                <a:cs typeface="Arial" pitchFamily="34" charset="-120"/>
              </a:rPr>
              <a:t>+3.89</a:t>
            </a:r>
            <a:endParaRPr lang="en-US" sz="2700" dirty="0"/>
          </a:p>
        </p:txBody>
      </p:sp>
      <p:sp>
        <p:nvSpPr>
          <p:cNvPr id="17" name="Text 14"/>
          <p:cNvSpPr txBox="1"/>
          <p:nvPr/>
        </p:nvSpPr>
        <p:spPr>
          <a:xfrm>
            <a:off x="5806440" y="2816352"/>
            <a:ext cx="2331720" cy="384048"/>
          </a:xfrm>
          <a:prstGeom prst="rect">
            <a:avLst/>
          </a:prstGeom>
          <a:noFill/>
          <a:ln/>
        </p:spPr>
        <p:txBody>
          <a:bodyPr wrap="square" lIns="0" tIns="0" rIns="0" bIns="0" rtlCol="0" anchor="ctr"/>
          <a:lstStyle/>
          <a:p>
            <a:pPr marL="0" indent="0">
              <a:buNone/>
            </a:pPr>
            <a:r>
              <a:rPr lang="en-US" sz="1800" dirty="0">
                <a:solidFill>
                  <a:schemeClr val="tx1"/>
                </a:solidFill>
                <a:latin typeface="Arial" pitchFamily="34" charset="0"/>
                <a:ea typeface="Arial" pitchFamily="34" charset="-122"/>
                <a:cs typeface="Arial" pitchFamily="34" charset="-120"/>
              </a:rPr>
              <a:t>rises</a:t>
            </a:r>
            <a:endParaRPr lang="en-US" sz="1800" dirty="0"/>
          </a:p>
        </p:txBody>
      </p:sp>
      <p:sp>
        <p:nvSpPr>
          <p:cNvPr id="18" name="Text 15"/>
          <p:cNvSpPr txBox="1"/>
          <p:nvPr/>
        </p:nvSpPr>
        <p:spPr>
          <a:xfrm>
            <a:off x="8339328" y="2816352"/>
            <a:ext cx="2880360" cy="384048"/>
          </a:xfrm>
          <a:prstGeom prst="rect">
            <a:avLst/>
          </a:prstGeom>
          <a:noFill/>
          <a:ln/>
        </p:spPr>
        <p:txBody>
          <a:bodyPr wrap="square" lIns="0" tIns="0" rIns="0" bIns="0" rtlCol="0" anchor="ctr"/>
          <a:lstStyle/>
          <a:p>
            <a:pPr marL="0" indent="0">
              <a:buNone/>
            </a:pPr>
            <a:r>
              <a:rPr lang="en-US" sz="1700" dirty="0">
                <a:solidFill>
                  <a:schemeClr val="accent4"/>
                </a:solidFill>
                <a:latin typeface="Arial" pitchFamily="34" charset="0"/>
                <a:ea typeface="Arial" pitchFamily="34" charset="-122"/>
                <a:cs typeface="Arial" pitchFamily="34" charset="-120"/>
              </a:rPr>
              <a:t>when anomaly returns rise</a:t>
            </a:r>
            <a:endParaRPr lang="en-US" sz="1700" dirty="0"/>
          </a:p>
        </p:txBody>
      </p:sp>
      <p:sp>
        <p:nvSpPr>
          <p:cNvPr id="19" name="Shape 16"/>
          <p:cNvSpPr/>
          <p:nvPr/>
        </p:nvSpPr>
        <p:spPr>
          <a:xfrm>
            <a:off x="822960" y="3502152"/>
            <a:ext cx="10424160" cy="0"/>
          </a:xfrm>
          <a:prstGeom prst="line">
            <a:avLst/>
          </a:prstGeom>
          <a:noFill/>
          <a:ln w="10160">
            <a:solidFill>
              <a:srgbClr val="D8E0E8"/>
            </a:solidFill>
            <a:prstDash val="solid"/>
          </a:ln>
        </p:spPr>
      </p:sp>
      <p:sp>
        <p:nvSpPr>
          <p:cNvPr id="20" name="Text 17"/>
          <p:cNvSpPr txBox="1"/>
          <p:nvPr/>
        </p:nvSpPr>
        <p:spPr>
          <a:xfrm>
            <a:off x="822960" y="3895344"/>
            <a:ext cx="3200400" cy="384048"/>
          </a:xfrm>
          <a:prstGeom prst="rect">
            <a:avLst/>
          </a:prstGeom>
          <a:noFill/>
          <a:ln/>
        </p:spPr>
        <p:txBody>
          <a:bodyPr wrap="square" lIns="0" tIns="0" rIns="0" bIns="0" rtlCol="0" anchor="ctr"/>
          <a:lstStyle/>
          <a:p>
            <a:pPr marL="0" indent="0">
              <a:buNone/>
            </a:pPr>
            <a:r>
              <a:rPr lang="en-US" sz="1600" b="1" dirty="0">
                <a:solidFill>
                  <a:schemeClr val="accent1"/>
                </a:solidFill>
                <a:latin typeface="Arial" pitchFamily="34" charset="0"/>
                <a:ea typeface="Arial" pitchFamily="34" charset="-122"/>
                <a:cs typeface="Arial" pitchFamily="34" charset="-120"/>
              </a:rPr>
              <a:t>MARKET NEWS TONE</a:t>
            </a:r>
            <a:endParaRPr lang="en-US" sz="1600" dirty="0"/>
          </a:p>
        </p:txBody>
      </p:sp>
      <p:sp>
        <p:nvSpPr>
          <p:cNvPr id="21" name="Text 18"/>
          <p:cNvSpPr txBox="1"/>
          <p:nvPr/>
        </p:nvSpPr>
        <p:spPr>
          <a:xfrm>
            <a:off x="4160520" y="3822192"/>
            <a:ext cx="1325880" cy="530352"/>
          </a:xfrm>
          <a:prstGeom prst="rect">
            <a:avLst/>
          </a:prstGeom>
          <a:noFill/>
          <a:ln/>
        </p:spPr>
        <p:txBody>
          <a:bodyPr wrap="square" lIns="0" tIns="0" rIns="0" bIns="0" rtlCol="0" anchor="ctr"/>
          <a:lstStyle/>
          <a:p>
            <a:pPr marL="0" indent="0" algn="ctr">
              <a:buNone/>
            </a:pPr>
            <a:r>
              <a:rPr lang="en-US" sz="2700" b="1" dirty="0">
                <a:solidFill>
                  <a:schemeClr val="accent1"/>
                </a:solidFill>
                <a:latin typeface="Arial" pitchFamily="34" charset="0"/>
                <a:ea typeface="Arial" pitchFamily="34" charset="-122"/>
                <a:cs typeface="Arial" pitchFamily="34" charset="-120"/>
              </a:rPr>
              <a:t>-0.36</a:t>
            </a:r>
            <a:endParaRPr lang="en-US" sz="2700" dirty="0"/>
          </a:p>
        </p:txBody>
      </p:sp>
      <p:sp>
        <p:nvSpPr>
          <p:cNvPr id="22" name="Text 19"/>
          <p:cNvSpPr txBox="1"/>
          <p:nvPr/>
        </p:nvSpPr>
        <p:spPr>
          <a:xfrm>
            <a:off x="5806440" y="3895344"/>
            <a:ext cx="2331720" cy="384048"/>
          </a:xfrm>
          <a:prstGeom prst="rect">
            <a:avLst/>
          </a:prstGeom>
          <a:noFill/>
          <a:ln/>
        </p:spPr>
        <p:txBody>
          <a:bodyPr wrap="square" lIns="0" tIns="0" rIns="0" bIns="0" rtlCol="0" anchor="ctr"/>
          <a:lstStyle/>
          <a:p>
            <a:pPr marL="0" indent="0">
              <a:buNone/>
            </a:pPr>
            <a:r>
              <a:rPr lang="en-US" sz="1800" dirty="0">
                <a:solidFill>
                  <a:schemeClr val="tx1"/>
                </a:solidFill>
                <a:latin typeface="Arial" pitchFamily="34" charset="0"/>
                <a:ea typeface="Arial" pitchFamily="34" charset="-122"/>
                <a:cs typeface="Arial" pitchFamily="34" charset="-120"/>
              </a:rPr>
              <a:t>turns more negative</a:t>
            </a:r>
            <a:endParaRPr lang="en-US" sz="1800" dirty="0"/>
          </a:p>
        </p:txBody>
      </p:sp>
      <p:sp>
        <p:nvSpPr>
          <p:cNvPr id="23" name="Text 20"/>
          <p:cNvSpPr txBox="1"/>
          <p:nvPr/>
        </p:nvSpPr>
        <p:spPr>
          <a:xfrm>
            <a:off x="8339328" y="3895344"/>
            <a:ext cx="2880360" cy="384048"/>
          </a:xfrm>
          <a:prstGeom prst="rect">
            <a:avLst/>
          </a:prstGeom>
          <a:noFill/>
          <a:ln/>
        </p:spPr>
        <p:txBody>
          <a:bodyPr wrap="square" lIns="0" tIns="0" rIns="0" bIns="0" rtlCol="0" anchor="ctr"/>
          <a:lstStyle/>
          <a:p>
            <a:pPr marL="0" indent="0">
              <a:buNone/>
            </a:pPr>
            <a:r>
              <a:rPr lang="en-US" sz="1700" dirty="0">
                <a:solidFill>
                  <a:schemeClr val="accent4"/>
                </a:solidFill>
                <a:latin typeface="Arial" pitchFamily="34" charset="0"/>
                <a:ea typeface="Arial" pitchFamily="34" charset="-122"/>
                <a:cs typeface="Arial" pitchFamily="34" charset="-120"/>
              </a:rPr>
              <a:t>when anomaly returns rise</a:t>
            </a:r>
            <a:endParaRPr lang="en-US" sz="1700" dirty="0"/>
          </a:p>
        </p:txBody>
      </p:sp>
      <p:sp>
        <p:nvSpPr>
          <p:cNvPr id="24" name="Text 21"/>
          <p:cNvSpPr txBox="1"/>
          <p:nvPr/>
        </p:nvSpPr>
        <p:spPr>
          <a:xfrm>
            <a:off x="960120" y="5285232"/>
            <a:ext cx="10287000" cy="393192"/>
          </a:xfrm>
          <a:prstGeom prst="rect">
            <a:avLst/>
          </a:prstGeom>
          <a:noFill/>
          <a:ln/>
        </p:spPr>
        <p:txBody>
          <a:bodyPr wrap="square" lIns="0" tIns="0" rIns="0" bIns="0" rtlCol="0" anchor="ctr"/>
          <a:lstStyle/>
          <a:p>
            <a:pPr marL="0" indent="0" algn="ctr">
              <a:buNone/>
            </a:pPr>
            <a:r>
              <a:rPr lang="en-US" sz="1900" b="1" dirty="0">
                <a:solidFill>
                  <a:schemeClr val="tx1"/>
                </a:solidFill>
                <a:latin typeface="Arial" pitchFamily="34" charset="0"/>
                <a:ea typeface="Arial" pitchFamily="34" charset="-122"/>
                <a:cs typeface="Arial" pitchFamily="34" charset="-120"/>
              </a:rPr>
              <a:t>The short side accounts for most of the decline in net positions.</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b="1" dirty="0">
                <a:solidFill>
                  <a:schemeClr val="accent2"/>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Forecasts have substantial modeled investor value, with implementation caveats</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Abstract and Section IV.B</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19</a:t>
            </a:r>
            <a:endParaRPr lang="en-US" sz="1100" dirty="0"/>
          </a:p>
        </p:txBody>
      </p:sp>
      <p:sp>
        <p:nvSpPr>
          <p:cNvPr id="10" name="Text 7"/>
          <p:cNvSpPr txBox="1"/>
          <p:nvPr/>
        </p:nvSpPr>
        <p:spPr>
          <a:xfrm>
            <a:off x="914400" y="1664208"/>
            <a:ext cx="4572000" cy="438912"/>
          </a:xfrm>
          <a:prstGeom prst="rect">
            <a:avLst/>
          </a:prstGeom>
          <a:noFill/>
          <a:ln/>
        </p:spPr>
        <p:txBody>
          <a:bodyPr wrap="square" lIns="0" tIns="0" rIns="0" bIns="0" rtlCol="0" anchor="ctr"/>
          <a:lstStyle/>
          <a:p>
            <a:pPr marL="0" indent="0">
              <a:buNone/>
            </a:pPr>
            <a:r>
              <a:rPr lang="en-US" sz="1900" b="1" dirty="0">
                <a:solidFill>
                  <a:schemeClr val="accent1"/>
                </a:solidFill>
                <a:latin typeface="Arial" pitchFamily="34" charset="0"/>
                <a:ea typeface="Arial" pitchFamily="34" charset="-122"/>
                <a:cs typeface="Arial" pitchFamily="34" charset="-120"/>
              </a:rPr>
              <a:t>Annualized certainty-equivalent fee</a:t>
            </a:r>
            <a:endParaRPr lang="en-US" sz="1900" dirty="0"/>
          </a:p>
        </p:txBody>
      </p:sp>
      <p:sp>
        <p:nvSpPr>
          <p:cNvPr id="11" name="Shape 8"/>
          <p:cNvSpPr/>
          <p:nvPr/>
        </p:nvSpPr>
        <p:spPr>
          <a:xfrm>
            <a:off x="1143000" y="3108960"/>
            <a:ext cx="9784080" cy="0"/>
          </a:xfrm>
          <a:prstGeom prst="line">
            <a:avLst/>
          </a:prstGeom>
          <a:noFill/>
          <a:ln w="29210">
            <a:solidFill>
              <a:srgbClr val="AAB5C0"/>
            </a:solidFill>
            <a:prstDash val="solid"/>
          </a:ln>
        </p:spPr>
      </p:sp>
      <p:sp>
        <p:nvSpPr>
          <p:cNvPr id="12" name="Shape 9"/>
          <p:cNvSpPr/>
          <p:nvPr/>
        </p:nvSpPr>
        <p:spPr>
          <a:xfrm>
            <a:off x="4763110" y="3108960"/>
            <a:ext cx="5297380" cy="0"/>
          </a:xfrm>
          <a:prstGeom prst="line">
            <a:avLst/>
          </a:prstGeom>
          <a:noFill/>
          <a:ln w="152400">
            <a:solidFill>
              <a:schemeClr val="accent2"/>
            </a:solidFill>
            <a:prstDash val="solid"/>
          </a:ln>
        </p:spPr>
      </p:sp>
      <p:sp>
        <p:nvSpPr>
          <p:cNvPr id="13" name="Shape 10"/>
          <p:cNvSpPr/>
          <p:nvPr/>
        </p:nvSpPr>
        <p:spPr>
          <a:xfrm>
            <a:off x="1143000" y="2944368"/>
            <a:ext cx="0" cy="329184"/>
          </a:xfrm>
          <a:prstGeom prst="line">
            <a:avLst/>
          </a:prstGeom>
          <a:noFill/>
          <a:ln w="16510">
            <a:solidFill>
              <a:schemeClr val="accent1"/>
            </a:solidFill>
            <a:prstDash val="solid"/>
          </a:ln>
        </p:spPr>
      </p:sp>
      <p:sp>
        <p:nvSpPr>
          <p:cNvPr id="14" name="Text 11"/>
          <p:cNvSpPr txBox="1"/>
          <p:nvPr/>
        </p:nvSpPr>
        <p:spPr>
          <a:xfrm>
            <a:off x="822960" y="3474720"/>
            <a:ext cx="640080" cy="274320"/>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0</a:t>
            </a:r>
            <a:endParaRPr lang="en-US" sz="1500" dirty="0"/>
          </a:p>
        </p:txBody>
      </p:sp>
      <p:sp>
        <p:nvSpPr>
          <p:cNvPr id="15" name="Shape 12"/>
          <p:cNvSpPr/>
          <p:nvPr/>
        </p:nvSpPr>
        <p:spPr>
          <a:xfrm>
            <a:off x="3938451" y="2944368"/>
            <a:ext cx="0" cy="329184"/>
          </a:xfrm>
          <a:prstGeom prst="line">
            <a:avLst/>
          </a:prstGeom>
          <a:noFill/>
          <a:ln w="16510">
            <a:solidFill>
              <a:schemeClr val="accent1"/>
            </a:solidFill>
            <a:prstDash val="solid"/>
          </a:ln>
        </p:spPr>
      </p:sp>
      <p:sp>
        <p:nvSpPr>
          <p:cNvPr id="16" name="Text 13"/>
          <p:cNvSpPr txBox="1"/>
          <p:nvPr/>
        </p:nvSpPr>
        <p:spPr>
          <a:xfrm>
            <a:off x="3618411" y="3474720"/>
            <a:ext cx="640080" cy="274320"/>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200</a:t>
            </a:r>
            <a:endParaRPr lang="en-US" sz="1500" dirty="0"/>
          </a:p>
        </p:txBody>
      </p:sp>
      <p:sp>
        <p:nvSpPr>
          <p:cNvPr id="17" name="Shape 14"/>
          <p:cNvSpPr/>
          <p:nvPr/>
        </p:nvSpPr>
        <p:spPr>
          <a:xfrm>
            <a:off x="6733903" y="2944368"/>
            <a:ext cx="0" cy="329184"/>
          </a:xfrm>
          <a:prstGeom prst="line">
            <a:avLst/>
          </a:prstGeom>
          <a:noFill/>
          <a:ln w="16510">
            <a:solidFill>
              <a:schemeClr val="accent1"/>
            </a:solidFill>
            <a:prstDash val="solid"/>
          </a:ln>
        </p:spPr>
      </p:sp>
      <p:sp>
        <p:nvSpPr>
          <p:cNvPr id="18" name="Text 15"/>
          <p:cNvSpPr txBox="1"/>
          <p:nvPr/>
        </p:nvSpPr>
        <p:spPr>
          <a:xfrm>
            <a:off x="6413863" y="3474720"/>
            <a:ext cx="640080" cy="274320"/>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400</a:t>
            </a:r>
            <a:endParaRPr lang="en-US" sz="1500" dirty="0"/>
          </a:p>
        </p:txBody>
      </p:sp>
      <p:sp>
        <p:nvSpPr>
          <p:cNvPr id="19" name="Shape 16"/>
          <p:cNvSpPr/>
          <p:nvPr/>
        </p:nvSpPr>
        <p:spPr>
          <a:xfrm>
            <a:off x="9529354" y="2944368"/>
            <a:ext cx="0" cy="329184"/>
          </a:xfrm>
          <a:prstGeom prst="line">
            <a:avLst/>
          </a:prstGeom>
          <a:noFill/>
          <a:ln w="16510">
            <a:solidFill>
              <a:schemeClr val="accent1"/>
            </a:solidFill>
            <a:prstDash val="solid"/>
          </a:ln>
        </p:spPr>
      </p:sp>
      <p:sp>
        <p:nvSpPr>
          <p:cNvPr id="20" name="Text 17"/>
          <p:cNvSpPr txBox="1"/>
          <p:nvPr/>
        </p:nvSpPr>
        <p:spPr>
          <a:xfrm>
            <a:off x="9209314" y="3474720"/>
            <a:ext cx="640080" cy="274320"/>
          </a:xfrm>
          <a:prstGeom prst="rect">
            <a:avLst/>
          </a:prstGeom>
          <a:noFill/>
          <a:ln/>
        </p:spPr>
        <p:txBody>
          <a:bodyPr wrap="square" lIns="0" tIns="0" rIns="0" bIns="0" rtlCol="0" anchor="ctr"/>
          <a:lstStyle/>
          <a:p>
            <a:pPr marL="0" indent="0" algn="ctr">
              <a:buNone/>
            </a:pPr>
            <a:r>
              <a:rPr lang="en-US" sz="1500" dirty="0">
                <a:solidFill>
                  <a:schemeClr val="tx1"/>
                </a:solidFill>
                <a:latin typeface="Arial" pitchFamily="34" charset="0"/>
                <a:ea typeface="Arial" pitchFamily="34" charset="-122"/>
                <a:cs typeface="Arial" pitchFamily="34" charset="-120"/>
              </a:rPr>
              <a:t>600</a:t>
            </a:r>
            <a:endParaRPr lang="en-US" sz="1500" dirty="0"/>
          </a:p>
        </p:txBody>
      </p:sp>
      <p:sp>
        <p:nvSpPr>
          <p:cNvPr id="21" name="Text 18"/>
          <p:cNvSpPr txBox="1"/>
          <p:nvPr/>
        </p:nvSpPr>
        <p:spPr>
          <a:xfrm>
            <a:off x="4260190" y="2423160"/>
            <a:ext cx="1234440" cy="411480"/>
          </a:xfrm>
          <a:prstGeom prst="rect">
            <a:avLst/>
          </a:prstGeom>
          <a:noFill/>
          <a:ln/>
        </p:spPr>
        <p:txBody>
          <a:bodyPr wrap="square" lIns="0" tIns="0" rIns="0" bIns="0" rtlCol="0" anchor="ctr"/>
          <a:lstStyle/>
          <a:p>
            <a:pPr marL="0" indent="0" algn="ctr">
              <a:buNone/>
            </a:pPr>
            <a:r>
              <a:rPr lang="en-US" sz="2000" b="1" dirty="0">
                <a:solidFill>
                  <a:schemeClr val="accent1"/>
                </a:solidFill>
                <a:latin typeface="Arial" pitchFamily="34" charset="0"/>
                <a:ea typeface="Arial" pitchFamily="34" charset="-122"/>
                <a:cs typeface="Arial" pitchFamily="34" charset="-120"/>
              </a:rPr>
              <a:t>259 bps</a:t>
            </a:r>
            <a:endParaRPr lang="en-US" sz="2000" dirty="0"/>
          </a:p>
        </p:txBody>
      </p:sp>
      <p:sp>
        <p:nvSpPr>
          <p:cNvPr id="22" name="Text 19"/>
          <p:cNvSpPr txBox="1"/>
          <p:nvPr/>
        </p:nvSpPr>
        <p:spPr>
          <a:xfrm>
            <a:off x="9511850" y="2423160"/>
            <a:ext cx="1234440" cy="411480"/>
          </a:xfrm>
          <a:prstGeom prst="rect">
            <a:avLst/>
          </a:prstGeom>
          <a:noFill/>
          <a:ln/>
        </p:spPr>
        <p:txBody>
          <a:bodyPr wrap="square" lIns="0" tIns="0" rIns="0" bIns="0" rtlCol="0" anchor="ctr"/>
          <a:lstStyle/>
          <a:p>
            <a:pPr marL="0" indent="0" algn="ctr">
              <a:buNone/>
            </a:pPr>
            <a:r>
              <a:rPr lang="en-US" sz="2000" b="1" dirty="0">
                <a:solidFill>
                  <a:schemeClr val="accent3"/>
                </a:solidFill>
                <a:latin typeface="Arial" pitchFamily="34" charset="0"/>
                <a:ea typeface="Arial" pitchFamily="34" charset="-122"/>
                <a:cs typeface="Arial" pitchFamily="34" charset="-120"/>
              </a:rPr>
              <a:t>638 bps</a:t>
            </a:r>
            <a:endParaRPr lang="en-US" sz="2000" dirty="0"/>
          </a:p>
        </p:txBody>
      </p:sp>
      <p:sp>
        <p:nvSpPr>
          <p:cNvPr id="23" name="Text 20"/>
          <p:cNvSpPr txBox="1"/>
          <p:nvPr/>
        </p:nvSpPr>
        <p:spPr>
          <a:xfrm>
            <a:off x="960120" y="4315968"/>
            <a:ext cx="10287000" cy="658368"/>
          </a:xfrm>
          <a:prstGeom prst="rect">
            <a:avLst/>
          </a:prstGeom>
          <a:noFill/>
          <a:ln/>
        </p:spPr>
        <p:txBody>
          <a:bodyPr wrap="square" lIns="0" tIns="0" rIns="0" bIns="0" rtlCol="0" anchor="ctr"/>
          <a:lstStyle/>
          <a:p>
            <a:pPr marL="0" indent="0" algn="ctr">
              <a:buNone/>
            </a:pPr>
            <a:r>
              <a:rPr lang="en-US" sz="1800" dirty="0">
                <a:solidFill>
                  <a:schemeClr val="tx1"/>
                </a:solidFill>
                <a:latin typeface="Arial" pitchFamily="34" charset="0"/>
                <a:ea typeface="Arial" pitchFamily="34" charset="-122"/>
                <a:cs typeface="Arial" pitchFamily="34" charset="-120"/>
              </a:rPr>
              <a:t>Assumptions: risk aversion = 3; market / Treasury allocation; variance estimated over a 60-month rolling window.</a:t>
            </a:r>
            <a:endParaRPr lang="en-US" sz="1800" dirty="0"/>
          </a:p>
        </p:txBody>
      </p:sp>
      <p:sp>
        <p:nvSpPr>
          <p:cNvPr id="24" name="Text 21"/>
          <p:cNvSpPr txBox="1"/>
          <p:nvPr/>
        </p:nvSpPr>
        <p:spPr>
          <a:xfrm>
            <a:off x="1005840" y="5212080"/>
            <a:ext cx="10195560" cy="384048"/>
          </a:xfrm>
          <a:prstGeom prst="rect">
            <a:avLst/>
          </a:prstGeom>
          <a:noFill/>
          <a:ln/>
        </p:spPr>
        <p:txBody>
          <a:bodyPr wrap="square" lIns="0" tIns="0" rIns="0" bIns="0" rtlCol="0" anchor="ctr"/>
          <a:lstStyle/>
          <a:p>
            <a:pPr marL="0" indent="0" algn="ctr">
              <a:buNone/>
            </a:pPr>
            <a:r>
              <a:rPr lang="en-US" sz="1900" b="1" dirty="0">
                <a:solidFill>
                  <a:schemeClr val="accent3"/>
                </a:solidFill>
                <a:latin typeface="Arial" pitchFamily="34" charset="0"/>
                <a:ea typeface="Arial" pitchFamily="34" charset="-122"/>
                <a:cs typeface="Arial" pitchFamily="34" charset="-120"/>
              </a:rPr>
              <a:t>Interpret as modeled utility, not a guarantee of investable net returns.</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References</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Full citations for works cited in this presentation</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20</a:t>
            </a:r>
            <a:endParaRPr lang="en-US" sz="1100" dirty="0"/>
          </a:p>
        </p:txBody>
      </p:sp>
      <p:sp>
        <p:nvSpPr>
          <p:cNvPr id="10" name="Text 7"/>
          <p:cNvSpPr txBox="1"/>
          <p:nvPr/>
        </p:nvSpPr>
        <p:spPr>
          <a:xfrm>
            <a:off x="685800" y="1508760"/>
            <a:ext cx="320040" cy="347472"/>
          </a:xfrm>
          <a:prstGeom prst="rect">
            <a:avLst/>
          </a:prstGeom>
          <a:noFill/>
          <a:ln/>
        </p:spPr>
        <p:txBody>
          <a:bodyPr wrap="square" lIns="0" tIns="0" rIns="0" bIns="0" rtlCol="0" anchor="t"/>
          <a:lstStyle/>
          <a:p>
            <a:pPr marL="0" indent="0">
              <a:buNone/>
            </a:pPr>
            <a:r>
              <a:rPr lang="en-US" sz="1500" b="1" dirty="0">
                <a:solidFill>
                  <a:schemeClr val="accent2"/>
                </a:solidFill>
                <a:latin typeface="Arial" pitchFamily="34" charset="0"/>
                <a:ea typeface="Arial" pitchFamily="34" charset="-122"/>
                <a:cs typeface="Arial" pitchFamily="34" charset="-120"/>
              </a:rPr>
              <a:t>1.</a:t>
            </a:r>
            <a:endParaRPr lang="en-US" sz="1500" dirty="0"/>
          </a:p>
        </p:txBody>
      </p:sp>
      <p:sp>
        <p:nvSpPr>
          <p:cNvPr id="11" name="Text 8"/>
          <p:cNvSpPr txBox="1"/>
          <p:nvPr/>
        </p:nvSpPr>
        <p:spPr>
          <a:xfrm>
            <a:off x="1051560" y="1508760"/>
            <a:ext cx="10442448" cy="640080"/>
          </a:xfrm>
          <a:prstGeom prst="rect">
            <a:avLst/>
          </a:prstGeom>
          <a:noFill/>
          <a:ln/>
        </p:spPr>
        <p:txBody>
          <a:bodyPr wrap="square" lIns="0" tIns="0" rIns="0" bIns="0" rtlCol="0" anchor="t"/>
          <a:lstStyle/>
          <a:p>
            <a:pPr marL="0" indent="0">
              <a:buNone/>
            </a:pPr>
            <a:r>
              <a:rPr lang="en-US" sz="1500" dirty="0">
                <a:solidFill>
                  <a:schemeClr val="tx1"/>
                </a:solidFill>
                <a:latin typeface="Arial" pitchFamily="34" charset="0"/>
                <a:ea typeface="Arial" pitchFamily="34" charset="-122"/>
                <a:cs typeface="Arial" pitchFamily="34" charset="-120"/>
              </a:rPr>
              <a:t>Dong, X., Li, Y., Rapach, D. E., &amp; Zhou, G. (2022). Anomalies and the expected market return. The Journal of Finance, 77(1), 639-681. https://doi.org/10.1111/jofi.13099</a:t>
            </a:r>
            <a:endParaRPr lang="en-US" sz="1500" dirty="0"/>
          </a:p>
        </p:txBody>
      </p:sp>
      <p:sp>
        <p:nvSpPr>
          <p:cNvPr id="12" name="Text 9"/>
          <p:cNvSpPr txBox="1"/>
          <p:nvPr/>
        </p:nvSpPr>
        <p:spPr>
          <a:xfrm>
            <a:off x="685800" y="2258568"/>
            <a:ext cx="320040" cy="347472"/>
          </a:xfrm>
          <a:prstGeom prst="rect">
            <a:avLst/>
          </a:prstGeom>
          <a:noFill/>
          <a:ln/>
        </p:spPr>
        <p:txBody>
          <a:bodyPr wrap="square" lIns="0" tIns="0" rIns="0" bIns="0" rtlCol="0" anchor="t"/>
          <a:lstStyle/>
          <a:p>
            <a:pPr marL="0" indent="0">
              <a:buNone/>
            </a:pPr>
            <a:r>
              <a:rPr lang="en-US" sz="1500" b="1" dirty="0">
                <a:solidFill>
                  <a:schemeClr val="accent2"/>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1051560" y="2258568"/>
            <a:ext cx="10442448" cy="640080"/>
          </a:xfrm>
          <a:prstGeom prst="rect">
            <a:avLst/>
          </a:prstGeom>
          <a:noFill/>
          <a:ln/>
        </p:spPr>
        <p:txBody>
          <a:bodyPr wrap="square" lIns="0" tIns="0" rIns="0" bIns="0" rtlCol="0" anchor="t"/>
          <a:lstStyle/>
          <a:p>
            <a:pPr marL="0" indent="0">
              <a:buNone/>
            </a:pPr>
            <a:r>
              <a:rPr lang="en-US" sz="1500" dirty="0">
                <a:solidFill>
                  <a:schemeClr val="tx1"/>
                </a:solidFill>
                <a:latin typeface="Arial" pitchFamily="34" charset="0"/>
                <a:ea typeface="Arial" pitchFamily="34" charset="-122"/>
                <a:cs typeface="Arial" pitchFamily="34" charset="-120"/>
              </a:rPr>
              <a:t>Campbell, J. Y., &amp; Thompson, S. B. (2008). Predicting excess stock returns out of sample: Can anything beat the historical average? Review of Financial Studies, 21(4), 1509-1531.</a:t>
            </a:r>
            <a:endParaRPr lang="en-US" sz="1500" dirty="0"/>
          </a:p>
        </p:txBody>
      </p:sp>
      <p:sp>
        <p:nvSpPr>
          <p:cNvPr id="14" name="Text 11"/>
          <p:cNvSpPr txBox="1"/>
          <p:nvPr/>
        </p:nvSpPr>
        <p:spPr>
          <a:xfrm>
            <a:off x="685800" y="3008376"/>
            <a:ext cx="320040" cy="347472"/>
          </a:xfrm>
          <a:prstGeom prst="rect">
            <a:avLst/>
          </a:prstGeom>
          <a:noFill/>
          <a:ln/>
        </p:spPr>
        <p:txBody>
          <a:bodyPr wrap="square" lIns="0" tIns="0" rIns="0" bIns="0" rtlCol="0" anchor="t"/>
          <a:lstStyle/>
          <a:p>
            <a:pPr marL="0" indent="0">
              <a:buNone/>
            </a:pPr>
            <a:r>
              <a:rPr lang="en-US" sz="1500" b="1" dirty="0">
                <a:solidFill>
                  <a:schemeClr val="accent2"/>
                </a:solidFill>
                <a:latin typeface="Arial" pitchFamily="34" charset="0"/>
                <a:ea typeface="Arial" pitchFamily="34" charset="-122"/>
                <a:cs typeface="Arial" pitchFamily="34" charset="-120"/>
              </a:rPr>
              <a:t>3.</a:t>
            </a:r>
            <a:endParaRPr lang="en-US" sz="1500" dirty="0"/>
          </a:p>
        </p:txBody>
      </p:sp>
      <p:sp>
        <p:nvSpPr>
          <p:cNvPr id="15" name="Text 12"/>
          <p:cNvSpPr txBox="1"/>
          <p:nvPr/>
        </p:nvSpPr>
        <p:spPr>
          <a:xfrm>
            <a:off x="1051560" y="3008376"/>
            <a:ext cx="10442448" cy="640080"/>
          </a:xfrm>
          <a:prstGeom prst="rect">
            <a:avLst/>
          </a:prstGeom>
          <a:noFill/>
          <a:ln/>
        </p:spPr>
        <p:txBody>
          <a:bodyPr wrap="square" lIns="0" tIns="0" rIns="0" bIns="0" rtlCol="0" anchor="t"/>
          <a:lstStyle/>
          <a:p>
            <a:pPr marL="0" indent="0">
              <a:buNone/>
            </a:pPr>
            <a:r>
              <a:rPr lang="en-US" sz="1500" dirty="0">
                <a:solidFill>
                  <a:schemeClr val="tx1"/>
                </a:solidFill>
                <a:latin typeface="Arial" pitchFamily="34" charset="0"/>
                <a:ea typeface="Arial" pitchFamily="34" charset="-122"/>
                <a:cs typeface="Arial" pitchFamily="34" charset="-120"/>
              </a:rPr>
              <a:t>Clark, T. E., &amp; West, K. D. (2007). Approximately normal tests for equal predictive accuracy in nested models. Journal of Econometrics, 138(1), 291-311.</a:t>
            </a:r>
            <a:endParaRPr lang="en-US" sz="1500" dirty="0"/>
          </a:p>
        </p:txBody>
      </p:sp>
      <p:sp>
        <p:nvSpPr>
          <p:cNvPr id="16" name="Text 13"/>
          <p:cNvSpPr txBox="1"/>
          <p:nvPr/>
        </p:nvSpPr>
        <p:spPr>
          <a:xfrm>
            <a:off x="685800" y="3758184"/>
            <a:ext cx="320040" cy="347472"/>
          </a:xfrm>
          <a:prstGeom prst="rect">
            <a:avLst/>
          </a:prstGeom>
          <a:noFill/>
          <a:ln/>
        </p:spPr>
        <p:txBody>
          <a:bodyPr wrap="square" lIns="0" tIns="0" rIns="0" bIns="0" rtlCol="0" anchor="t"/>
          <a:lstStyle/>
          <a:p>
            <a:pPr marL="0" indent="0">
              <a:buNone/>
            </a:pPr>
            <a:r>
              <a:rPr lang="en-US" sz="1500" b="1" dirty="0">
                <a:solidFill>
                  <a:schemeClr val="accent2"/>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051560" y="3758184"/>
            <a:ext cx="10442448" cy="640080"/>
          </a:xfrm>
          <a:prstGeom prst="rect">
            <a:avLst/>
          </a:prstGeom>
          <a:noFill/>
          <a:ln/>
        </p:spPr>
        <p:txBody>
          <a:bodyPr wrap="square" lIns="0" tIns="0" rIns="0" bIns="0" rtlCol="0" anchor="t"/>
          <a:lstStyle/>
          <a:p>
            <a:pPr marL="0" indent="0">
              <a:buNone/>
            </a:pPr>
            <a:r>
              <a:rPr lang="en-US" sz="1500" dirty="0">
                <a:solidFill>
                  <a:schemeClr val="tx1"/>
                </a:solidFill>
                <a:latin typeface="Arial" pitchFamily="34" charset="0"/>
                <a:ea typeface="Arial" pitchFamily="34" charset="-122"/>
                <a:cs typeface="Arial" pitchFamily="34" charset="-120"/>
              </a:rPr>
              <a:t>Kelly, B., &amp; Pruitt, S. (2015). The three-pass regression filter: A new approach to forecasting using many predictors. Journal of Econometrics, 186(2), 294-316.</a:t>
            </a:r>
            <a:endParaRPr lang="en-US" sz="1500" dirty="0"/>
          </a:p>
        </p:txBody>
      </p:sp>
      <p:sp>
        <p:nvSpPr>
          <p:cNvPr id="18" name="Text 15"/>
          <p:cNvSpPr txBox="1"/>
          <p:nvPr/>
        </p:nvSpPr>
        <p:spPr>
          <a:xfrm>
            <a:off x="685800" y="4507992"/>
            <a:ext cx="320040" cy="347472"/>
          </a:xfrm>
          <a:prstGeom prst="rect">
            <a:avLst/>
          </a:prstGeom>
          <a:noFill/>
          <a:ln/>
        </p:spPr>
        <p:txBody>
          <a:bodyPr wrap="square" lIns="0" tIns="0" rIns="0" bIns="0" rtlCol="0" anchor="t"/>
          <a:lstStyle/>
          <a:p>
            <a:pPr marL="0" indent="0">
              <a:buNone/>
            </a:pPr>
            <a:r>
              <a:rPr lang="en-US" sz="1500" b="1" dirty="0">
                <a:solidFill>
                  <a:schemeClr val="accent2"/>
                </a:solidFill>
                <a:latin typeface="Arial" pitchFamily="34" charset="0"/>
                <a:ea typeface="Arial" pitchFamily="34" charset="-122"/>
                <a:cs typeface="Arial" pitchFamily="34" charset="-120"/>
              </a:rPr>
              <a:t>5.</a:t>
            </a:r>
            <a:endParaRPr lang="en-US" sz="1500" dirty="0"/>
          </a:p>
        </p:txBody>
      </p:sp>
      <p:sp>
        <p:nvSpPr>
          <p:cNvPr id="19" name="Text 16"/>
          <p:cNvSpPr txBox="1"/>
          <p:nvPr/>
        </p:nvSpPr>
        <p:spPr>
          <a:xfrm>
            <a:off x="1051560" y="4507992"/>
            <a:ext cx="10442448" cy="640080"/>
          </a:xfrm>
          <a:prstGeom prst="rect">
            <a:avLst/>
          </a:prstGeom>
          <a:noFill/>
          <a:ln/>
        </p:spPr>
        <p:txBody>
          <a:bodyPr wrap="square" lIns="0" tIns="0" rIns="0" bIns="0" rtlCol="0" anchor="t"/>
          <a:lstStyle/>
          <a:p>
            <a:pPr marL="0" indent="0">
              <a:buNone/>
            </a:pPr>
            <a:r>
              <a:rPr lang="en-US" sz="1500" dirty="0">
                <a:solidFill>
                  <a:schemeClr val="tx1"/>
                </a:solidFill>
                <a:latin typeface="Arial" pitchFamily="34" charset="0"/>
                <a:ea typeface="Arial" pitchFamily="34" charset="-122"/>
                <a:cs typeface="Arial" pitchFamily="34" charset="-120"/>
              </a:rPr>
              <a:t>Rapach, D. E., Strauss, J. K., &amp; Zhou, G. (2010). Out-of-sample equity premium prediction: Combination forecasts and links to the real economy. Review of Financial Studies, 23(2), 821-862.</a:t>
            </a:r>
            <a:endParaRPr lang="en-US" sz="1500" dirty="0"/>
          </a:p>
        </p:txBody>
      </p:sp>
      <p:sp>
        <p:nvSpPr>
          <p:cNvPr id="20" name="Text 17"/>
          <p:cNvSpPr txBox="1"/>
          <p:nvPr/>
        </p:nvSpPr>
        <p:spPr>
          <a:xfrm>
            <a:off x="685800" y="5257800"/>
            <a:ext cx="320040" cy="347472"/>
          </a:xfrm>
          <a:prstGeom prst="rect">
            <a:avLst/>
          </a:prstGeom>
          <a:noFill/>
          <a:ln/>
        </p:spPr>
        <p:txBody>
          <a:bodyPr wrap="square" lIns="0" tIns="0" rIns="0" bIns="0" rtlCol="0" anchor="t"/>
          <a:lstStyle/>
          <a:p>
            <a:pPr marL="0" indent="0">
              <a:buNone/>
            </a:pPr>
            <a:r>
              <a:rPr lang="en-US" sz="1500" b="1" dirty="0">
                <a:solidFill>
                  <a:schemeClr val="accent2"/>
                </a:solidFill>
                <a:latin typeface="Arial" pitchFamily="34" charset="0"/>
                <a:ea typeface="Arial" pitchFamily="34" charset="-122"/>
                <a:cs typeface="Arial" pitchFamily="34" charset="-120"/>
              </a:rPr>
              <a:t>6.</a:t>
            </a:r>
            <a:endParaRPr lang="en-US" sz="1500" dirty="0"/>
          </a:p>
        </p:txBody>
      </p:sp>
      <p:sp>
        <p:nvSpPr>
          <p:cNvPr id="21" name="Text 18"/>
          <p:cNvSpPr txBox="1"/>
          <p:nvPr/>
        </p:nvSpPr>
        <p:spPr>
          <a:xfrm>
            <a:off x="1051560" y="5257800"/>
            <a:ext cx="10442448" cy="640080"/>
          </a:xfrm>
          <a:prstGeom prst="rect">
            <a:avLst/>
          </a:prstGeom>
          <a:noFill/>
          <a:ln/>
        </p:spPr>
        <p:txBody>
          <a:bodyPr wrap="square" lIns="0" tIns="0" rIns="0" bIns="0" rtlCol="0" anchor="t"/>
          <a:lstStyle/>
          <a:p>
            <a:pPr marL="0" indent="0">
              <a:buNone/>
            </a:pPr>
            <a:r>
              <a:rPr lang="en-US" sz="1500" dirty="0">
                <a:solidFill>
                  <a:schemeClr val="tx1"/>
                </a:solidFill>
                <a:latin typeface="Arial" pitchFamily="34" charset="0"/>
                <a:ea typeface="Arial" pitchFamily="34" charset="-122"/>
                <a:cs typeface="Arial" pitchFamily="34" charset="-120"/>
              </a:rPr>
              <a:t>Zou, H., &amp; Hastie, T. (2005). Regularization and variable selection via the elastic net. Journal of the Royal Statistical Society: Series B, 67(2), 301-320.</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chemeClr val="accent1"/>
        </a:solidFill>
        <a:effectLst/>
      </p:bgPr>
    </p:bg>
    <p:spTree>
      <p:nvGrpSpPr>
        <p:cNvPr id="1" name=""/>
        <p:cNvGrpSpPr/>
        <p:nvPr/>
      </p:nvGrpSpPr>
      <p:grpSpPr>
        <a:xfrm>
          <a:off x="0" y="0"/>
          <a:ext cx="0" cy="0"/>
          <a:chOff x="0" y="0"/>
          <a:chExt cx="0" cy="0"/>
        </a:xfrm>
      </p:grpSpPr>
      <p:sp>
        <p:nvSpPr>
          <p:cNvPr id="2" name="Text 0"/>
          <p:cNvSpPr txBox="1"/>
          <p:nvPr/>
        </p:nvSpPr>
        <p:spPr>
          <a:xfrm>
            <a:off x="713232" y="566928"/>
            <a:ext cx="10698480" cy="457200"/>
          </a:xfrm>
          <a:prstGeom prst="rect">
            <a:avLst/>
          </a:prstGeom>
          <a:noFill/>
          <a:ln/>
        </p:spPr>
        <p:txBody>
          <a:bodyPr wrap="square" lIns="0" tIns="0" rIns="0" bIns="0" rtlCol="0" anchor="ctr"/>
          <a:lstStyle/>
          <a:p>
            <a:pPr marL="0" indent="0">
              <a:buNone/>
            </a:pPr>
            <a:r>
              <a:rPr lang="en-US" sz="2100" b="1" dirty="0">
                <a:solidFill>
                  <a:schemeClr val="bg1"/>
                </a:solidFill>
                <a:latin typeface="Arial" pitchFamily="34" charset="0"/>
                <a:ea typeface="Arial" pitchFamily="34" charset="-122"/>
                <a:cs typeface="Arial" pitchFamily="34" charset="-120"/>
              </a:rPr>
              <a:t>Conclusions</a:t>
            </a:r>
            <a:endParaRPr lang="en-US" sz="2100" dirty="0"/>
          </a:p>
        </p:txBody>
      </p:sp>
      <p:sp>
        <p:nvSpPr>
          <p:cNvPr id="3" name="Text 1"/>
          <p:cNvSpPr txBox="1"/>
          <p:nvPr/>
        </p:nvSpPr>
        <p:spPr>
          <a:xfrm>
            <a:off x="713232" y="1325880"/>
            <a:ext cx="10698480" cy="914400"/>
          </a:xfrm>
          <a:prstGeom prst="rect">
            <a:avLst/>
          </a:prstGeom>
          <a:noFill/>
          <a:ln/>
        </p:spPr>
        <p:txBody>
          <a:bodyPr wrap="square" lIns="0" tIns="0" rIns="0" bIns="0" rtlCol="0" anchor="t"/>
          <a:lstStyle/>
          <a:p>
            <a:pPr marL="0" indent="0">
              <a:buNone/>
            </a:pPr>
            <a:r>
              <a:rPr lang="en-US" sz="3000" b="1" dirty="0">
                <a:solidFill>
                  <a:schemeClr val="bg1"/>
                </a:solidFill>
                <a:latin typeface="Arial" pitchFamily="34" charset="0"/>
                <a:ea typeface="Arial" pitchFamily="34" charset="-122"/>
                <a:cs typeface="Arial" pitchFamily="34" charset="-120"/>
              </a:rPr>
              <a:t>Anomaly returns forecast the market premium, but the economic story remains suggestive</a:t>
            </a:r>
            <a:endParaRPr lang="en-US" sz="3000" dirty="0"/>
          </a:p>
        </p:txBody>
      </p:sp>
      <p:sp>
        <p:nvSpPr>
          <p:cNvPr id="4" name="Text 2"/>
          <p:cNvSpPr txBox="1"/>
          <p:nvPr/>
        </p:nvSpPr>
        <p:spPr>
          <a:xfrm>
            <a:off x="868680" y="2743200"/>
            <a:ext cx="502920" cy="438912"/>
          </a:xfrm>
          <a:prstGeom prst="rect">
            <a:avLst/>
          </a:prstGeom>
          <a:noFill/>
          <a:ln/>
        </p:spPr>
        <p:txBody>
          <a:bodyPr wrap="square" lIns="0" tIns="0" rIns="0" bIns="0" rtlCol="0" anchor="ctr"/>
          <a:lstStyle/>
          <a:p>
            <a:pPr marL="0" indent="0">
              <a:buNone/>
            </a:pPr>
            <a:r>
              <a:rPr lang="en-US" sz="2200" b="1" dirty="0">
                <a:solidFill>
                  <a:schemeClr val="bg1"/>
                </a:solidFill>
                <a:latin typeface="Arial" pitchFamily="34" charset="0"/>
                <a:ea typeface="Arial" pitchFamily="34" charset="-122"/>
                <a:cs typeface="Arial" pitchFamily="34" charset="-120"/>
              </a:rPr>
              <a:t>1</a:t>
            </a:r>
            <a:endParaRPr lang="en-US" sz="2200" dirty="0"/>
          </a:p>
        </p:txBody>
      </p:sp>
      <p:sp>
        <p:nvSpPr>
          <p:cNvPr id="5" name="Text 3"/>
          <p:cNvSpPr txBox="1"/>
          <p:nvPr/>
        </p:nvSpPr>
        <p:spPr>
          <a:xfrm>
            <a:off x="1508760" y="2724912"/>
            <a:ext cx="9692640" cy="566928"/>
          </a:xfrm>
          <a:prstGeom prst="rect">
            <a:avLst/>
          </a:prstGeom>
          <a:noFill/>
          <a:ln/>
        </p:spPr>
        <p:txBody>
          <a:bodyPr wrap="square" lIns="0" tIns="0" rIns="0" bIns="0" rtlCol="0" anchor="t"/>
          <a:lstStyle/>
          <a:p>
            <a:pPr marL="0" indent="0">
              <a:buNone/>
            </a:pPr>
            <a:r>
              <a:rPr lang="en-US" sz="1900" dirty="0">
                <a:solidFill>
                  <a:schemeClr val="bg1"/>
                </a:solidFill>
                <a:latin typeface="Arial" pitchFamily="34" charset="0"/>
                <a:ea typeface="Arial" pitchFamily="34" charset="-122"/>
                <a:cs typeface="Arial" pitchFamily="34" charset="-120"/>
              </a:rPr>
              <a:t>100 anomaly-return signals improve monthly out-of-sample forecasts when shrinkage controls overfitting.</a:t>
            </a:r>
            <a:endParaRPr lang="en-US" sz="1900" dirty="0"/>
          </a:p>
        </p:txBody>
      </p:sp>
      <p:sp>
        <p:nvSpPr>
          <p:cNvPr id="6" name="Text 4"/>
          <p:cNvSpPr txBox="1"/>
          <p:nvPr/>
        </p:nvSpPr>
        <p:spPr>
          <a:xfrm>
            <a:off x="868680" y="3493008"/>
            <a:ext cx="502920" cy="438912"/>
          </a:xfrm>
          <a:prstGeom prst="rect">
            <a:avLst/>
          </a:prstGeom>
          <a:noFill/>
          <a:ln/>
        </p:spPr>
        <p:txBody>
          <a:bodyPr wrap="square" lIns="0" tIns="0" rIns="0" bIns="0" rtlCol="0" anchor="ctr"/>
          <a:lstStyle/>
          <a:p>
            <a:pPr marL="0" indent="0">
              <a:buNone/>
            </a:pPr>
            <a:r>
              <a:rPr lang="en-US" sz="2200" b="1" dirty="0">
                <a:solidFill>
                  <a:schemeClr val="bg1"/>
                </a:solidFill>
                <a:latin typeface="Arial" pitchFamily="34" charset="0"/>
                <a:ea typeface="Arial" pitchFamily="34" charset="-122"/>
                <a:cs typeface="Arial" pitchFamily="34" charset="-120"/>
              </a:rPr>
              <a:t>2</a:t>
            </a:r>
            <a:endParaRPr lang="en-US" sz="2200" dirty="0"/>
          </a:p>
        </p:txBody>
      </p:sp>
      <p:sp>
        <p:nvSpPr>
          <p:cNvPr id="7" name="Text 5"/>
          <p:cNvSpPr txBox="1"/>
          <p:nvPr/>
        </p:nvSpPr>
        <p:spPr>
          <a:xfrm>
            <a:off x="1508760" y="3474720"/>
            <a:ext cx="9692640" cy="566928"/>
          </a:xfrm>
          <a:prstGeom prst="rect">
            <a:avLst/>
          </a:prstGeom>
          <a:noFill/>
          <a:ln/>
        </p:spPr>
        <p:txBody>
          <a:bodyPr wrap="square" lIns="0" tIns="0" rIns="0" bIns="0" rtlCol="0" anchor="t"/>
          <a:lstStyle/>
          <a:p>
            <a:pPr marL="0" indent="0">
              <a:buNone/>
            </a:pPr>
            <a:r>
              <a:rPr lang="en-US" sz="1900" dirty="0">
                <a:solidFill>
                  <a:schemeClr val="bg1"/>
                </a:solidFill>
                <a:latin typeface="Arial" pitchFamily="34" charset="0"/>
                <a:ea typeface="Arial" pitchFamily="34" charset="-122"/>
                <a:cs typeface="Arial" pitchFamily="34" charset="-120"/>
              </a:rPr>
              <a:t>The negative market signal is concentrated in short-leg returns and is stronger when arbitrage is constrained.</a:t>
            </a:r>
            <a:endParaRPr lang="en-US" sz="1900" dirty="0"/>
          </a:p>
        </p:txBody>
      </p:sp>
      <p:sp>
        <p:nvSpPr>
          <p:cNvPr id="8" name="Text 6"/>
          <p:cNvSpPr txBox="1"/>
          <p:nvPr/>
        </p:nvSpPr>
        <p:spPr>
          <a:xfrm>
            <a:off x="868680" y="4242816"/>
            <a:ext cx="502920" cy="438912"/>
          </a:xfrm>
          <a:prstGeom prst="rect">
            <a:avLst/>
          </a:prstGeom>
          <a:noFill/>
          <a:ln/>
        </p:spPr>
        <p:txBody>
          <a:bodyPr wrap="square" lIns="0" tIns="0" rIns="0" bIns="0" rtlCol="0" anchor="ctr"/>
          <a:lstStyle/>
          <a:p>
            <a:pPr marL="0" indent="0">
              <a:buNone/>
            </a:pPr>
            <a:r>
              <a:rPr lang="en-US" sz="2200" b="1" dirty="0">
                <a:solidFill>
                  <a:srgbClr val="F2B3A8"/>
                </a:solidFill>
                <a:latin typeface="Arial" pitchFamily="34" charset="0"/>
                <a:ea typeface="Arial" pitchFamily="34" charset="-122"/>
                <a:cs typeface="Arial" pitchFamily="34" charset="-120"/>
              </a:rPr>
              <a:t>3</a:t>
            </a:r>
            <a:endParaRPr lang="en-US" sz="2200" dirty="0"/>
          </a:p>
        </p:txBody>
      </p:sp>
      <p:sp>
        <p:nvSpPr>
          <p:cNvPr id="9" name="Text 7"/>
          <p:cNvSpPr txBox="1"/>
          <p:nvPr/>
        </p:nvSpPr>
        <p:spPr>
          <a:xfrm>
            <a:off x="1508760" y="4224528"/>
            <a:ext cx="9692640" cy="566928"/>
          </a:xfrm>
          <a:prstGeom prst="rect">
            <a:avLst/>
          </a:prstGeom>
          <a:noFill/>
          <a:ln/>
        </p:spPr>
        <p:txBody>
          <a:bodyPr wrap="square" lIns="0" tIns="0" rIns="0" bIns="0" rtlCol="0" anchor="t"/>
          <a:lstStyle/>
          <a:p>
            <a:pPr marL="0" indent="0">
              <a:buNone/>
            </a:pPr>
            <a:r>
              <a:rPr lang="en-US" sz="1900" dirty="0">
                <a:solidFill>
                  <a:schemeClr val="bg1"/>
                </a:solidFill>
                <a:latin typeface="Arial" pitchFamily="34" charset="0"/>
                <a:ea typeface="Arial" pitchFamily="34" charset="-122"/>
                <a:cs typeface="Arial" pitchFamily="34" charset="-120"/>
              </a:rPr>
              <a:t>Forecasting evidence is robust; the slow-overpricing-correction mechanism is supported, not causally identified.</a:t>
            </a:r>
            <a:endParaRPr lang="en-US" sz="1900" dirty="0"/>
          </a:p>
        </p:txBody>
      </p:sp>
      <p:sp>
        <p:nvSpPr>
          <p:cNvPr id="10" name="Text 8">
            <a:hlinkClick r:id="rId3"/>
          </p:cNvPr>
          <p:cNvSpPr txBox="1"/>
          <p:nvPr/>
        </p:nvSpPr>
        <p:spPr>
          <a:xfrm>
            <a:off x="777240" y="5943600"/>
            <a:ext cx="10744200" cy="274320"/>
          </a:xfrm>
          <a:prstGeom prst="rect">
            <a:avLst/>
          </a:prstGeom>
          <a:noFill/>
          <a:ln/>
        </p:spPr>
        <p:txBody>
          <a:bodyPr wrap="square" lIns="0" tIns="0" rIns="0" bIns="0" rtlCol="0" anchor="ctr"/>
          <a:lstStyle/>
          <a:p>
            <a:pPr marL="0" indent="0">
              <a:buNone/>
            </a:pPr>
            <a:r>
              <a:rPr lang="en-US" sz="1300" u="sng" dirty="0">
                <a:solidFill>
                  <a:schemeClr val="bg1"/>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Paper: doi.org/10.1111/jofi.13099  |  Richard Dien Giau Bui, National Chengchi University</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Appendix A: Worked signals show how raw data become characteristics</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Dong et al. (2022), Internet Appendix, Section III</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21</a:t>
            </a:r>
            <a:endParaRPr lang="en-US" sz="1100" dirty="0"/>
          </a:p>
        </p:txBody>
      </p:sp>
      <p:sp>
        <p:nvSpPr>
          <p:cNvPr id="10" name="Text 7"/>
          <p:cNvSpPr txBox="1"/>
          <p:nvPr/>
        </p:nvSpPr>
        <p:spPr>
          <a:xfrm>
            <a:off x="822960" y="1664208"/>
            <a:ext cx="2331720" cy="347472"/>
          </a:xfrm>
          <a:prstGeom prst="rect">
            <a:avLst/>
          </a:prstGeom>
          <a:noFill/>
          <a:ln/>
        </p:spPr>
        <p:txBody>
          <a:bodyPr wrap="square" lIns="0" tIns="0" rIns="0" bIns="0" rtlCol="0" anchor="ctr"/>
          <a:lstStyle/>
          <a:p>
            <a:pPr marL="0" indent="0">
              <a:buNone/>
            </a:pPr>
            <a:r>
              <a:rPr lang="en-US" sz="1600" b="1" dirty="0">
                <a:solidFill>
                  <a:schemeClr val="accent1"/>
                </a:solidFill>
                <a:latin typeface="Arial" pitchFamily="34" charset="0"/>
                <a:ea typeface="Arial" pitchFamily="34" charset="-122"/>
                <a:cs typeface="Arial" pitchFamily="34" charset="-120"/>
              </a:rPr>
              <a:t>BOOK-TO-MARKET</a:t>
            </a:r>
            <a:endParaRPr lang="en-US" sz="1600" dirty="0"/>
          </a:p>
        </p:txBody>
      </p:sp>
      <p:sp>
        <p:nvSpPr>
          <p:cNvPr id="11" name="Text 8"/>
          <p:cNvSpPr txBox="1"/>
          <p:nvPr/>
        </p:nvSpPr>
        <p:spPr>
          <a:xfrm>
            <a:off x="3310128" y="1664208"/>
            <a:ext cx="3657600" cy="384048"/>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CEQ / market equity</a:t>
            </a:r>
            <a:endParaRPr lang="en-US" sz="1800" dirty="0"/>
          </a:p>
        </p:txBody>
      </p:sp>
      <p:sp>
        <p:nvSpPr>
          <p:cNvPr id="12" name="Text 9"/>
          <p:cNvSpPr txBox="1"/>
          <p:nvPr/>
        </p:nvSpPr>
        <p:spPr>
          <a:xfrm>
            <a:off x="7178040" y="1664208"/>
            <a:ext cx="4069080" cy="502920"/>
          </a:xfrm>
          <a:prstGeom prst="rect">
            <a:avLst/>
          </a:prstGeom>
          <a:noFill/>
          <a:ln/>
        </p:spPr>
        <p:txBody>
          <a:bodyPr wrap="square" lIns="0" tIns="0" rIns="0" bIns="0" rtlCol="0" anchor="ctr"/>
          <a:lstStyle/>
          <a:p>
            <a:pPr marL="0" indent="0">
              <a:buNone/>
            </a:pPr>
            <a:r>
              <a:rPr lang="en-US" sz="1700" dirty="0">
                <a:solidFill>
                  <a:schemeClr val="tx1"/>
                </a:solidFill>
                <a:latin typeface="Arial" pitchFamily="34" charset="0"/>
                <a:ea typeface="Arial" pitchFamily="34" charset="-122"/>
                <a:cs typeface="Arial" pitchFamily="34" charset="-120"/>
              </a:rPr>
              <a:t>Annual report at least 4 months old</a:t>
            </a:r>
            <a:endParaRPr lang="en-US" sz="1700" dirty="0"/>
          </a:p>
        </p:txBody>
      </p:sp>
      <p:sp>
        <p:nvSpPr>
          <p:cNvPr id="13" name="Shape 10"/>
          <p:cNvSpPr/>
          <p:nvPr/>
        </p:nvSpPr>
        <p:spPr>
          <a:xfrm>
            <a:off x="822960" y="2395728"/>
            <a:ext cx="10378440" cy="0"/>
          </a:xfrm>
          <a:prstGeom prst="line">
            <a:avLst/>
          </a:prstGeom>
          <a:noFill/>
          <a:ln w="10160">
            <a:solidFill>
              <a:srgbClr val="D8E0E8"/>
            </a:solidFill>
            <a:prstDash val="solid"/>
          </a:ln>
        </p:spPr>
      </p:sp>
      <p:sp>
        <p:nvSpPr>
          <p:cNvPr id="14" name="Text 11"/>
          <p:cNvSpPr txBox="1"/>
          <p:nvPr/>
        </p:nvSpPr>
        <p:spPr>
          <a:xfrm>
            <a:off x="822960" y="2779776"/>
            <a:ext cx="2331720" cy="347472"/>
          </a:xfrm>
          <a:prstGeom prst="rect">
            <a:avLst/>
          </a:prstGeom>
          <a:noFill/>
          <a:ln/>
        </p:spPr>
        <p:txBody>
          <a:bodyPr wrap="square" lIns="0" tIns="0" rIns="0" bIns="0" rtlCol="0" anchor="ctr"/>
          <a:lstStyle/>
          <a:p>
            <a:pPr marL="0" indent="0">
              <a:buNone/>
            </a:pPr>
            <a:r>
              <a:rPr lang="en-US" sz="1600" b="1" dirty="0">
                <a:solidFill>
                  <a:schemeClr val="accent1"/>
                </a:solidFill>
                <a:latin typeface="Arial" pitchFamily="34" charset="0"/>
                <a:ea typeface="Arial" pitchFamily="34" charset="-122"/>
                <a:cs typeface="Arial" pitchFamily="34" charset="-120"/>
              </a:rPr>
              <a:t>ACCRUALS</a:t>
            </a:r>
            <a:endParaRPr lang="en-US" sz="1600" dirty="0"/>
          </a:p>
        </p:txBody>
      </p:sp>
      <p:sp>
        <p:nvSpPr>
          <p:cNvPr id="15" name="Text 12"/>
          <p:cNvSpPr txBox="1"/>
          <p:nvPr/>
        </p:nvSpPr>
        <p:spPr>
          <a:xfrm>
            <a:off x="3310128" y="2779776"/>
            <a:ext cx="3657600" cy="384048"/>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(IB - OANCF) / average assets</a:t>
            </a:r>
            <a:endParaRPr lang="en-US" sz="1800" dirty="0"/>
          </a:p>
        </p:txBody>
      </p:sp>
      <p:sp>
        <p:nvSpPr>
          <p:cNvPr id="16" name="Text 13"/>
          <p:cNvSpPr txBox="1"/>
          <p:nvPr/>
        </p:nvSpPr>
        <p:spPr>
          <a:xfrm>
            <a:off x="7178040" y="2779776"/>
            <a:ext cx="4069080" cy="502920"/>
          </a:xfrm>
          <a:prstGeom prst="rect">
            <a:avLst/>
          </a:prstGeom>
          <a:noFill/>
          <a:ln/>
        </p:spPr>
        <p:txBody>
          <a:bodyPr wrap="square" lIns="0" tIns="0" rIns="0" bIns="0" rtlCol="0" anchor="ctr"/>
          <a:lstStyle/>
          <a:p>
            <a:pPr marL="0" indent="0">
              <a:buNone/>
            </a:pPr>
            <a:r>
              <a:rPr lang="en-US" sz="1700" dirty="0">
                <a:solidFill>
                  <a:schemeClr val="tx1"/>
                </a:solidFill>
                <a:latin typeface="Arial" pitchFamily="34" charset="0"/>
                <a:ea typeface="Arial" pitchFamily="34" charset="-122"/>
                <a:cs typeface="Arial" pitchFamily="34" charset="-120"/>
              </a:rPr>
              <a:t>Fallback balance-sheet formula if needed</a:t>
            </a:r>
            <a:endParaRPr lang="en-US" sz="1700" dirty="0"/>
          </a:p>
        </p:txBody>
      </p:sp>
      <p:sp>
        <p:nvSpPr>
          <p:cNvPr id="17" name="Shape 14"/>
          <p:cNvSpPr/>
          <p:nvPr/>
        </p:nvSpPr>
        <p:spPr>
          <a:xfrm>
            <a:off x="822960" y="3511296"/>
            <a:ext cx="10378440" cy="0"/>
          </a:xfrm>
          <a:prstGeom prst="line">
            <a:avLst/>
          </a:prstGeom>
          <a:noFill/>
          <a:ln w="10160">
            <a:solidFill>
              <a:srgbClr val="D8E0E8"/>
            </a:solidFill>
            <a:prstDash val="solid"/>
          </a:ln>
        </p:spPr>
      </p:sp>
      <p:sp>
        <p:nvSpPr>
          <p:cNvPr id="18" name="Text 15"/>
          <p:cNvSpPr txBox="1"/>
          <p:nvPr/>
        </p:nvSpPr>
        <p:spPr>
          <a:xfrm>
            <a:off x="822960" y="3895344"/>
            <a:ext cx="2331720" cy="347472"/>
          </a:xfrm>
          <a:prstGeom prst="rect">
            <a:avLst/>
          </a:prstGeom>
          <a:noFill/>
          <a:ln/>
        </p:spPr>
        <p:txBody>
          <a:bodyPr wrap="square" lIns="0" tIns="0" rIns="0" bIns="0" rtlCol="0" anchor="ctr"/>
          <a:lstStyle/>
          <a:p>
            <a:pPr marL="0" indent="0">
              <a:buNone/>
            </a:pPr>
            <a:r>
              <a:rPr lang="en-US" sz="1600" b="1" dirty="0">
                <a:solidFill>
                  <a:schemeClr val="accent1"/>
                </a:solidFill>
                <a:latin typeface="Arial" pitchFamily="34" charset="0"/>
                <a:ea typeface="Arial" pitchFamily="34" charset="-122"/>
                <a:cs typeface="Arial" pitchFamily="34" charset="-120"/>
              </a:rPr>
              <a:t>SHORT-TERM BETA</a:t>
            </a:r>
            <a:endParaRPr lang="en-US" sz="1600" dirty="0"/>
          </a:p>
        </p:txBody>
      </p:sp>
      <p:sp>
        <p:nvSpPr>
          <p:cNvPr id="19" name="Text 16"/>
          <p:cNvSpPr txBox="1"/>
          <p:nvPr/>
        </p:nvSpPr>
        <p:spPr>
          <a:xfrm>
            <a:off x="3310128" y="3895344"/>
            <a:ext cx="3657600" cy="384048"/>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Prior 52-week market regression</a:t>
            </a:r>
            <a:endParaRPr lang="en-US" sz="1800" dirty="0"/>
          </a:p>
        </p:txBody>
      </p:sp>
      <p:sp>
        <p:nvSpPr>
          <p:cNvPr id="20" name="Text 17"/>
          <p:cNvSpPr txBox="1"/>
          <p:nvPr/>
        </p:nvSpPr>
        <p:spPr>
          <a:xfrm>
            <a:off x="7178040" y="3895344"/>
            <a:ext cx="4069080" cy="502920"/>
          </a:xfrm>
          <a:prstGeom prst="rect">
            <a:avLst/>
          </a:prstGeom>
          <a:noFill/>
          <a:ln/>
        </p:spPr>
        <p:txBody>
          <a:bodyPr wrap="square" lIns="0" tIns="0" rIns="0" bIns="0" rtlCol="0" anchor="ctr"/>
          <a:lstStyle/>
          <a:p>
            <a:pPr marL="0" indent="0">
              <a:buNone/>
            </a:pPr>
            <a:r>
              <a:rPr lang="en-US" sz="1700" dirty="0">
                <a:solidFill>
                  <a:schemeClr val="tx1"/>
                </a:solidFill>
                <a:latin typeface="Arial" pitchFamily="34" charset="0"/>
                <a:ea typeface="Arial" pitchFamily="34" charset="-122"/>
                <a:cs typeface="Arial" pitchFamily="34" charset="-120"/>
              </a:rPr>
              <a:t>CRSP equal-weighted market excess return</a:t>
            </a:r>
            <a:endParaRPr lang="en-US" sz="1700" dirty="0"/>
          </a:p>
        </p:txBody>
      </p:sp>
      <p:sp>
        <p:nvSpPr>
          <p:cNvPr id="21" name="Text 18"/>
          <p:cNvSpPr txBox="1"/>
          <p:nvPr/>
        </p:nvSpPr>
        <p:spPr>
          <a:xfrm>
            <a:off x="914400" y="5349240"/>
            <a:ext cx="10241280" cy="384048"/>
          </a:xfrm>
          <a:prstGeom prst="rect">
            <a:avLst/>
          </a:prstGeom>
          <a:noFill/>
          <a:ln/>
        </p:spPr>
        <p:txBody>
          <a:bodyPr wrap="square" lIns="0" tIns="0" rIns="0" bIns="0" rtlCol="0" anchor="ctr"/>
          <a:lstStyle/>
          <a:p>
            <a:pPr marL="0" indent="0" algn="ctr">
              <a:buNone/>
            </a:pPr>
            <a:r>
              <a:rPr lang="en-US" sz="1800" b="1" dirty="0">
                <a:solidFill>
                  <a:schemeClr val="tx1"/>
                </a:solidFill>
                <a:latin typeface="Arial" pitchFamily="34" charset="0"/>
                <a:ea typeface="Arial" pitchFamily="34" charset="-122"/>
                <a:cs typeface="Arial" pitchFamily="34" charset="-120"/>
              </a:rPr>
              <a:t>The 100 exact signal recipes are listed in Internet Appendix Table IA.I and Section III.</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Appendix B: The replication code makes forecast training operational</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Replication code, programMain.R and programConstructForecastLongShortAll.R</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22</a:t>
            </a:r>
            <a:endParaRPr lang="en-US" sz="1100" dirty="0"/>
          </a:p>
        </p:txBody>
      </p:sp>
      <p:sp>
        <p:nvSpPr>
          <p:cNvPr id="10" name="Shape 7"/>
          <p:cNvSpPr/>
          <p:nvPr/>
        </p:nvSpPr>
        <p:spPr>
          <a:xfrm>
            <a:off x="685800" y="2011680"/>
            <a:ext cx="2057400" cy="1143000"/>
          </a:xfrm>
          <a:prstGeom prst="rect">
            <a:avLst/>
          </a:prstGeom>
          <a:solidFill>
            <a:schemeClr val="bg2"/>
          </a:solidFill>
          <a:ln w="15240">
            <a:solidFill>
              <a:schemeClr val="accent2"/>
            </a:solidFill>
            <a:prstDash val="solid"/>
          </a:ln>
        </p:spPr>
      </p:sp>
      <p:sp>
        <p:nvSpPr>
          <p:cNvPr id="11" name="Text 8"/>
          <p:cNvSpPr txBox="1"/>
          <p:nvPr/>
        </p:nvSpPr>
        <p:spPr>
          <a:xfrm>
            <a:off x="795528" y="2084832"/>
            <a:ext cx="1837944" cy="996696"/>
          </a:xfrm>
          <a:prstGeom prst="rect">
            <a:avLst/>
          </a:prstGeom>
          <a:noFill/>
          <a:ln/>
        </p:spPr>
        <p:txBody>
          <a:bodyPr wrap="square" lIns="0" tIns="0" rIns="0" bIns="0" rtlCol="0" anchor="ctr"/>
          <a:lstStyle/>
          <a:p>
            <a:pPr marL="0" indent="0" algn="ctr">
              <a:buNone/>
            </a:pPr>
            <a:r>
              <a:rPr lang="en-US" sz="1600" dirty="0">
                <a:solidFill>
                  <a:schemeClr val="tx1"/>
                </a:solidFill>
                <a:latin typeface="Arial" pitchFamily="34" charset="0"/>
                <a:ea typeface="Arial" pitchFamily="34" charset="-122"/>
                <a:cs typeface="Arial" pitchFamily="34" charset="-120"/>
              </a:rPr>
              <a:t>INITIAL HISTORY</a:t>
            </a:r>
            <a:endParaRPr lang="en-US" sz="1600" dirty="0"/>
          </a:p>
          <a:p>
            <a:pPr marL="0" indent="0" algn="ctr">
              <a:buNone/>
            </a:pPr>
            <a:r>
              <a:rPr lang="en-US" sz="1600" dirty="0">
                <a:solidFill>
                  <a:schemeClr val="tx1"/>
                </a:solidFill>
                <a:latin typeface="Arial" pitchFamily="34" charset="0"/>
                <a:ea typeface="Arial" pitchFamily="34" charset="-122"/>
                <a:cs typeface="Arial" pitchFamily="34" charset="-120"/>
              </a:rPr>
              <a:t>120 months</a:t>
            </a:r>
            <a:endParaRPr lang="en-US" sz="1600" dirty="0"/>
          </a:p>
        </p:txBody>
      </p:sp>
      <p:sp>
        <p:nvSpPr>
          <p:cNvPr id="12" name="Shape 9"/>
          <p:cNvSpPr/>
          <p:nvPr/>
        </p:nvSpPr>
        <p:spPr>
          <a:xfrm>
            <a:off x="2990088" y="2011680"/>
            <a:ext cx="2057400" cy="1143000"/>
          </a:xfrm>
          <a:prstGeom prst="rect">
            <a:avLst/>
          </a:prstGeom>
          <a:solidFill>
            <a:schemeClr val="bg2"/>
          </a:solidFill>
          <a:ln w="15240">
            <a:solidFill>
              <a:schemeClr val="accent2"/>
            </a:solidFill>
            <a:prstDash val="solid"/>
          </a:ln>
        </p:spPr>
      </p:sp>
      <p:sp>
        <p:nvSpPr>
          <p:cNvPr id="13" name="Text 10"/>
          <p:cNvSpPr txBox="1"/>
          <p:nvPr/>
        </p:nvSpPr>
        <p:spPr>
          <a:xfrm>
            <a:off x="3099816" y="2084832"/>
            <a:ext cx="1837944" cy="996696"/>
          </a:xfrm>
          <a:prstGeom prst="rect">
            <a:avLst/>
          </a:prstGeom>
          <a:noFill/>
          <a:ln/>
        </p:spPr>
        <p:txBody>
          <a:bodyPr wrap="square" lIns="0" tIns="0" rIns="0" bIns="0" rtlCol="0" anchor="ctr"/>
          <a:lstStyle/>
          <a:p>
            <a:pPr marL="0" indent="0" algn="ctr">
              <a:buNone/>
            </a:pPr>
            <a:r>
              <a:rPr lang="en-US" sz="1600" dirty="0">
                <a:solidFill>
                  <a:schemeClr val="tx1"/>
                </a:solidFill>
                <a:latin typeface="Arial" pitchFamily="34" charset="0"/>
                <a:ea typeface="Arial" pitchFamily="34" charset="-122"/>
                <a:cs typeface="Arial" pitchFamily="34" charset="-120"/>
              </a:rPr>
              <a:t>C-ENET HOLDOUT</a:t>
            </a:r>
            <a:endParaRPr lang="en-US" sz="1600" dirty="0"/>
          </a:p>
          <a:p>
            <a:pPr marL="0" indent="0" algn="ctr">
              <a:buNone/>
            </a:pPr>
            <a:r>
              <a:rPr lang="en-US" sz="1600" dirty="0">
                <a:solidFill>
                  <a:schemeClr val="tx1"/>
                </a:solidFill>
                <a:latin typeface="Arial" pitchFamily="34" charset="0"/>
                <a:ea typeface="Arial" pitchFamily="34" charset="-122"/>
                <a:cs typeface="Arial" pitchFamily="34" charset="-120"/>
              </a:rPr>
              <a:t>60 months</a:t>
            </a:r>
            <a:endParaRPr lang="en-US" sz="1600" dirty="0"/>
          </a:p>
        </p:txBody>
      </p:sp>
      <p:sp>
        <p:nvSpPr>
          <p:cNvPr id="14" name="Shape 11"/>
          <p:cNvSpPr/>
          <p:nvPr/>
        </p:nvSpPr>
        <p:spPr>
          <a:xfrm>
            <a:off x="5294376" y="2011680"/>
            <a:ext cx="2057400" cy="1143000"/>
          </a:xfrm>
          <a:prstGeom prst="rect">
            <a:avLst/>
          </a:prstGeom>
          <a:solidFill>
            <a:schemeClr val="bg2"/>
          </a:solidFill>
          <a:ln w="15240">
            <a:solidFill>
              <a:schemeClr val="accent2"/>
            </a:solidFill>
            <a:prstDash val="solid"/>
          </a:ln>
        </p:spPr>
      </p:sp>
      <p:sp>
        <p:nvSpPr>
          <p:cNvPr id="15" name="Text 12"/>
          <p:cNvSpPr txBox="1"/>
          <p:nvPr/>
        </p:nvSpPr>
        <p:spPr>
          <a:xfrm>
            <a:off x="5404104" y="2084832"/>
            <a:ext cx="1837944" cy="996696"/>
          </a:xfrm>
          <a:prstGeom prst="rect">
            <a:avLst/>
          </a:prstGeom>
          <a:noFill/>
          <a:ln/>
        </p:spPr>
        <p:txBody>
          <a:bodyPr wrap="square" lIns="0" tIns="0" rIns="0" bIns="0" rtlCol="0" anchor="ctr"/>
          <a:lstStyle/>
          <a:p>
            <a:pPr marL="0" indent="0" algn="ctr">
              <a:buNone/>
            </a:pPr>
            <a:r>
              <a:rPr lang="en-US" sz="1600" dirty="0">
                <a:solidFill>
                  <a:schemeClr val="tx1"/>
                </a:solidFill>
                <a:latin typeface="Arial" pitchFamily="34" charset="0"/>
                <a:ea typeface="Arial" pitchFamily="34" charset="-122"/>
                <a:cs typeface="Arial" pitchFamily="34" charset="-120"/>
              </a:rPr>
              <a:t>ELASTIC-NET BLEND</a:t>
            </a:r>
            <a:endParaRPr lang="en-US" sz="1600" dirty="0"/>
          </a:p>
          <a:p>
            <a:pPr marL="0" indent="0" algn="ctr">
              <a:buNone/>
            </a:pPr>
            <a:r>
              <a:rPr lang="en-US" sz="1600" dirty="0">
                <a:solidFill>
                  <a:schemeClr val="tx1"/>
                </a:solidFill>
                <a:latin typeface="Arial" pitchFamily="34" charset="0"/>
                <a:ea typeface="Arial" pitchFamily="34" charset="-122"/>
                <a:cs typeface="Arial" pitchFamily="34" charset="-120"/>
              </a:rPr>
              <a:t>alpha = 0.5</a:t>
            </a:r>
            <a:endParaRPr lang="en-US" sz="1600" dirty="0"/>
          </a:p>
        </p:txBody>
      </p:sp>
      <p:sp>
        <p:nvSpPr>
          <p:cNvPr id="16" name="Shape 13"/>
          <p:cNvSpPr/>
          <p:nvPr/>
        </p:nvSpPr>
        <p:spPr>
          <a:xfrm>
            <a:off x="7598664" y="2011680"/>
            <a:ext cx="2057400" cy="1143000"/>
          </a:xfrm>
          <a:prstGeom prst="rect">
            <a:avLst/>
          </a:prstGeom>
          <a:solidFill>
            <a:schemeClr val="bg2"/>
          </a:solidFill>
          <a:ln w="15240">
            <a:solidFill>
              <a:schemeClr val="accent2"/>
            </a:solidFill>
            <a:prstDash val="solid"/>
          </a:ln>
        </p:spPr>
      </p:sp>
      <p:sp>
        <p:nvSpPr>
          <p:cNvPr id="17" name="Text 14"/>
          <p:cNvSpPr txBox="1"/>
          <p:nvPr/>
        </p:nvSpPr>
        <p:spPr>
          <a:xfrm>
            <a:off x="7708392" y="2084832"/>
            <a:ext cx="1837944" cy="996696"/>
          </a:xfrm>
          <a:prstGeom prst="rect">
            <a:avLst/>
          </a:prstGeom>
          <a:noFill/>
          <a:ln/>
        </p:spPr>
        <p:txBody>
          <a:bodyPr wrap="square" lIns="0" tIns="0" rIns="0" bIns="0" rtlCol="0" anchor="ctr"/>
          <a:lstStyle/>
          <a:p>
            <a:pPr marL="0" indent="0" algn="ctr">
              <a:buNone/>
            </a:pPr>
            <a:r>
              <a:rPr lang="en-US" sz="1600" dirty="0">
                <a:solidFill>
                  <a:schemeClr val="tx1"/>
                </a:solidFill>
                <a:latin typeface="Arial" pitchFamily="34" charset="0"/>
                <a:ea typeface="Arial" pitchFamily="34" charset="-122"/>
                <a:cs typeface="Arial" pitchFamily="34" charset="-120"/>
              </a:rPr>
              <a:t>LAMBDA SEARCH</a:t>
            </a:r>
            <a:endParaRPr lang="en-US" sz="1600" dirty="0"/>
          </a:p>
          <a:p>
            <a:pPr marL="0" indent="0" algn="ctr">
              <a:buNone/>
            </a:pPr>
            <a:r>
              <a:rPr lang="en-US" sz="1600" dirty="0">
                <a:solidFill>
                  <a:schemeClr val="tx1"/>
                </a:solidFill>
                <a:latin typeface="Arial" pitchFamily="34" charset="0"/>
                <a:ea typeface="Arial" pitchFamily="34" charset="-122"/>
                <a:cs typeface="Arial" pitchFamily="34" charset="-120"/>
              </a:rPr>
              <a:t>200 candidates; AICc</a:t>
            </a:r>
            <a:endParaRPr lang="en-US" sz="1600" dirty="0"/>
          </a:p>
        </p:txBody>
      </p:sp>
      <p:sp>
        <p:nvSpPr>
          <p:cNvPr id="18" name="Shape 15"/>
          <p:cNvSpPr/>
          <p:nvPr/>
        </p:nvSpPr>
        <p:spPr>
          <a:xfrm>
            <a:off x="9902952" y="2011680"/>
            <a:ext cx="2057400" cy="1143000"/>
          </a:xfrm>
          <a:prstGeom prst="rect">
            <a:avLst/>
          </a:prstGeom>
          <a:solidFill>
            <a:schemeClr val="bg2"/>
          </a:solidFill>
          <a:ln w="15240">
            <a:solidFill>
              <a:schemeClr val="accent2"/>
            </a:solidFill>
            <a:prstDash val="solid"/>
          </a:ln>
        </p:spPr>
      </p:sp>
      <p:sp>
        <p:nvSpPr>
          <p:cNvPr id="19" name="Text 16"/>
          <p:cNvSpPr txBox="1"/>
          <p:nvPr/>
        </p:nvSpPr>
        <p:spPr>
          <a:xfrm>
            <a:off x="10012680" y="2084832"/>
            <a:ext cx="1837944" cy="996696"/>
          </a:xfrm>
          <a:prstGeom prst="rect">
            <a:avLst/>
          </a:prstGeom>
          <a:noFill/>
          <a:ln/>
        </p:spPr>
        <p:txBody>
          <a:bodyPr wrap="square" lIns="0" tIns="0" rIns="0" bIns="0" rtlCol="0" anchor="ctr"/>
          <a:lstStyle/>
          <a:p>
            <a:pPr marL="0" indent="0" algn="ctr">
              <a:buNone/>
            </a:pPr>
            <a:r>
              <a:rPr lang="en-US" sz="1600" dirty="0">
                <a:solidFill>
                  <a:schemeClr val="tx1"/>
                </a:solidFill>
                <a:latin typeface="Arial" pitchFamily="34" charset="0"/>
                <a:ea typeface="Arial" pitchFamily="34" charset="-122"/>
                <a:cs typeface="Arial" pitchFamily="34" charset="-120"/>
              </a:rPr>
              <a:t>PCA / PLS</a:t>
            </a:r>
            <a:endParaRPr lang="en-US" sz="1600" dirty="0"/>
          </a:p>
          <a:p>
            <a:pPr marL="0" indent="0" algn="ctr">
              <a:buNone/>
            </a:pPr>
            <a:r>
              <a:rPr lang="en-US" sz="1600" dirty="0">
                <a:solidFill>
                  <a:schemeClr val="tx1"/>
                </a:solidFill>
                <a:latin typeface="Arial" pitchFamily="34" charset="0"/>
                <a:ea typeface="Arial" pitchFamily="34" charset="-122"/>
                <a:cs typeface="Arial" pitchFamily="34" charset="-120"/>
              </a:rPr>
              <a:t>1 component each</a:t>
            </a:r>
            <a:endParaRPr lang="en-US" sz="1600" dirty="0"/>
          </a:p>
        </p:txBody>
      </p:sp>
      <p:sp>
        <p:nvSpPr>
          <p:cNvPr id="20" name="Text 17"/>
          <p:cNvSpPr txBox="1"/>
          <p:nvPr/>
        </p:nvSpPr>
        <p:spPr>
          <a:xfrm>
            <a:off x="960120" y="3977640"/>
            <a:ext cx="10241280" cy="777240"/>
          </a:xfrm>
          <a:prstGeom prst="rect">
            <a:avLst/>
          </a:prstGeom>
          <a:noFill/>
          <a:ln/>
        </p:spPr>
        <p:txBody>
          <a:bodyPr wrap="square" lIns="0" tIns="0" rIns="0" bIns="0" rtlCol="0" anchor="ctr"/>
          <a:lstStyle/>
          <a:p>
            <a:pPr marL="0" indent="0" algn="ctr">
              <a:buNone/>
            </a:pPr>
            <a:r>
              <a:rPr lang="en-US" sz="2100" b="1" dirty="0">
                <a:solidFill>
                  <a:schemeClr val="tx1"/>
                </a:solidFill>
                <a:latin typeface="Arial" pitchFamily="34" charset="0"/>
                <a:ea typeface="Arial" pitchFamily="34" charset="-122"/>
                <a:cs typeface="Arial" pitchFamily="34" charset="-120"/>
              </a:rPr>
              <a:t>Per origin: train on past pairs -&gt; estimate / tune -&gt; forecast with current X_t -&gt; advance one month.</a:t>
            </a:r>
            <a:endParaRPr lang="en-US" sz="2100" dirty="0"/>
          </a:p>
        </p:txBody>
      </p:sp>
      <p:sp>
        <p:nvSpPr>
          <p:cNvPr id="21" name="Text 18"/>
          <p:cNvSpPr txBox="1"/>
          <p:nvPr/>
        </p:nvSpPr>
        <p:spPr>
          <a:xfrm>
            <a:off x="1005840" y="5166360"/>
            <a:ext cx="10058400" cy="594360"/>
          </a:xfrm>
          <a:prstGeom prst="rect">
            <a:avLst/>
          </a:prstGeom>
          <a:noFill/>
          <a:ln/>
        </p:spPr>
        <p:txBody>
          <a:bodyPr wrap="square" lIns="0" tIns="0" rIns="0" bIns="0" rtlCol="0" anchor="ctr"/>
          <a:lstStyle/>
          <a:p>
            <a:pPr marL="0" indent="0" algn="ctr">
              <a:buNone/>
            </a:pPr>
            <a:r>
              <a:rPr lang="en-US" sz="1800" dirty="0">
                <a:solidFill>
                  <a:schemeClr val="accent3"/>
                </a:solidFill>
                <a:latin typeface="Arial" pitchFamily="34" charset="0"/>
                <a:ea typeface="Arial" pitchFamily="34" charset="-122"/>
                <a:cs typeface="Arial" pitchFamily="34" charset="-120"/>
              </a:rPr>
              <a:t>The supplied R scripts start from preconstructed Excel return panels; they do not rebuild all raw firm-level signals.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30352" y="155448"/>
            <a:ext cx="127101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MOTIVATION</a:t>
            </a:r>
            <a:endParaRPr lang="en-US" sz="1000" dirty="0"/>
          </a:p>
        </p:txBody>
      </p:sp>
      <p:sp>
        <p:nvSpPr>
          <p:cNvPr id="3" name="Text 1"/>
          <p:cNvSpPr txBox="1"/>
          <p:nvPr/>
        </p:nvSpPr>
        <p:spPr>
          <a:xfrm>
            <a:off x="2148840" y="155448"/>
            <a:ext cx="694944"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DATA</a:t>
            </a:r>
            <a:endParaRPr lang="en-US" sz="1000" dirty="0"/>
          </a:p>
        </p:txBody>
      </p:sp>
      <p:sp>
        <p:nvSpPr>
          <p:cNvPr id="4" name="Text 2"/>
          <p:cNvSpPr txBox="1"/>
          <p:nvPr/>
        </p:nvSpPr>
        <p:spPr>
          <a:xfrm>
            <a:off x="3191256" y="155448"/>
            <a:ext cx="1751076"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FORECAST DESIGN</a:t>
            </a:r>
            <a:endParaRPr lang="en-US" sz="1000" dirty="0"/>
          </a:p>
        </p:txBody>
      </p:sp>
      <p:sp>
        <p:nvSpPr>
          <p:cNvPr id="5" name="Text 3"/>
          <p:cNvSpPr txBox="1"/>
          <p:nvPr/>
        </p:nvSpPr>
        <p:spPr>
          <a:xfrm>
            <a:off x="5289804" y="155448"/>
            <a:ext cx="1078992" cy="201168"/>
          </a:xfrm>
          <a:prstGeom prst="rect">
            <a:avLst/>
          </a:prstGeom>
          <a:noFill/>
          <a:ln/>
        </p:spPr>
        <p:txBody>
          <a:bodyPr wrap="square" lIns="0" tIns="0" rIns="0" bIns="0" rtlCol="0" anchor="ctr"/>
          <a:lstStyle/>
          <a:p>
            <a:pPr marL="0" indent="0">
              <a:buNone/>
            </a:pPr>
            <a:r>
              <a:rPr lang="en-US" sz="1000" dirty="0">
                <a:solidFill>
                  <a:srgbClr val="65717C"/>
                </a:solidFill>
                <a:latin typeface="Arial" pitchFamily="34" charset="0"/>
                <a:ea typeface="Arial" pitchFamily="34" charset="-122"/>
                <a:cs typeface="Arial" pitchFamily="34" charset="-120"/>
              </a:rPr>
              <a:t>EVIDENCE</a:t>
            </a:r>
            <a:endParaRPr lang="en-US" sz="1000" dirty="0"/>
          </a:p>
        </p:txBody>
      </p:sp>
      <p:sp>
        <p:nvSpPr>
          <p:cNvPr id="6" name="Text 0"/>
          <p:cNvSpPr>
            <a:spLocks noGrp="1"/>
          </p:cNvSpPr>
          <p:nvPr>
            <p:ph type="title" idx="100" hasCustomPrompt="1"/>
          </p:nvPr>
        </p:nvSpPr>
        <p:spPr>
          <a:xfrm>
            <a:off x="502920" y="438912"/>
            <a:ext cx="11155680" cy="749808"/>
          </a:xfrm>
          <a:prstGeom prst="rect">
            <a:avLst/>
          </a:prstGeom>
          <a:noFill/>
          <a:ln/>
        </p:spPr>
        <p:txBody>
          <a:bodyPr wrap="square" lIns="0" tIns="0" rIns="0" bIns="0" rtlCol="0" anchor="ctr"/>
          <a:lstStyle/>
          <a:p>
            <a:pPr marL="0" indent="0">
              <a:buNone/>
            </a:pPr>
            <a:r>
              <a:rPr lang="en-US" sz="2600" b="1" dirty="0">
                <a:solidFill>
                  <a:schemeClr val="tx1"/>
                </a:solidFill>
                <a:latin typeface="Arial" pitchFamily="34" charset="0"/>
                <a:ea typeface="Arial" pitchFamily="34" charset="-122"/>
                <a:cs typeface="Arial" pitchFamily="34" charset="-120"/>
              </a:rPr>
              <a:t>The replication code turns prebuilt returns into recursive forecasts</a:t>
            </a:r>
            <a:endParaRPr lang="en-US" sz="2600" dirty="0"/>
          </a:p>
        </p:txBody>
      </p:sp>
      <p:sp>
        <p:nvSpPr>
          <p:cNvPr id="7" name="Text 5"/>
          <p:cNvSpPr txBox="1"/>
          <p:nvPr/>
        </p:nvSpPr>
        <p:spPr>
          <a:xfrm>
            <a:off x="530352" y="6437376"/>
            <a:ext cx="10607040" cy="182880"/>
          </a:xfrm>
          <a:prstGeom prst="rect">
            <a:avLst/>
          </a:prstGeom>
          <a:noFill/>
          <a:ln/>
        </p:spPr>
        <p:txBody>
          <a:bodyPr wrap="square" lIns="0" tIns="0" rIns="0" bIns="0" rtlCol="0" anchor="ctr"/>
          <a:lstStyle/>
          <a:p>
            <a:pPr marL="0" indent="0">
              <a:buNone/>
            </a:pPr>
            <a:r>
              <a:rPr lang="en-US" sz="1100" dirty="0">
                <a:solidFill>
                  <a:srgbClr val="65717C"/>
                </a:solidFill>
                <a:latin typeface="Arial" pitchFamily="34" charset="0"/>
                <a:ea typeface="Arial" pitchFamily="34" charset="-122"/>
                <a:cs typeface="Arial" pitchFamily="34" charset="-120"/>
              </a:rPr>
              <a:t>Source: Replication code: programConstructForecastLongShortAll.R; programMain.R; programEvaluateForecastLongShortAll.R</a:t>
            </a:r>
            <a:endParaRPr lang="en-US" sz="1100" dirty="0"/>
          </a:p>
        </p:txBody>
      </p:sp>
      <p:sp>
        <p:nvSpPr>
          <p:cNvPr id="8" name="Text 6"/>
          <p:cNvSpPr txBox="1"/>
          <p:nvPr/>
        </p:nvSpPr>
        <p:spPr>
          <a:xfrm>
            <a:off x="11384280" y="6437376"/>
            <a:ext cx="274320" cy="182880"/>
          </a:xfrm>
          <a:prstGeom prst="rect">
            <a:avLst/>
          </a:prstGeom>
          <a:noFill/>
          <a:ln/>
        </p:spPr>
        <p:txBody>
          <a:bodyPr wrap="square" lIns="0" tIns="0" rIns="0" bIns="0" rtlCol="0" anchor="ctr"/>
          <a:lstStyle/>
          <a:p>
            <a:pPr marL="0" indent="0" algn="r">
              <a:buNone/>
            </a:pPr>
            <a:r>
              <a:rPr lang="en-US" sz="1100" dirty="0">
                <a:solidFill>
                  <a:srgbClr val="65717C"/>
                </a:solidFill>
                <a:latin typeface="Arial" pitchFamily="34" charset="0"/>
                <a:ea typeface="Arial" pitchFamily="34" charset="-122"/>
                <a:cs typeface="Arial" pitchFamily="34" charset="-120"/>
              </a:rPr>
              <a:t>23</a:t>
            </a:r>
            <a:endParaRPr lang="en-US" sz="1100" dirty="0"/>
          </a:p>
        </p:txBody>
      </p:sp>
      <p:sp>
        <p:nvSpPr>
          <p:cNvPr id="10" name="Shape 7"/>
          <p:cNvSpPr/>
          <p:nvPr/>
        </p:nvSpPr>
        <p:spPr>
          <a:xfrm>
            <a:off x="621792" y="1481328"/>
            <a:ext cx="5358384" cy="1920240"/>
          </a:xfrm>
          <a:prstGeom prst="rect">
            <a:avLst/>
          </a:prstGeom>
          <a:solidFill>
            <a:schemeClr val="bg2"/>
          </a:solidFill>
          <a:ln w="11430">
            <a:solidFill>
              <a:srgbClr val="D8E0E8"/>
            </a:solidFill>
            <a:prstDash val="solid"/>
          </a:ln>
        </p:spPr>
      </p:sp>
      <p:sp>
        <p:nvSpPr>
          <p:cNvPr id="11" name="Text 8"/>
          <p:cNvSpPr txBox="1"/>
          <p:nvPr/>
        </p:nvSpPr>
        <p:spPr>
          <a:xfrm>
            <a:off x="786384" y="1591056"/>
            <a:ext cx="384048" cy="347472"/>
          </a:xfrm>
          <a:prstGeom prst="rect">
            <a:avLst/>
          </a:prstGeom>
          <a:noFill/>
          <a:ln/>
        </p:spPr>
        <p:txBody>
          <a:bodyPr wrap="square" lIns="0" tIns="0" rIns="0" bIns="0" rtlCol="0" anchor="ctr"/>
          <a:lstStyle/>
          <a:p>
            <a:pPr marL="0" indent="0" algn="ctr">
              <a:buNone/>
            </a:pPr>
            <a:r>
              <a:rPr lang="en-US" sz="1900" b="1" dirty="0">
                <a:solidFill>
                  <a:schemeClr val="accent2"/>
                </a:solidFill>
                <a:latin typeface="Arial" pitchFamily="34" charset="0"/>
                <a:ea typeface="Arial" pitchFamily="34" charset="-122"/>
                <a:cs typeface="Arial" pitchFamily="34" charset="-120"/>
              </a:rPr>
              <a:t>1</a:t>
            </a:r>
            <a:endParaRPr lang="en-US" sz="1900" dirty="0"/>
          </a:p>
        </p:txBody>
      </p:sp>
      <p:sp>
        <p:nvSpPr>
          <p:cNvPr id="12" name="Text 9"/>
          <p:cNvSpPr txBox="1"/>
          <p:nvPr/>
        </p:nvSpPr>
        <p:spPr>
          <a:xfrm>
            <a:off x="1280160" y="1591056"/>
            <a:ext cx="4535424" cy="347472"/>
          </a:xfrm>
          <a:prstGeom prst="rect">
            <a:avLst/>
          </a:prstGeom>
          <a:noFill/>
          <a:ln/>
        </p:spPr>
        <p:txBody>
          <a:bodyPr wrap="square" lIns="0" tIns="0" rIns="0" bIns="0" rtlCol="0" anchor="ctr"/>
          <a:lstStyle/>
          <a:p>
            <a:pPr marL="0" indent="0">
              <a:buNone/>
            </a:pPr>
            <a:r>
              <a:rPr lang="en-US" sz="1600" b="1" dirty="0">
                <a:solidFill>
                  <a:schemeClr val="accent1"/>
                </a:solidFill>
                <a:latin typeface="Arial" pitchFamily="34" charset="0"/>
                <a:ea typeface="Arial" pitchFamily="34" charset="-122"/>
                <a:cs typeface="Arial" pitchFamily="34" charset="-120"/>
              </a:rPr>
              <a:t>INPUTS: LOAD AND CLEAN PANELS</a:t>
            </a:r>
            <a:endParaRPr lang="en-US" sz="1600" dirty="0"/>
          </a:p>
        </p:txBody>
      </p:sp>
      <p:sp>
        <p:nvSpPr>
          <p:cNvPr id="13" name="Text 10"/>
          <p:cNvSpPr txBox="1"/>
          <p:nvPr/>
        </p:nvSpPr>
        <p:spPr>
          <a:xfrm>
            <a:off x="822960" y="2057400"/>
            <a:ext cx="4956048" cy="1207008"/>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Data/dataLongShortMissing.xlsx + Data/dataMarketRx.xlsx</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Convert returns to percent; fill missing X values with the same-month cross-sectional mean.</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Code: </a:t>
            </a:r>
            <a:r>
              <a:rPr lang="en-US" sz="1400" dirty="0">
                <a:solidFill>
                  <a:schemeClr val="tx1"/>
                </a:solidFill>
                <a:highlight>
                  <a:srgbClr val="FFFF00"/>
                </a:highlight>
                <a:latin typeface="Arial" pitchFamily="34" charset="0"/>
                <a:ea typeface="Arial" pitchFamily="34" charset="-122"/>
                <a:cs typeface="Arial" pitchFamily="34" charset="-120"/>
              </a:rPr>
              <a:t>programConstructForecastLongShortAll.R</a:t>
            </a:r>
            <a:r>
              <a:rPr lang="en-US" sz="1400" dirty="0">
                <a:solidFill>
                  <a:schemeClr val="tx1"/>
                </a:solidFill>
                <a:latin typeface="Arial" pitchFamily="34" charset="0"/>
                <a:ea typeface="Arial" pitchFamily="34" charset="-122"/>
                <a:cs typeface="Arial" pitchFamily="34" charset="-120"/>
              </a:rPr>
              <a:t> (load / impute)</a:t>
            </a:r>
            <a:endParaRPr lang="en-US" sz="1400" dirty="0"/>
          </a:p>
        </p:txBody>
      </p:sp>
      <p:sp>
        <p:nvSpPr>
          <p:cNvPr id="14" name="Shape 11"/>
          <p:cNvSpPr/>
          <p:nvPr/>
        </p:nvSpPr>
        <p:spPr>
          <a:xfrm>
            <a:off x="6199632" y="1481328"/>
            <a:ext cx="5358384" cy="1920240"/>
          </a:xfrm>
          <a:prstGeom prst="rect">
            <a:avLst/>
          </a:prstGeom>
          <a:solidFill>
            <a:schemeClr val="bg2"/>
          </a:solidFill>
          <a:ln w="11430">
            <a:solidFill>
              <a:srgbClr val="D8E0E8"/>
            </a:solidFill>
            <a:prstDash val="solid"/>
          </a:ln>
        </p:spPr>
      </p:sp>
      <p:sp>
        <p:nvSpPr>
          <p:cNvPr id="15" name="Text 12"/>
          <p:cNvSpPr txBox="1"/>
          <p:nvPr/>
        </p:nvSpPr>
        <p:spPr>
          <a:xfrm>
            <a:off x="6364224" y="1591056"/>
            <a:ext cx="384048" cy="347472"/>
          </a:xfrm>
          <a:prstGeom prst="rect">
            <a:avLst/>
          </a:prstGeom>
          <a:noFill/>
          <a:ln/>
        </p:spPr>
        <p:txBody>
          <a:bodyPr wrap="square" lIns="0" tIns="0" rIns="0" bIns="0" rtlCol="0" anchor="ctr"/>
          <a:lstStyle/>
          <a:p>
            <a:pPr marL="0" indent="0" algn="ctr">
              <a:buNone/>
            </a:pPr>
            <a:r>
              <a:rPr lang="en-US" sz="1900" b="1" dirty="0">
                <a:solidFill>
                  <a:schemeClr val="accent2"/>
                </a:solidFill>
                <a:latin typeface="Arial" pitchFamily="34" charset="0"/>
                <a:ea typeface="Arial" pitchFamily="34" charset="-122"/>
                <a:cs typeface="Arial" pitchFamily="34" charset="-120"/>
              </a:rPr>
              <a:t>2</a:t>
            </a:r>
            <a:endParaRPr lang="en-US" sz="1900" dirty="0"/>
          </a:p>
        </p:txBody>
      </p:sp>
      <p:sp>
        <p:nvSpPr>
          <p:cNvPr id="16" name="Text 13"/>
          <p:cNvSpPr txBox="1"/>
          <p:nvPr/>
        </p:nvSpPr>
        <p:spPr>
          <a:xfrm>
            <a:off x="6858000" y="1591056"/>
            <a:ext cx="4535424" cy="347472"/>
          </a:xfrm>
          <a:prstGeom prst="rect">
            <a:avLst/>
          </a:prstGeom>
          <a:noFill/>
          <a:ln/>
        </p:spPr>
        <p:txBody>
          <a:bodyPr wrap="square" lIns="0" tIns="0" rIns="0" bIns="0" rtlCol="0" anchor="ctr"/>
          <a:lstStyle/>
          <a:p>
            <a:pPr marL="0" indent="0">
              <a:buNone/>
            </a:pPr>
            <a:r>
              <a:rPr lang="en-US" sz="1600" b="1" dirty="0">
                <a:solidFill>
                  <a:schemeClr val="accent1"/>
                </a:solidFill>
                <a:latin typeface="Arial" pitchFamily="34" charset="0"/>
                <a:ea typeface="Arial" pitchFamily="34" charset="-122"/>
                <a:cs typeface="Arial" pitchFamily="34" charset="-120"/>
              </a:rPr>
              <a:t>ALIGN: X_t </a:t>
            </a:r>
            <a:r>
              <a:rPr lang="en-US" sz="1600" b="1" dirty="0">
                <a:solidFill>
                  <a:schemeClr val="accent1"/>
                </a:solidFill>
                <a:highlight>
                  <a:srgbClr val="FFFF00"/>
                </a:highlight>
                <a:latin typeface="Arial" pitchFamily="34" charset="0"/>
                <a:ea typeface="Arial" pitchFamily="34" charset="-122"/>
                <a:cs typeface="Arial" pitchFamily="34" charset="-120"/>
              </a:rPr>
              <a:t>PREDICTS</a:t>
            </a:r>
            <a:r>
              <a:rPr lang="en-US" sz="1600" b="1" dirty="0">
                <a:solidFill>
                  <a:schemeClr val="accent1"/>
                </a:solidFill>
                <a:latin typeface="Arial" pitchFamily="34" charset="0"/>
                <a:ea typeface="Arial" pitchFamily="34" charset="-122"/>
                <a:cs typeface="Arial" pitchFamily="34" charset="-120"/>
              </a:rPr>
              <a:t> y_t+1</a:t>
            </a:r>
            <a:endParaRPr lang="en-US" sz="1600" dirty="0"/>
          </a:p>
        </p:txBody>
      </p:sp>
      <p:sp>
        <p:nvSpPr>
          <p:cNvPr id="17" name="Text 14"/>
          <p:cNvSpPr txBox="1"/>
          <p:nvPr/>
        </p:nvSpPr>
        <p:spPr>
          <a:xfrm>
            <a:off x="6400800" y="2057400"/>
            <a:ext cx="4956048" cy="1207008"/>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siData &lt;- na.omit(cbind(siy, sx))</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siy &lt;- siData[, 1]; six &lt;- siData[, -1]</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lm(siy[-1] ~ six[-nrow(six), j])</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Code: programConstructForecastLongShortAll.R (forecast loop)</a:t>
            </a:r>
            <a:endParaRPr lang="en-US" sz="1400" dirty="0"/>
          </a:p>
        </p:txBody>
      </p:sp>
      <p:sp>
        <p:nvSpPr>
          <p:cNvPr id="18" name="Shape 15"/>
          <p:cNvSpPr/>
          <p:nvPr/>
        </p:nvSpPr>
        <p:spPr>
          <a:xfrm>
            <a:off x="621792" y="3675888"/>
            <a:ext cx="5358384" cy="1920240"/>
          </a:xfrm>
          <a:prstGeom prst="rect">
            <a:avLst/>
          </a:prstGeom>
          <a:solidFill>
            <a:schemeClr val="bg2"/>
          </a:solidFill>
          <a:ln w="11430">
            <a:solidFill>
              <a:srgbClr val="D8E0E8"/>
            </a:solidFill>
            <a:prstDash val="solid"/>
          </a:ln>
        </p:spPr>
      </p:sp>
      <p:sp>
        <p:nvSpPr>
          <p:cNvPr id="19" name="Text 16"/>
          <p:cNvSpPr txBox="1"/>
          <p:nvPr/>
        </p:nvSpPr>
        <p:spPr>
          <a:xfrm>
            <a:off x="786384" y="3785616"/>
            <a:ext cx="384048" cy="347472"/>
          </a:xfrm>
          <a:prstGeom prst="rect">
            <a:avLst/>
          </a:prstGeom>
          <a:noFill/>
          <a:ln/>
        </p:spPr>
        <p:txBody>
          <a:bodyPr wrap="square" lIns="0" tIns="0" rIns="0" bIns="0" rtlCol="0" anchor="ctr"/>
          <a:lstStyle/>
          <a:p>
            <a:pPr marL="0" indent="0" algn="ctr">
              <a:buNone/>
            </a:pPr>
            <a:r>
              <a:rPr lang="en-US" sz="1900" b="1" dirty="0">
                <a:solidFill>
                  <a:schemeClr val="accent2"/>
                </a:solidFill>
                <a:latin typeface="Arial" pitchFamily="34" charset="0"/>
                <a:ea typeface="Arial" pitchFamily="34" charset="-122"/>
                <a:cs typeface="Arial" pitchFamily="34" charset="-120"/>
              </a:rPr>
              <a:t>3</a:t>
            </a:r>
            <a:endParaRPr lang="en-US" sz="1900" dirty="0"/>
          </a:p>
        </p:txBody>
      </p:sp>
      <p:sp>
        <p:nvSpPr>
          <p:cNvPr id="20" name="Text 17"/>
          <p:cNvSpPr txBox="1"/>
          <p:nvPr/>
        </p:nvSpPr>
        <p:spPr>
          <a:xfrm>
            <a:off x="1280160" y="3785616"/>
            <a:ext cx="4535424" cy="347472"/>
          </a:xfrm>
          <a:prstGeom prst="rect">
            <a:avLst/>
          </a:prstGeom>
          <a:noFill/>
          <a:ln/>
        </p:spPr>
        <p:txBody>
          <a:bodyPr wrap="square" lIns="0" tIns="0" rIns="0" bIns="0" rtlCol="0" anchor="ctr"/>
          <a:lstStyle/>
          <a:p>
            <a:pPr marL="0" indent="0">
              <a:buNone/>
            </a:pPr>
            <a:r>
              <a:rPr lang="en-US" sz="1600" b="1" dirty="0">
                <a:solidFill>
                  <a:schemeClr val="accent1"/>
                </a:solidFill>
                <a:latin typeface="Arial" pitchFamily="34" charset="0"/>
                <a:ea typeface="Arial" pitchFamily="34" charset="-122"/>
                <a:cs typeface="Arial" pitchFamily="34" charset="-120"/>
              </a:rPr>
              <a:t>TRAIN: REFIT, THEN </a:t>
            </a:r>
            <a:r>
              <a:rPr lang="en-US" sz="1600" b="1" dirty="0">
                <a:solidFill>
                  <a:schemeClr val="accent1"/>
                </a:solidFill>
                <a:highlight>
                  <a:srgbClr val="FFFF00"/>
                </a:highlight>
                <a:latin typeface="Arial" pitchFamily="34" charset="0"/>
                <a:ea typeface="Arial" pitchFamily="34" charset="-122"/>
                <a:cs typeface="Arial" pitchFamily="34" charset="-120"/>
              </a:rPr>
              <a:t>FORECAST</a:t>
            </a:r>
            <a:endParaRPr lang="en-US" sz="1600" dirty="0">
              <a:highlight>
                <a:srgbClr val="FFFF00"/>
              </a:highlight>
            </a:endParaRPr>
          </a:p>
        </p:txBody>
      </p:sp>
      <p:sp>
        <p:nvSpPr>
          <p:cNvPr id="21" name="Text 18"/>
          <p:cNvSpPr txBox="1"/>
          <p:nvPr/>
        </p:nvSpPr>
        <p:spPr>
          <a:xfrm>
            <a:off x="822960" y="4251960"/>
            <a:ext cx="4956048" cy="1207008"/>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fit &lt;- estimateEnetAicc(</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  six[-nrow(six), ], siy[-1], lb = -Inf)</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forecast &lt;- sum(c(1, sx[nrow(sx), ]) * fit$b)</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120 initial months; 60-month C-ENet holdout; expanding monthly updates.</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Code: programMain.R + programConstructForecastLongShortAll.R</a:t>
            </a:r>
            <a:endParaRPr lang="en-US" sz="1400" dirty="0"/>
          </a:p>
        </p:txBody>
      </p:sp>
      <p:sp>
        <p:nvSpPr>
          <p:cNvPr id="22" name="Shape 19"/>
          <p:cNvSpPr/>
          <p:nvPr/>
        </p:nvSpPr>
        <p:spPr>
          <a:xfrm>
            <a:off x="6199632" y="3675888"/>
            <a:ext cx="5358384" cy="1920240"/>
          </a:xfrm>
          <a:prstGeom prst="rect">
            <a:avLst/>
          </a:prstGeom>
          <a:solidFill>
            <a:schemeClr val="bg2"/>
          </a:solidFill>
          <a:ln w="11430">
            <a:solidFill>
              <a:srgbClr val="D8E0E8"/>
            </a:solidFill>
            <a:prstDash val="solid"/>
          </a:ln>
        </p:spPr>
      </p:sp>
      <p:sp>
        <p:nvSpPr>
          <p:cNvPr id="23" name="Text 20"/>
          <p:cNvSpPr txBox="1"/>
          <p:nvPr/>
        </p:nvSpPr>
        <p:spPr>
          <a:xfrm>
            <a:off x="6364224" y="3785616"/>
            <a:ext cx="384048" cy="347472"/>
          </a:xfrm>
          <a:prstGeom prst="rect">
            <a:avLst/>
          </a:prstGeom>
          <a:noFill/>
          <a:ln/>
        </p:spPr>
        <p:txBody>
          <a:bodyPr wrap="square" lIns="0" tIns="0" rIns="0" bIns="0" rtlCol="0" anchor="ctr"/>
          <a:lstStyle/>
          <a:p>
            <a:pPr marL="0" indent="0" algn="ctr">
              <a:buNone/>
            </a:pPr>
            <a:r>
              <a:rPr lang="en-US" sz="1900" b="1" dirty="0">
                <a:solidFill>
                  <a:schemeClr val="accent2"/>
                </a:solidFill>
                <a:latin typeface="Arial" pitchFamily="34" charset="0"/>
                <a:ea typeface="Arial" pitchFamily="34" charset="-122"/>
                <a:cs typeface="Arial" pitchFamily="34" charset="-120"/>
              </a:rPr>
              <a:t>4</a:t>
            </a:r>
            <a:endParaRPr lang="en-US" sz="1900" dirty="0"/>
          </a:p>
        </p:txBody>
      </p:sp>
      <p:sp>
        <p:nvSpPr>
          <p:cNvPr id="24" name="Text 21"/>
          <p:cNvSpPr txBox="1"/>
          <p:nvPr/>
        </p:nvSpPr>
        <p:spPr>
          <a:xfrm>
            <a:off x="6858000" y="3785616"/>
            <a:ext cx="4535424" cy="347472"/>
          </a:xfrm>
          <a:prstGeom prst="rect">
            <a:avLst/>
          </a:prstGeom>
          <a:noFill/>
          <a:ln/>
        </p:spPr>
        <p:txBody>
          <a:bodyPr wrap="square" lIns="0" tIns="0" rIns="0" bIns="0" rtlCol="0" anchor="ctr"/>
          <a:lstStyle/>
          <a:p>
            <a:pPr marL="0" indent="0">
              <a:buNone/>
            </a:pPr>
            <a:r>
              <a:rPr lang="en-US" sz="1600" b="1" dirty="0">
                <a:solidFill>
                  <a:schemeClr val="accent1"/>
                </a:solidFill>
                <a:highlight>
                  <a:srgbClr val="FFFF00"/>
                </a:highlight>
                <a:latin typeface="Arial" pitchFamily="34" charset="0"/>
                <a:ea typeface="Arial" pitchFamily="34" charset="-122"/>
                <a:cs typeface="Arial" pitchFamily="34" charset="-120"/>
              </a:rPr>
              <a:t>EVALUATE</a:t>
            </a:r>
            <a:r>
              <a:rPr lang="en-US" sz="1600" b="1" dirty="0">
                <a:solidFill>
                  <a:schemeClr val="accent1"/>
                </a:solidFill>
                <a:latin typeface="Arial" pitchFamily="34" charset="0"/>
                <a:ea typeface="Arial" pitchFamily="34" charset="-122"/>
                <a:cs typeface="Arial" pitchFamily="34" charset="-120"/>
              </a:rPr>
              <a:t>: TEST AGAINST THE MEAN</a:t>
            </a:r>
            <a:endParaRPr lang="en-US" sz="1600" dirty="0"/>
          </a:p>
        </p:txBody>
      </p:sp>
      <p:sp>
        <p:nvSpPr>
          <p:cNvPr id="25" name="Text 22"/>
          <p:cNvSpPr txBox="1"/>
          <p:nvPr/>
        </p:nvSpPr>
        <p:spPr>
          <a:xfrm>
            <a:off x="6400800" y="4251960"/>
            <a:ext cx="4956048" cy="1207008"/>
          </a:xfrm>
          <a:prstGeom prst="rect">
            <a:avLst/>
          </a:prstGeom>
          <a:noFill/>
          <a:ln/>
        </p:spPr>
        <p:txBody>
          <a:bodyPr wrap="square" lIns="0" tIns="0" rIns="0" bIns="0" rtlCol="0" anchor="t"/>
          <a:lstStyle/>
          <a:p>
            <a:pPr marL="0" indent="0">
              <a:buNone/>
            </a:pPr>
            <a:r>
              <a:rPr lang="en-US" sz="1400" dirty="0">
                <a:solidFill>
                  <a:schemeClr val="tx1"/>
                </a:solidFill>
                <a:latin typeface="Arial" pitchFamily="34" charset="0"/>
                <a:ea typeface="Arial" pitchFamily="34" charset="-122"/>
                <a:cs typeface="Arial" pitchFamily="34" charset="-120"/>
              </a:rPr>
              <a:t>1970-79 initial fit -&gt; 1980-84 holdout -&gt; 1985-2017 evaluation</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Outputs: Forecast/actual.csv + Forecast/forecastLongShortHorizon01All.csv</a:t>
            </a:r>
            <a:endParaRPr lang="en-US" sz="1400" dirty="0"/>
          </a:p>
          <a:p>
            <a:pPr marL="0" indent="0">
              <a:buNone/>
            </a:pPr>
            <a:r>
              <a:rPr lang="en-US" sz="1400" dirty="0">
                <a:solidFill>
                  <a:schemeClr val="tx1"/>
                </a:solidFill>
                <a:latin typeface="Arial" pitchFamily="34" charset="0"/>
                <a:ea typeface="Arial" pitchFamily="34" charset="-122"/>
                <a:cs typeface="Arial" pitchFamily="34" charset="-120"/>
              </a:rPr>
              <a:t>Code: </a:t>
            </a:r>
            <a:r>
              <a:rPr lang="en-US" sz="1400" dirty="0">
                <a:solidFill>
                  <a:schemeClr val="tx1"/>
                </a:solidFill>
                <a:highlight>
                  <a:srgbClr val="FFFF00"/>
                </a:highlight>
                <a:latin typeface="Arial" pitchFamily="34" charset="0"/>
                <a:ea typeface="Arial" pitchFamily="34" charset="-122"/>
                <a:cs typeface="Arial" pitchFamily="34" charset="-120"/>
              </a:rPr>
              <a:t>programEvaluateForecastLongShortAll.R</a:t>
            </a:r>
            <a:r>
              <a:rPr lang="en-US" sz="1400" dirty="0">
                <a:solidFill>
                  <a:schemeClr val="tx1"/>
                </a:solidFill>
                <a:latin typeface="Arial" pitchFamily="34" charset="0"/>
                <a:ea typeface="Arial" pitchFamily="34" charset="-122"/>
                <a:cs typeface="Arial" pitchFamily="34" charset="-120"/>
              </a:rPr>
              <a:t> (OOS R2 + Clark-West)</a:t>
            </a:r>
            <a:endParaRPr lang="en-US" sz="1400" dirty="0"/>
          </a:p>
        </p:txBody>
      </p:sp>
      <p:sp>
        <p:nvSpPr>
          <p:cNvPr id="26" name="Text 23"/>
          <p:cNvSpPr txBox="1"/>
          <p:nvPr/>
        </p:nvSpPr>
        <p:spPr>
          <a:xfrm>
            <a:off x="749808" y="5833872"/>
            <a:ext cx="10698480" cy="329184"/>
          </a:xfrm>
          <a:prstGeom prst="rect">
            <a:avLst/>
          </a:prstGeom>
          <a:noFill/>
          <a:ln/>
        </p:spPr>
        <p:txBody>
          <a:bodyPr wrap="square" lIns="0" tIns="0" rIns="0" bIns="0" rtlCol="0" anchor="ctr"/>
          <a:lstStyle/>
          <a:p>
            <a:pPr marL="0" indent="0" algn="ctr">
              <a:buNone/>
            </a:pPr>
            <a:r>
              <a:rPr lang="en-US" sz="1500" b="1" dirty="0">
                <a:solidFill>
                  <a:schemeClr val="accent3"/>
                </a:solidFill>
                <a:latin typeface="Arial" pitchFamily="34" charset="0"/>
                <a:ea typeface="Arial" pitchFamily="34" charset="-122"/>
                <a:cs typeface="Arial" pitchFamily="34" charset="-120"/>
              </a:rPr>
              <a:t>Important boundary: these scripts consume preconstructed anomaly portfolios; they do not rebuild the 100 raw characteristics.</a:t>
            </a:r>
            <a:endParaRPr lang="en-US" sz="1500" dirty="0"/>
          </a:p>
        </p:txBody>
      </p:sp>
    </p:spTree>
  </p:cSld>
  <p:clrMapOvr>
    <a:masterClrMapping/>
  </p:clrMapOvr>
</p:sld>
</file>

<file path=ppt/theme/theme1.xml><?xml version="1.0" encoding="utf-8"?>
<a:theme xmlns:a="http://schemas.openxmlformats.org/drawingml/2006/main" name="Anomaly Finance Classroom">
  <a:themeElements>
    <a:clrScheme name="Anomaly Finance Classroom">
      <a:dk1>
        <a:srgbClr val="182533"/>
      </a:dk1>
      <a:lt1>
        <a:srgbClr val="FFFFFF"/>
      </a:lt1>
      <a:dk2>
        <a:srgbClr val="1F4E79"/>
      </a:dk2>
      <a:lt2>
        <a:srgbClr val="F4F7FA"/>
      </a:lt2>
      <a:accent1>
        <a:srgbClr val="1F4E79"/>
      </a:accent1>
      <a:accent2>
        <a:srgbClr val="2E75B6"/>
      </a:accent2>
      <a:accent3>
        <a:srgbClr val="B34D4D"/>
      </a:accent3>
      <a:accent4>
        <a:srgbClr val="65717C"/>
      </a:accent4>
      <a:accent5>
        <a:srgbClr val="D8E0E8"/>
      </a:accent5>
      <a:accent6>
        <a:srgbClr val="EEF2F6"/>
      </a:accent6>
      <a:hlink>
        <a:srgbClr val="2E75B6"/>
      </a:hlink>
      <a:folHlink>
        <a:srgbClr val="65717C"/>
      </a:folHlink>
    </a:clrScheme>
    <a:fontScheme name="Anomaly Finance Classroo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1611</TotalTime>
  <Words>4096</Words>
  <Application>Microsoft Macintosh PowerPoint</Application>
  <PresentationFormat>Widescreen</PresentationFormat>
  <Paragraphs>488</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Anomaly Finance Classroom</vt:lpstr>
      <vt:lpstr>PowerPoint Presentation</vt:lpstr>
      <vt:lpstr>Cross-sectional anomalies and market-premium forecasts have mostly been studied separately</vt:lpstr>
      <vt:lpstr>The paper connects the two literatures with long-short anomaly portfolio returns</vt:lpstr>
      <vt:lpstr>The test asks whether 100 anomaly returns forecast next month’s market excess return</vt:lpstr>
      <vt:lpstr>Persistent correction of overpricing can make anomaly returns predict market returns</vt:lpstr>
      <vt:lpstr>The sample combines 100 anomaly portfolios with the CRSP market premium</vt:lpstr>
      <vt:lpstr>Each characteristic becomes a monthly value-weighted long-short portfolio</vt:lpstr>
      <vt:lpstr>The 100 monthly spreads form a lagged predictor vector X_t</vt:lpstr>
      <vt:lpstr>The target is next month’s CRSP value-weighted market excess return</vt:lpstr>
      <vt:lpstr>A chronological split keeps evaluation data out of model training</vt:lpstr>
      <vt:lpstr>Each forecast is rebuilt recursively using only information available at that date</vt:lpstr>
      <vt:lpstr>Elastic net shrinks a 100-predictor regression that OLS badly overfits</vt:lpstr>
      <vt:lpstr>Forecast combination uses individual signals and a holdout-trained selector</vt:lpstr>
      <vt:lpstr>Averages, PCA, and PLS reduce the predictor set in different ways</vt:lpstr>
      <vt:lpstr>Forecast skill is measured against the prevailing historical mean</vt:lpstr>
      <vt:lpstr>All six overfitting-resistant methods beat the benchmark out of sample</vt:lpstr>
      <vt:lpstr>Short-leg predictability drives the negative long-short signal</vt:lpstr>
      <vt:lpstr>Predictability rises when limits to arbitrage are stronger</vt:lpstr>
      <vt:lpstr>Arbitrage positions and news tone align with slow overpricing correction</vt:lpstr>
      <vt:lpstr>Forecasts have substantial modeled investor value, with implementation caveats</vt:lpstr>
      <vt:lpstr>References</vt:lpstr>
      <vt:lpstr>PowerPoint Presentation</vt:lpstr>
      <vt:lpstr>Appendix A: Worked signals show how raw data become characteristics</vt:lpstr>
      <vt:lpstr>Appendix B: The replication code makes forecast training operational</vt:lpstr>
      <vt:lpstr>The replication code turns prebuilt returns into recursive forecasts</vt:lpstr>
    </vt:vector>
  </TitlesOfParts>
  <Company>National Chengchi University</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Anomalies and the Expected Market Return</dc:title>
  <dc:subject>Teaching presentation on anomaly returns and market return predictability</dc:subject>
  <dc:creator>Richard Dien Giau Bui</dc:creator>
  <cp:lastModifiedBy>裴典富</cp:lastModifiedBy>
  <cp:revision>11</cp:revision>
  <dcterms:created xsi:type="dcterms:W3CDTF">2026-10-04T02:38:17Z</dcterms:created>
  <dcterms:modified xsi:type="dcterms:W3CDTF">2026-10-05T05:30:53Z</dcterms:modified>
</cp:coreProperties>
</file>